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Lst>
  <p:notesMasterIdLst>
    <p:notesMasterId r:id="rId6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notesMaster" Target="notesMasters/notesMaster1.xml"/><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4: Muscles and How They Contract. Every pose you teach is built from muscles pulling on bones. This module starts inside the muscle, with the sliding filaments of the sarcomere, and works outward to the three contraction types you meet in every class: the eccentric lower into Chaturanga, the isometric hold of Chair and the concentric press back up. You will learn to name the roles muscles play in a movement, agonist, antagonist, synergist and stabilizer, and to work them out for any pose by asking which joint moves and where gravity pulls. The second half turns to stretching, where yoga lore and science often part ways. You will learn what muscle spindles and Golgi tendon organs actually do, why the classic explanation for PNF stretching is now questioned, and why stretch tolerance is the mainstream explanation for short-term flexibility gains. You will also meet fascia as a real and interesting tissue, without the unsupported claims. The module ends with a pose lab that maps muscle roles in Warrior III and Bridge.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Describe the structure of skeletal muscle from whole muscle to sarcomere and explain the sliding filament model in plain words Identify concentric, eccentric and isometric contractions in Chaturanga, Chair and other common poses Assign agonist, antagonist, synergist and stabilizer roles for a given joint action in a pose Explain the stretch reflex, reciprocal inhibition and the Golgi tendon organ, and state what current evidence says about how PNF works Distinguish the nervous system and tissue contributions to flexibility and cue end-range strength for flexible students Separate supported from unsupported claims about fascia and choose accurate cueing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4.1: Muscle structure and how a muscle shortens. Skeletal muscle is voluntary, striated and attached to bone by tendons Hierarchy: muscle, fascicle, fiber, myofibril, sarcomere Myosin pulls actin toward the sarcomere center; the filaments slide, they do not shrink Calcium switches contraction on; ATP lets myosin release and reset Force is graded by recruiting more motor units and firing them faster Muscles only pull, so movement back the other way needs another muscle or gravity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body has three kinds of muscle. Cardiac muscle is the heart. Smooth muscle lines hollow organs such as the gut, the bladder and the blood vessels. Neither of those takes instructions from a yoga teacher. The third kind, skeletal muscle, is the one you cue every class. It is called skeletal because it attaches to bones, usually through a tendon, and it is voluntary, which means you can choose to contract it. Skeletal muscle does three jobs that matter on the mat: it moves joints, it holds positions against gravity, and it makes heat, which is part of why a strong standing sequence warms the room. Even in Mountain pose, muscles in the legs and trunk make tiny, constant adjustments to keep you upright. Standing still is not the same as resting.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of a muscle as boxes inside boxes. The whole muscle, say the quadriceps you feel in Chair, is an organ wrapped in connective tissue. Inside it are bundles called fascicles, which you can see as the grain in a piece of meat. Each fascicle holds many muscle fibers. A fiber is a single muscle cell, but an unusual one: it is long, often several centimeters, and has many nuclei. Inside each fiber are thread-like myofibrils, and each myofibril is a chain of tiny repeating units called sarcomeres, which give skeletal muscle its striped look under a microscope. The sarcomere is where the shortening actually happens. Everything larger simply adds up millions of sarcomeres working in series and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core idea of muscle contraction, called the sliding filament model. Each sarcomere runs from one Z disc to the next. Thin filaments made of a protein called actin are anchored to the Z discs. Thick filaments made of myosin sit in the middle. When a nerve signal arrives, calcium is released inside the fiber and uncovers binding sites on actin. Myosin heads grab actin, pivot and pull it toward the center, then use ATP, the cell's energy currency, to let go and grab again further along. The Z discs are drawn closer together, so the sarcomere shortens. Notice in the diagram that neither filament gets shorter. They slide past each other, like interlacing your fingers more deeply. Millions of sarcomeres doing this at once shorten the whole muscle.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every fiber either contracts or it does not, how do you hold a gentle Tree pose instead of slamming into it? The answer is the motor unit. One motor neuron from the spinal cord branches out to a group of fibers, and when that neuron fires, all of its fibers contract together. Your nervous system grades force in two ways: it recruits more motor units, and it fires them more often. Small motor units come on first, which is why light effort can be very precise. Muscles that need fine control, such as those around the eyes and in the hand, have small motor units. The wobble you feel in the standing ankle in Tree is your nervous system recruiting and releasing small motor units many times a second. That wobble is the balance system working, not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more than six hundred skeletal muscles in the body, and anatomists still argue about the exact number because it depends on how you count muscles with several parts. The number matters less than one simple rule: muscles only pull. A sarcomere can shorten or be pulled longer, but it cannot actively push itself apart. That is why muscles are arranged in opposing groups. In Chair, the quadriceps on the front of the thigh pull on the shin through the kneecap and its tendon to keep you from sinking. To bend the knee against resistance you need a different muscle, the hamstrings, or you simply let gravity do it. Keep this rule in mind for the rest of the module, because it explains agonists, antagonists and why gravity matters so much in yoga.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takes about a minute and is worth doing with your whole training group. In Mountain, with hands resting on the front of the thighs, the quadriceps usually feel soft, because the knees are straight and the body is stacked over the bones. As soon as the knees bend a little, gravity tries to bend them further and the quadriceps switch on to stop that. Go deeper and they firm up more. What you are feeling is your nervous system recruiting more motor units and firing them faster to meet a bigger load. Then stand back up and feel them soften again. This simple exercise is a good way to show students that muscle effort is not on or off, it is a dimmer switch.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group a moment, then ask someone to explain the answer back in their own words using their fingers: interlace them loosely, then slide them deeper together. The fingers do not get shorter, but the hands get closer. That is the sarcomere. If anyone chose the first option, reassure them it is the most common mistake, even among students who have studied biology, and point back to the relaxed and contracted diagram.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B: Myosin pulls actin toward the center so the filaments slide past each other. In the sliding filament model the filaments keep their length and slide past each other, drawing the Z discs closer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4.2: Concentric, eccentric and isometric: lowering through Chaturanga, holding Chair. Contraction means producing tension, not necessarily shortening Concentric: shortens, force beats load. Eccentric: lengthens, load beats force. Isometric: same length Lowering to Chaturanga is eccentric for the triceps; holding Chair is isometric for the quadriceps Ask where gravity pulls to identify the contraction type Eccentric work is strongest and causes the most delayed soreness when unfamiliar Cue breathing during strong isometric 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Contraction in anatomy means the muscle is actively producing tension. It does not always mean the muscle gets shorter. There are three types. In a concentric contraction the muscle shortens as it works, because its force is greater than the load. In an eccentric contraction the muscle is working but lengthening, because the load is greater than the force and the muscle is acting as a brake. In an isometric contraction the muscle works but its length does not change, because force and load are matched. In yoga the load is almost always gravity acting on body weight. So the quickest way to work out the type is to ask: is this body part moving with gravity, against gravity, or staying still? We will use two poses, Chaturanga and Chair, to make this concrete.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Chaturanga is the most repeated strength move in a Vinyasa class, so it is worth understanding. From plank, gravity is trying to drop your chest to the floor. As you lower, the elbows bend. The triceps, which straighten the elbow, are working the whole time, but they are getting longer because gravity is winning slowly. That is an eccentric contraction. The pectoralis major and front of the deltoid do the same at the shoulder. If you pause halfway and hold, those muscles switch to isometric work. If you press back up to plank, they shorten against gravity, which is concentric work. A common surprise for trainees: the triceps is working during the lowering phase even though the elbow is bending. Muscles that control a movement are often the ones whose job is the opposite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Chair shows all three contraction types in one pose. Bending the knees to come into Chair is eccentric for the quadriceps and gluteus maximus, because they are lowering you under control against gravity. Holding Chair is isometric: the knee and hip angles do not change, but those muscles are working hard, which is why the thighs burn. Rising out of Chair is concentric, because those same muscles shorten to lift you. Isometric holds are useful. They build strength at a specific joint angle, they are easy to scale by changing the depth, and they let students feel effort without the complexity of movement. One practical point: people often hold their breath during strong isometric work, which raises blood pressure briefly. Cue steady breathing throughout.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one I want you to be able to reproduce on a whiteboard. The quadriceps are the main muscle in all three phases of Chair. What changes is not which muscle works, but how it works. Lowering is eccentric, holding is isometric, rising is concentric. The same pattern repeats all over a class. In a squat, in lowering from standing into a forward fold, in lowering the chest in Cobra, the muscles that lift you on the way up are usually the same muscles that lower you on the way down, working eccentrically. Students often assume the opposite muscle is doing the lowering. Ask them where gravity is pulling, and the answer usually becomes obvious.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rule of thumb that works in almost every pose. When a body part moves against gravity, the muscles that produce that movement work concentrically. When a body part moves with gravity at a controlled speed, the muscles that would move it the other way work eccentrically as brakes. In Cobra, the erector spinae and other back muscles lift the chest concentrically. On the way down, gravity would drop you, so the same back muscles lengthen under control. One more useful fact: eccentric contractions can handle heavier loads than concentric ones, and unfamiliar eccentric work is the classic cause of delayed onset muscle soreness, the stiffness that peaks a day or two later. A new student who does twenty slow Chaturangas may feel it in the chest and triceps for days. Build volume gradually.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 the group through this slowly, with knees down as the default and full plank as an option. Lowering for a count of four makes the eccentric phase obvious: you will feel the triceps and chest working hard even though the elbows are bending. Holding halfway turns the same muscles isometric. Pressing back to plank is concentric, and many people find it the hardest phase, because concentric contractions produce less force than eccentric ones. Afterwards ask the group which phase felt strongest and which felt hardest. Most will say they could lower more slowly than they could press up. That is the eccentric advantage in action, and it is also why slow lowering is a good progression toward a full Chaturanga for students still building strength.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question of the lesson. If people chose the first option, ask them what would happen if the triceps truly relaxed during the lower. The answer is a face plant. Remind the group that working and shortening are not the same thing: the triceps work the whole way down, but they get longer as they do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C: Contracting eccentrically, lengthening under control. Gravity is bending the elbows and the triceps lengthen while working to control the descent, which is an eccentric contraction.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4.3: Agonist, antagonist, synergist and stabilizer. Agonist produces the movement; antagonist opposes it and usually lengthens Synergists assist; stabilizers hold nearby joints steady In Chair the quadriceps are the knee agonist in all three phases Roles depend on the movement: name the joint and action first Two-joint muscles can play different roles at each joint Cue the action a stabilizer produces rather than naming the muscle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muscles only pull, they work in teams. Anatomists describe four roles. The agonist, also called the prime mover, is the main muscle producing a movement. To bend the elbow, that is mainly the biceps brachii, with the brachialis underneath. The antagonist is the muscle that produces the opposite movement, here the triceps, and during elbow bending it lengthens and allows the motion. A synergist helps the agonist, either by adding force, like the brachioradialis in the forearm, or by cancelling an unwanted side action. A stabilizer, sometimes called a fixator, holds a nearby joint steady so the agonist has a firm base to pull from. When you bend the elbow, the rotator cuff and shoulder blade muscles keep the shoulder still. The important word in all of this is role: these are jobs, not fixed identities.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apply the four roles to Chair at the knee. The quadriceps are the agonist for knee extension. They lower you eccentrically, hold you isometrically and lift you concentrically. The hamstrings are the antagonist at the knee, because they bend the knee. In Chair they are not doing much at the knee, though they do help at the hip, which is a good reminder that a muscle crossing two joints can have different roles at each one. The gluteus medius and the small deep hip rotators act as stabilizers, keeping the thigh from collapsing inward so the knee tracks over the second toe. When a student's knees drift together in Chair, it is often a stabilizer that needs attention, not the prime mover.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common trap in teacher trainings is memorizing a single label for each muscle, as if the hamstrings were always antagonists. Roles depend on the movement. If you straighten the elbow against resistance, the triceps become the agonist and the biceps the antagonist. The hamstrings are agonists for hip extension in Bridge and antagonists to the quadriceps at the knee in Chair. Muscles that cross two joints, such as the rectus femoris and the hamstrings, can do different things at each joint at the same time. The clean way to think it through is always the same: name the joint, name the movement, then ask which muscle produces it and which one opposes it. Look at the front leg in Warrior II. Name the joint, the knee, and the load, gravity bending it, and the roles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Stabilizers rarely get the credit, but they are what makes a pose look effortless. In Downward Dog, serratus anterior, which wraps around the side ribs under the shoulder blade, keeps the shoulder blades flat on the ribcage and rotated upward, so the arms can take weight. The rotator cuff, four small muscles around the shoulder, keeps the ball of the upper arm bone centered in its shallow socket. In the trunk, deep abdominal muscles tend to stiffen the torso just before and during limb movement, giving the limbs a stable base. When a stabilizer is not doing its job, you usually see it as wobble, a shoulder blade that lifts off the ribs, or a joint that collapses. Your cue in those moments often targets the stabilizer, not the obvious prime mover.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wall for balance if needed. On one leg, straighten the standing knee firmly and put a hand on the front of the thigh: the quadriceps are the agonist for holding the knee straight. Slide the hand round to the back of the thigh: the hamstrings, the antagonist, are softer. Now, without actually bending, press the standing heel into the floor and draw it slightly back, as if you wanted to bend the knee. The hamstrings firm up. You have just switched which muscle is working at the same joint without moving. This is the simplest way to show students that agonist and antagonist are jobs that swap, and it is a useful way to wake up the hamstrings for Bridge later in the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students do not know where their gluteus medius is, and naming it rarely helps in the moment. What helps is cueing the action the stabilizer produces. In Warrior II, asking students to draw the front knee toward the little-toe side of the foot invites the hip abductors and external rotators to work, and the knee tends to settle over the ankle. Pressing the outer edge of the back foot down does something similar for the back leg. Use the anatomy to choose the cue, and use plain action words to deliver it. You can always name the muscle afterwards for students who are curious. That is the pattern for the rest of this training: anatomy in your head, action in your mouth.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up by asking which contraction type the quadriceps are using in the hold (isometric) and on the way down (eccentric). That links this lesson to the previous one. If time allows, ask what role the gluteus medius plays in Chair. The answer is stabilizer, keeping the knees from drifting inward.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A: Quadriceps. The quadriceps control the knee against gravity in every phase of Chair, so they are the agonist; the hamstrings are the antagonist at the knee.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4.4: Reciprocal inhibition, the stretch reflex and the Golgi tendon organ. Spindles sense length and speed; GTOs sense tension Stretch reflex: fast stretch, spindle fires, same muscle contracts Reciprocal inhibition damps the antagonist; real, but its added benefit in slow stretches is modest GTOs give continuous force feedback, not just an emergency cutoff PNF improves short-term range; the GTO explanation is questioned and stretch tolerance is the leading explanation Enter stretches slowly and use moderate effort for contract-relax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Muscles are not just motors, they are also sense organs. Two sensors matter most for stretching. Muscle spindles are tiny capsules lying parallel to the ordinary fibers in the muscle belly. They report how long the muscle is and how fast that length is changing. Golgi tendon organs, often shortened to GTOs, sit in series at the junction between muscle and tendon, and they report tension, especially the tension produced when the muscle contracts. Both send signals along sensory nerves into the spinal cord. Much of that information never reaches conscious awareness, but it feeds reflexes and your sense of where your body is in space, called proprioception. When you balance in Tree with your eyes closed, spindles and GTOs are a large part of how you know where your limbs are. Take a minute with the diagram: sensory in green, motor in red, inhibition in amber.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comparison comes up in every anatomy exam and many teacher trainings, so make it solid. The spindle sits in the belly of the muscle, alongside the fibers, and senses stretch: how far and how fast. Its fast sensory nerve, called Ia, connects directly to the motor neurons of the same muscle and excites them. The Golgi tendon organ sits where the muscle joins its tendon and senses tension. Its nerve, called Ib, connects through an inhibitory interneuron and tends to reduce the activity of the same muscle. Older textbooks described the GTO as an emergency cutoff that only fires at dangerous loads. We now know it responds to quite small contraction forces and provides continuous force feedback during ordinary movement. Keep that correction in mind for when we reach PNF stretching.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stretch reflex is the loop you see when a doctor taps below the kneecap. The tap briefly stretches the quadriceps, the spindles fire, the Ia nerve excites the quadriceps motor neurons in the spinal cord, and the leg kicks. The loop has just one synapse, so it is very fast. The same reflex operates in yoga. A quick or bouncing stretch, such as dropping hard into a forward fold or Triangle, makes spindles fire strongly and the stretched muscle contracts against you. The reflex is sensitive to speed, so a slow, steady entry keeps it quiet. That is the real reason ballistic bouncing is discouraged in general classes. It is not dangerous for everyone, and athletes train it deliberately, but for most students slow is both more comfortable and more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again at the diagram. The Ia nerve from the spindle does two things in the spinal cord. It excites the motor neurons of its own muscle, and through a small inhibitory interneuron it damps the motor neurons of the opposing muscle. This is reciprocal inhibition, and it is real, well established physiology. It lets you move smoothly instead of having opposing muscles fight each other. Yoga teachers often use it as a stretching cue: engage the quadriceps in Down Dog or a forward fold so the hamstrings let go. That cue can help, and students often report a sense of release. Be modest about the mechanism, though. In a slow, relaxed stretch the hamstrings are usually electrically quiet already, so there is not much contraction left to inhibit. Much of the benefit is likely a change in how the stretch feels.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PNF stands for proprioceptive neuromuscular facilitation. The best known version, contract-relax, has you contract the muscle being stretched for a few seconds, relax, then move further into the stretch. It works: studies consistently show short-term range gains, often a little larger than static stretching alone. For decades the explanation was autogenic inhibition: the contraction fires the Golgi tendon organs, which inhibit the same muscle so it relaxes more deeply. Current research questions this. The inhibition after a contraction lasts only a very short time, and recordings of muscle activity do not show the stretched muscle staying more relaxed during the subsequent stretch. The mainstream explanation now is that PNF increases stretch tolerance: the same stretch feels less intense, so people go further. So teach PNF if you like it, but do not teach the GTO story as settled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 this gently and emphasize moderate effort. Pressing the heels into the floor contracts the hamstrings without moving, an isometric contraction of the muscle being stretched. Keep it to roughly a third of maximum effort, because hard contractions at long muscle lengths are where hamstring strains are more likely. After relaxing, most people find they can fold a little further. Ask the group to report not only whether they went further, but whether the stretch felt different. Many will say it felt less sharp or less alarming at the same depth. That is the stretch tolerance effect we just discussed, and it is a nice way to let trainees experience the current evidence rather than just hear about it. Repeat two or three times at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to model how to talk about science that has moved on. The older explanation is not silly, it was a reasonable hypothesis, but newer measurements do not support it well. Encourage trainees to say something like: we used to think this, and now the evidence points more to that. It is honest and it builds credibility with students who have read about these topics.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B: It improves short-term range mainly by increasing tolerance to the stretch. PNF reliably improves short-term range, but the GTO inhibition explanation is questioned; increased stretch tolerance is the leading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4.5: What flexibility is: nervous system tolerance and tissue length. Flexibility depends on tissue properties and on nervous system tolerance Short-term gains come mainly from increased stretch tolerance (sensory theory) Long-term gains need regular practice; tissue changes are real but modest and debated Bone shape and compression set limits that stretching cannot change A pinching hard stop is not a stretch Hypermobile students need control and strength at end range, not more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Flexibility, the range of motion available at a joint, is often imagined as a purely mechanical property, as if muscles were strips of elastic that we stretch longer. There are two ingredients. One is the tissue itself: the muscle-tendon unit, joint capsule, ligaments, skin and even nerves, and how stiff they are. The other is the nervous system: how much stretch sensation your brain is willing to accept before it says stop. In most people the end of a stretch is set by sensation. You stop because it feels like enough, not because tissue is at breaking point. A striking observation supports this: range of motion often increases when a person is under general anesthesia, when the nervous system's protective input is switched off. That does not mean tissue is irrelevant, but it shows how much the nervous system is involved.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hold a forward fold for a minute you will usually go a little further by the end. The traditional story was that the muscle had lengthened. Careful studies measured the force needed to reach a given angle, and in the short term that force barely changes. In other words, the muscle is not meaningfully longer or less stiff. What changes is that people tolerate more stretch before they call it enough. This is called the sensory theory, or the stretch tolerance model, and it is the current mainstream explanation for short-term gains in flexibility. It is good news for teaching. It means flexibility work is partly training the nervous system to feel safe, which fits naturally with slow breathing, comfortable positions and a calm voice. It also means forcing a stretch works against the very system you are trying to calm.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Short-term and long-term changes are different stories. Within a session, gains appear in minutes, come mainly from increased tolerance and fade within hours. Over weeks of regular stretching, range increases more durably. Tolerance is still a large part of that, but some studies also find changes in the muscle-tendon unit, such as reduced stiffness or possibly longer muscle fascicles, particularly with strength training at long muscle lengths. The evidence on exactly how much tissue changes is mixed, and researchers are still arguing about it. What is clear is that consistency matters more than intensity. A few minutes most days beats one heroic session a week. And like strength, flexibility tends to slip back when the practice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student cannot get into a shape, the tempting explanation is tight muscles. Sometimes that is true. Often it is not. Bone shape differs a great deal between people. The depth and angle of the hip socket and the angle of the thigh bone's neck vary, which changes how far a hip can open in Warrior II or rotate in Pigeon, and no amount of stretching changes bone. Compression is another limit: in Child's pose the thighs meet the belly. The joint capsule, ligaments and even nerves can limit range; the sciatic nerve is often part of what you feel in a deep forward fold. A useful teaching distinction is sensation. A stretch is felt along the length of a tissue. A hard stop, especially with a pinching feeling at the front of the joint, suggests compression. Pushing through compression is not flexibility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Yoga tends to reward flexibility, so very bendy students can look like the most advanced people in the room. Some of them have generalized joint hypermobility, which means their joints move beyond typical ranges. As a teacher you do not diagnose it, but you can notice it and cue for it. In Triangle, a hypermobile front knee may lock back beyond straight, hanging on the ligaments. The goal for these students is not more range, it is control of the range they already have. Cues that ask them to hold back from the end of range and make it strong shift the load from passive tissues to muscles. For stiff students, the same idea applies in reverse: active range work, such as strength at the end of a lunge, tends to give more usable flexibility than passive hanging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exercise lets trainees feel the sensory theory for themselves. Ask them to stop at the first clear stretch, not their deepest point, and to note a landmark such as where the fingertips reach on the shins. Rate the intensity. After a minute of slow breathing, rate it again at exactly the same depth. Most people report the number has fallen. Nothing structural has changed in that minute, but the sensation has. Then invite them to move to the depth that matches their original rating, and notice the new landmark. Afterwards, discuss what that means for teaching: gains in a class are real, but they are mainly about feeling safe in the stretch, which is why breath, pace and tone of voice matter so much.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 this back to the PNF question from the last lesson: both point to the same idea. Flexibility within a session is mostly about the nervous system's tolerance. Ask the group how they might phrase this for a student in plain words, for example: your body is getting used to the stretch and letting you go further.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B: The nervous system now tolerates more stretch sensation. Short-term range gains are best explained by increased stretch tolerance; muscle length and stiffness change little in one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4.6: Fascia without the hype. Fascia is collagen-rich connective tissue that wraps every level of muscle It transmits force, lets structures glide and is richly innervated Hands and rollers cannot release or permanently lengthen dense fascia Short-term release after rolling or massage is mostly a nervous system effect No evidence that fascia stores emotions or that poses rehydrate it Describe sensation in cues rather than promising tissue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Fascia is real, important tissue, and it deserves better than the hype it often gets. It is connective tissue, made mostly of collagen fibers in a watery ground substance, that wraps, separates and links structures throughout the body. Look back at the muscle hierarchy. Each level is wrapped: the whole muscle by the epimysium, each fascicle by the perimysium and each fiber by the endomysium. These wrappings merge at the ends of the muscle to form the tendon. Deep fascia forms tough sheets, such as the thoracolumbar fascia across the low back, the fascia lata around the thigh, including the iliotibial band, and the plantar fascia under the foot. Superficial fascia is a looser layer under the skin, mixed with fat. When anatomists say fascia, they may mean any of these, which is part of why claims about fascia get confused.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Fascia has several well supported functions. It transmits force: most obviously through tendons and aponeuroses, but also sideways between neighboring muscles, so a muscle's pull is not entirely confined to its own tendon. The thoracolumbar fascia, for example, links the latissimus dorsi, the gluteus maximus and deep back muscles, which is relevant in backbends like Cobra. Fascia separates structures and lets them glide past one another, which is why skin slides over the thigh when you bend the knee. It is richly supplied with sensory nerve endings, so it contributes to proprioception and can be a source of pain, and there is research interest in the thoracolumbar fascia and low back pain. Like tendon and ligament, it adapts to loading over months. None of this requires hype to be interesting.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honest scorecard. Supported: fascia transmits force, links muscles into continuous sheets in some regions, is well innervated and adapts slowly. Not supported: the idea that massage, foam rolling or a yoga pose can release, melt or permanently lengthen dense fascia. Studies estimating the force needed to deform tissue like the iliotibial band found it far beyond anything hands or a roller can apply. The short-term feeling of release after rolling or massage is real, but it is best explained by nervous system changes and fluid shifts, much like stretch tolerance. The claim that fascia stores emotions or trauma has no scientific support. Some anatomical continuity along so-called myofascial lines has been found in dissection, but how much it matters for movement is still debated. It is fine to say we do not know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gentle exploration, not a technique. Pinching a fold of skin on the thigh and bending the knee lets trainees feel the superficial layers gliding over deeper ones. Then a long overhead reach in Mountain produces sensation along the side of the body, from the armpit to the waist and often down toward the hip. That spread of sensation reflects how tissues are connected, both through muscles such as the latissimus dorsi and through fascial sheets. It is also a good opportunity to practice honest language. We can say the side body feels long and open. We should not say we released the fascia, because nothing measurable happened to the fascia in those few seconds. Ask trainees to describe the sensation in their own words without using the word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Language matters because students repeat what we say, and they take it into conversations with their doctors and physiotherapists. Compare two cues in Down Dog. One says: feel the sensation spread along the whole back line of your body. That is an accurate description of what many people feel. The other says: melt the fascia along the back of your legs. That is a claim about tissue that is not supported. The first cue is just as inviting and it will never need to be walked back. The same applies to foam rolling or massage in a workshop: say it may help you feel looser and move more comfortably, which is true, rather than it breaks up adhesions, which is not. Honest cues are also a mark of a well trained teacher.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revealing the answer, ask trainees what they would say to a student who tells them a pose released trapped emotions in their hips. A good answer respects the student's experience: many people do feel emotional in hip openers, and that is real. What we avoid is explaining it with a tissue claim we cannot support. The breath, the vulnerability of the position and the setting may all play a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B: Fascia transmits force and contains many sensory nerve endings. Force transmission and rich innervation are well supported; permanent deformation by rolling and emotional storage are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4.7: Pose lab: muscle roles in Warrior III and Bridge. Warrior III is mostly isometric: standing leg, lifted leg and trunk all hold against gravity Standing gluteus medius keeps the pelvis level; a rolling hip signals it needs help Gluteus maximus and hamstrings are agonists on both sides in Warrior III In Bridge the gluteals and hamstrings lift concentrically, hold isometrically and lower eccentrically Adductors stabilize the knees in Bridge; hip flexors are lengthened antagonists Keep the head still in Bridge and reset if the hamstrings cramp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Warrior III is a great pose for applying everything in this module because almost everything is working isometrically. On the standing leg, the quadriceps keep the knee straight or slightly soft, and the muscles of the lower leg and foot make constant small balance corrections. At the standing hip, the pelvis has tipped forward over the thigh bone, which is hip flexion. Gravity would pull the trunk further down, so the gluteus maximus and hamstrings of the standing leg control that tilt, eccentrically on the way in and isometrically in the hold. The lifted leg is held at hip height against gravity by the gluteus maximus and hamstrings of that leg. The erector spinae keep the trunk level, and the front of the shoulders holds the arms forward. It is a whole-body isometric 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roles side by side. On the standing side, the gluteus maximus and hamstrings are agonists controlling hip flexion, while the gluteus medius is the key stabilizer: it stops the pelvis from dropping on the lifted side. You will see this failing when a student's lifted hip rolls up toward the ceiling and the pelvis twists. The quadriceps and lower leg muscles keep the standing leg stable. On the lifted side, the gluteus maximus and hamstrings are agonists holding hip extension against gravity. The erector spinae hold the spine level, the deep abdominals stiffen the trunk so the back does not sag, and the anterior deltoid holds the arms forward. The hip flexors at the front of the lifted hip are antagonists, lengthened. Notice that the hamstrings are agonists on both sides, but for slightly different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part of this cue targets a muscle role without naming a muscle. Pressing down through the standing foot activates the standing leg and gives the balance system a clear base. Reaching back through the lifted heel invites the gluteus maximus and hamstrings to hold the leg up, and the length it creates also helps the back muscles hold the trunk level. Keeping both hip points facing the floor is a cue for the standing gluteus medius and deep hip rotators, which keep the pelvis from opening up toward the ceiling. For students who find balance hard, hands on blocks or on a wall reduce the load on the back muscles and let them focus on the hips. A micro-bend in the standing knee is fine and is usually wiser than locking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is a hip extension pose. Lifting the pelvis is concentric work for the gluteus maximus and hamstrings, the agonists. Holding is isometric, and lowering slowly is eccentric for the same muscles. The quadriceps also work, pushing the knees forward over the ankles, and the adductors on the inner thigh act as stabilizers, keeping the knees from drifting apart; a block between the thighs makes that obvious. The erector spinae support the gentle arch in the back. The hip flexors across the front of the hips are the antagonists and are lengthened, which is why Bridge can feel like a stretch at the front of the hips. A common experience is hamstring cramping. The hamstrings are working with the knee bent and the hip extended, a short position where muscles produce less force and cramp more easily. Lower down and reset rather than pushing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brings the whole module together. Lift slowly for four counts and feel the buttocks and backs of the thighs shorten: concentric. Hold with steady breathing: isometric, and keep the head still, because the neck is flexed under load in Bridge and turning the head is not advised. Lower for four counts, one part of the spine at a time: eccentric, with the same muscles working as brakes. Then try one variation at a time. Put a block between the thighs and feel the adductors stabilize. Move the feet a little further away and notice whether the hamstrings work harder. If the hamstrings cramp, lower down, extend the legs and try again with a smaller lift. Ask trainees to name the agonist, antagonist and stabilizer they felt.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trainees how they would cue this without naming the muscle. Good answers include: keep both hip points facing the floor, or roll the lifted thigh inward slightly so the kneecap faces down. Also note that the hip flexors of the lifted leg are antagonists in this pose, lengthened rather than working as agonists, which makes option two doubly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A: The standing leg's gluteus medius as a stabilizer. The standing gluteus medius stabilizes the pelvis; when it is not holding, the pelvis rotates and the lifted hip opens toward the ceiling.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terms for review. Skeletal muscle, Fascicle, Muscle fiber, Myofibril, Sarcomere, Actin and myosin, Motor unit, Concentric contraction, Eccentric contraction, Isometric contraction, Agonist (prime mover)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terms for review. Antagonist, Synergist, Stabilizer, Muscle spindle, Golgi tendon organ, Stretch reflex, Reciprocal inhibition, PNF stretching, Stretch tolerance, Fascia, Hypermobility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 misconceptions and what is actually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 up and point trainees to the module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03A"/>
        </a:solidFill>
      </p:bgPr>
    </p:bg>
    <p:spTree>
      <p:nvGrpSpPr>
        <p:cNvPr id="1" name=""/>
        <p:cNvGrpSpPr/>
        <p:nvPr/>
      </p:nvGrpSpPr>
      <p:grpSpPr>
        <a:xfrm>
          <a:off x="0" y="0"/>
          <a:ext cx="0" cy="0"/>
          <a:chOff x="0" y="0"/>
          <a:chExt cx="0" cy="0"/>
        </a:xfrm>
      </p:grpSpPr>
      <p:sp>
        <p:nvSpPr>
          <p:cNvPr id="2" name="Text 0"/>
          <p:cNvSpPr txBox="1"/>
          <p:nvPr/>
        </p:nvSpPr>
        <p:spPr>
          <a:xfrm>
            <a:off x="548640" y="1188720"/>
            <a:ext cx="5486400" cy="365760"/>
          </a:xfrm>
          <a:prstGeom prst="rect">
            <a:avLst/>
          </a:prstGeom>
          <a:noFill/>
          <a:ln/>
        </p:spPr>
        <p:txBody>
          <a:bodyPr wrap="square" lIns="0" tIns="0" rIns="0" bIns="0" rtlCol="0" anchor="ctr"/>
          <a:lstStyle/>
          <a:p>
            <a:pPr indent="0" marL="0">
              <a:buNone/>
            </a:pPr>
            <a:r>
              <a:rPr lang="en-US" sz="1400" b="1" spc="400" kern="0" dirty="0">
                <a:solidFill>
                  <a:srgbClr val="CBB78C"/>
                </a:solidFill>
                <a:latin typeface="Calibri" pitchFamily="34" charset="0"/>
                <a:ea typeface="Calibri" pitchFamily="34" charset="-122"/>
                <a:cs typeface="Calibri" pitchFamily="34" charset="-120"/>
              </a:rPr>
              <a:t>MODULE 4</a:t>
            </a:r>
            <a:endParaRPr lang="en-US" sz="1400" dirty="0"/>
          </a:p>
        </p:txBody>
      </p:sp>
      <p:sp>
        <p:nvSpPr>
          <p:cNvPr id="3" name="Text 1"/>
          <p:cNvSpPr txBox="1"/>
          <p:nvPr/>
        </p:nvSpPr>
        <p:spPr>
          <a:xfrm>
            <a:off x="548640" y="1645920"/>
            <a:ext cx="7498080" cy="1737360"/>
          </a:xfrm>
          <a:prstGeom prst="rect">
            <a:avLst/>
          </a:prstGeom>
          <a:noFill/>
          <a:ln/>
        </p:spPr>
        <p:txBody>
          <a:bodyPr wrap="square" lIns="0" tIns="0" rIns="0" bIns="0" rtlCol="0" anchor="t">
            <a:normAutofit/>
          </a:bodyPr>
          <a:lstStyle/>
          <a:p>
            <a:pPr indent="0" marL="0">
              <a:buNone/>
            </a:pPr>
            <a:r>
              <a:rPr lang="en-US" sz="4400" b="1" dirty="0">
                <a:solidFill>
                  <a:srgbClr val="FFFFFF"/>
                </a:solidFill>
                <a:latin typeface="Cambria" pitchFamily="34" charset="0"/>
                <a:ea typeface="Cambria" pitchFamily="34" charset="-122"/>
                <a:cs typeface="Cambria" pitchFamily="34" charset="-120"/>
              </a:rPr>
              <a:t>Muscles and How They Contract</a:t>
            </a:r>
            <a:endParaRPr lang="en-US" sz="4400" dirty="0"/>
          </a:p>
        </p:txBody>
      </p:sp>
      <p:sp>
        <p:nvSpPr>
          <p:cNvPr id="4" name="Text 2"/>
          <p:cNvSpPr txBox="1"/>
          <p:nvPr/>
        </p:nvSpPr>
        <p:spPr>
          <a:xfrm>
            <a:off x="548640" y="3566160"/>
            <a:ext cx="6949440" cy="914400"/>
          </a:xfrm>
          <a:prstGeom prst="rect">
            <a:avLst/>
          </a:prstGeom>
          <a:noFill/>
          <a:ln/>
        </p:spPr>
        <p:txBody>
          <a:bodyPr wrap="square" lIns="0" tIns="0" rIns="0" bIns="0" rtlCol="0" anchor="t"/>
          <a:lstStyle/>
          <a:p>
            <a:pPr indent="0" marL="0">
              <a:buNone/>
            </a:pPr>
            <a:r>
              <a:rPr lang="en-US" sz="1800" dirty="0">
                <a:solidFill>
                  <a:srgbClr val="D6E3E0"/>
                </a:solidFill>
                <a:latin typeface="Calibri" pitchFamily="34" charset="0"/>
                <a:ea typeface="Calibri" pitchFamily="34" charset="-122"/>
                <a:cs typeface="Calibri" pitchFamily="34" charset="-120"/>
              </a:rPr>
              <a:t>Knowing how muscles shorten, lengthen, share roles and respond to stretch lets you cue strength and flexibility honestly and safely.</a:t>
            </a:r>
            <a:endParaRPr lang="en-US" sz="1800" dirty="0"/>
          </a:p>
        </p:txBody>
      </p:sp>
      <p:sp>
        <p:nvSpPr>
          <p:cNvPr id="5" name="Text 3"/>
          <p:cNvSpPr txBox="1"/>
          <p:nvPr/>
        </p:nvSpPr>
        <p:spPr>
          <a:xfrm>
            <a:off x="548640" y="4846320"/>
            <a:ext cx="7315200" cy="365760"/>
          </a:xfrm>
          <a:prstGeom prst="rect">
            <a:avLst/>
          </a:prstGeom>
          <a:noFill/>
          <a:ln/>
        </p:spPr>
        <p:txBody>
          <a:bodyPr wrap="square" lIns="0" tIns="0" rIns="0" bIns="0" rtlCol="0" anchor="ctr"/>
          <a:lstStyle/>
          <a:p>
            <a:pPr indent="0" marL="0">
              <a:buNone/>
            </a:pPr>
            <a:r>
              <a:rPr lang="en-US" sz="1300" dirty="0">
                <a:solidFill>
                  <a:srgbClr val="CBB78C"/>
                </a:solidFill>
                <a:latin typeface="Calibri" pitchFamily="34" charset="0"/>
                <a:ea typeface="Calibri" pitchFamily="34" charset="-122"/>
                <a:cs typeface="Calibri" pitchFamily="34" charset="-120"/>
              </a:rPr>
              <a:t>3 hours  ·  7 lessons  ·  Anatomy &amp; Physiology for Vinyasa Teachers</a:t>
            </a:r>
            <a:endParaRPr lang="en-US" sz="1300" dirty="0"/>
          </a:p>
        </p:txBody>
      </p:sp>
      <p:sp>
        <p:nvSpPr>
          <p:cNvPr id="6" name="Shape 4"/>
          <p:cNvSpPr/>
          <p:nvPr/>
        </p:nvSpPr>
        <p:spPr>
          <a:xfrm>
            <a:off x="8138160" y="1005840"/>
            <a:ext cx="3566160" cy="3566160"/>
          </a:xfrm>
          <a:prstGeom prst="ellipse">
            <a:avLst/>
          </a:prstGeom>
          <a:solidFill>
            <a:srgbClr val="22414D"/>
          </a:solidFill>
          <a:ln w="12700">
            <a:solidFill>
              <a:srgbClr val="22414D"/>
            </a:solidFill>
            <a:prstDash val="solid"/>
          </a:ln>
        </p:spPr>
      </p:sp>
      <p:pic>
        <p:nvPicPr>
          <p:cNvPr id="7" name="Image 0" descr="Pose figure">    </p:cNvPr>
          <p:cNvPicPr>
            <a:picLocks noChangeAspect="1"/>
          </p:cNvPicPr>
          <p:nvPr/>
        </p:nvPicPr>
        <p:blipFill>
          <a:blip r:embed="rId1"/>
          <a:stretch>
            <a:fillRect/>
          </a:stretch>
        </p:blipFill>
        <p:spPr>
          <a:xfrm>
            <a:off x="9071845" y="1508760"/>
            <a:ext cx="1698791" cy="2560320"/>
          </a:xfrm>
          <a:prstGeom prst="rect">
            <a:avLst/>
          </a:prstGeom>
        </p:spPr>
      </p:pic>
      <p:sp>
        <p:nvSpPr>
          <p:cNvPr id="8" name="Text 5"/>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A9BFC6"/>
                </a:solidFill>
                <a:latin typeface="Calibri" pitchFamily="34" charset="0"/>
                <a:ea typeface="Calibri" pitchFamily="34" charset="-122"/>
                <a:cs typeface="Calibri" pitchFamily="34" charset="-120"/>
              </a:rPr>
              <a:t>Anatomy on the Mat  ·  Dr. Akash Garg, D.C.</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MODULE 4 OBJECTIVES</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By the end of this module you can</a:t>
            </a:r>
            <a:endParaRPr lang="en-US" sz="3000" dirty="0"/>
          </a:p>
        </p:txBody>
      </p:sp>
      <p:sp>
        <p:nvSpPr>
          <p:cNvPr id="4" name="Shape 2"/>
          <p:cNvSpPr/>
          <p:nvPr/>
        </p:nvSpPr>
        <p:spPr>
          <a:xfrm>
            <a:off x="548640" y="1737360"/>
            <a:ext cx="420624" cy="420624"/>
          </a:xfrm>
          <a:prstGeom prst="ellipse">
            <a:avLst/>
          </a:prstGeom>
          <a:solidFill>
            <a:srgbClr val="B3304C"/>
          </a:solidFill>
          <a:ln w="12700">
            <a:solidFill>
              <a:srgbClr val="B3304C"/>
            </a:solidFill>
            <a:prstDash val="solid"/>
          </a:ln>
        </p:spPr>
      </p:sp>
      <p:sp>
        <p:nvSpPr>
          <p:cNvPr id="5" name="Text 3"/>
          <p:cNvSpPr txBox="1"/>
          <p:nvPr/>
        </p:nvSpPr>
        <p:spPr>
          <a:xfrm>
            <a:off x="548640" y="173736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188720" y="1691640"/>
            <a:ext cx="6766560" cy="548640"/>
          </a:xfrm>
          <a:prstGeom prst="rect">
            <a:avLst/>
          </a:prstGeom>
          <a:noFill/>
          <a:ln/>
        </p:spPr>
        <p:txBody>
          <a:bodyPr wrap="square" lIns="0" tIns="0" rIns="0" bIns="0" rtlCol="0" anchor="ctr">
            <a:normAutofit/>
          </a:bodyPr>
          <a:lstStyle/>
          <a:p>
            <a:pPr indent="0" marL="0">
              <a:buNone/>
            </a:pPr>
            <a:r>
              <a:rPr lang="en-US" sz="1600" dirty="0">
                <a:solidFill>
                  <a:srgbClr val="16303A"/>
                </a:solidFill>
                <a:latin typeface="Calibri" pitchFamily="34" charset="0"/>
                <a:ea typeface="Calibri" pitchFamily="34" charset="-122"/>
                <a:cs typeface="Calibri" pitchFamily="34" charset="-120"/>
              </a:rPr>
              <a:t>Describe the structure of skeletal muscle from whole muscle to sarcomere and explain the sliding filament model in plain words</a:t>
            </a:r>
            <a:endParaRPr lang="en-US" sz="1600" dirty="0"/>
          </a:p>
        </p:txBody>
      </p:sp>
      <p:sp>
        <p:nvSpPr>
          <p:cNvPr id="7" name="Shape 5"/>
          <p:cNvSpPr/>
          <p:nvPr/>
        </p:nvSpPr>
        <p:spPr>
          <a:xfrm>
            <a:off x="548640" y="2450592"/>
            <a:ext cx="420624" cy="420624"/>
          </a:xfrm>
          <a:prstGeom prst="ellipse">
            <a:avLst/>
          </a:prstGeom>
          <a:solidFill>
            <a:srgbClr val="B3304C"/>
          </a:solidFill>
          <a:ln w="12700">
            <a:solidFill>
              <a:srgbClr val="B3304C"/>
            </a:solidFill>
            <a:prstDash val="solid"/>
          </a:ln>
        </p:spPr>
      </p:sp>
      <p:sp>
        <p:nvSpPr>
          <p:cNvPr id="8" name="Text 6"/>
          <p:cNvSpPr txBox="1"/>
          <p:nvPr/>
        </p:nvSpPr>
        <p:spPr>
          <a:xfrm>
            <a:off x="548640" y="245059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9" name="Text 7"/>
          <p:cNvSpPr txBox="1"/>
          <p:nvPr/>
        </p:nvSpPr>
        <p:spPr>
          <a:xfrm>
            <a:off x="1188720" y="2404872"/>
            <a:ext cx="6766560" cy="548640"/>
          </a:xfrm>
          <a:prstGeom prst="rect">
            <a:avLst/>
          </a:prstGeom>
          <a:noFill/>
          <a:ln/>
        </p:spPr>
        <p:txBody>
          <a:bodyPr wrap="square" lIns="0" tIns="0" rIns="0" bIns="0" rtlCol="0" anchor="ctr">
            <a:normAutofit/>
          </a:bodyPr>
          <a:lstStyle/>
          <a:p>
            <a:pPr indent="0" marL="0">
              <a:buNone/>
            </a:pPr>
            <a:r>
              <a:rPr lang="en-US" sz="1600" dirty="0">
                <a:solidFill>
                  <a:srgbClr val="16303A"/>
                </a:solidFill>
                <a:latin typeface="Calibri" pitchFamily="34" charset="0"/>
                <a:ea typeface="Calibri" pitchFamily="34" charset="-122"/>
                <a:cs typeface="Calibri" pitchFamily="34" charset="-120"/>
              </a:rPr>
              <a:t>Identify concentric, eccentric and isometric contractions in Chaturanga, Chair and other common poses</a:t>
            </a:r>
            <a:endParaRPr lang="en-US" sz="1600" dirty="0"/>
          </a:p>
        </p:txBody>
      </p:sp>
      <p:sp>
        <p:nvSpPr>
          <p:cNvPr id="10" name="Shape 8"/>
          <p:cNvSpPr/>
          <p:nvPr/>
        </p:nvSpPr>
        <p:spPr>
          <a:xfrm>
            <a:off x="548640" y="3163824"/>
            <a:ext cx="420624" cy="420624"/>
          </a:xfrm>
          <a:prstGeom prst="ellipse">
            <a:avLst/>
          </a:prstGeom>
          <a:solidFill>
            <a:srgbClr val="B3304C"/>
          </a:solidFill>
          <a:ln w="12700">
            <a:solidFill>
              <a:srgbClr val="B3304C"/>
            </a:solidFill>
            <a:prstDash val="solid"/>
          </a:ln>
        </p:spPr>
      </p:sp>
      <p:sp>
        <p:nvSpPr>
          <p:cNvPr id="11" name="Text 9"/>
          <p:cNvSpPr txBox="1"/>
          <p:nvPr/>
        </p:nvSpPr>
        <p:spPr>
          <a:xfrm>
            <a:off x="548640" y="316382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1188720" y="3118104"/>
            <a:ext cx="6766560" cy="548640"/>
          </a:xfrm>
          <a:prstGeom prst="rect">
            <a:avLst/>
          </a:prstGeom>
          <a:noFill/>
          <a:ln/>
        </p:spPr>
        <p:txBody>
          <a:bodyPr wrap="square" lIns="0" tIns="0" rIns="0" bIns="0" rtlCol="0" anchor="ctr">
            <a:normAutofit/>
          </a:bodyPr>
          <a:lstStyle/>
          <a:p>
            <a:pPr indent="0" marL="0">
              <a:buNone/>
            </a:pPr>
            <a:r>
              <a:rPr lang="en-US" sz="1600" dirty="0">
                <a:solidFill>
                  <a:srgbClr val="16303A"/>
                </a:solidFill>
                <a:latin typeface="Calibri" pitchFamily="34" charset="0"/>
                <a:ea typeface="Calibri" pitchFamily="34" charset="-122"/>
                <a:cs typeface="Calibri" pitchFamily="34" charset="-120"/>
              </a:rPr>
              <a:t>Assign agonist, antagonist, synergist and stabilizer roles for a given joint action in a pose</a:t>
            </a:r>
            <a:endParaRPr lang="en-US" sz="1600" dirty="0"/>
          </a:p>
        </p:txBody>
      </p:sp>
      <p:sp>
        <p:nvSpPr>
          <p:cNvPr id="13" name="Shape 11"/>
          <p:cNvSpPr/>
          <p:nvPr/>
        </p:nvSpPr>
        <p:spPr>
          <a:xfrm>
            <a:off x="548640" y="3877056"/>
            <a:ext cx="420624" cy="420624"/>
          </a:xfrm>
          <a:prstGeom prst="ellipse">
            <a:avLst/>
          </a:prstGeom>
          <a:solidFill>
            <a:srgbClr val="B3304C"/>
          </a:solidFill>
          <a:ln w="12700">
            <a:solidFill>
              <a:srgbClr val="B3304C"/>
            </a:solidFill>
            <a:prstDash val="solid"/>
          </a:ln>
        </p:spPr>
      </p:sp>
      <p:sp>
        <p:nvSpPr>
          <p:cNvPr id="14" name="Text 12"/>
          <p:cNvSpPr txBox="1"/>
          <p:nvPr/>
        </p:nvSpPr>
        <p:spPr>
          <a:xfrm>
            <a:off x="548640" y="38770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5" name="Text 13"/>
          <p:cNvSpPr txBox="1"/>
          <p:nvPr/>
        </p:nvSpPr>
        <p:spPr>
          <a:xfrm>
            <a:off x="1188720" y="3831336"/>
            <a:ext cx="6766560" cy="548640"/>
          </a:xfrm>
          <a:prstGeom prst="rect">
            <a:avLst/>
          </a:prstGeom>
          <a:noFill/>
          <a:ln/>
        </p:spPr>
        <p:txBody>
          <a:bodyPr wrap="square" lIns="0" tIns="0" rIns="0" bIns="0" rtlCol="0" anchor="ctr">
            <a:normAutofit/>
          </a:bodyPr>
          <a:lstStyle/>
          <a:p>
            <a:pPr indent="0" marL="0">
              <a:buNone/>
            </a:pPr>
            <a:r>
              <a:rPr lang="en-US" sz="1600" dirty="0">
                <a:solidFill>
                  <a:srgbClr val="16303A"/>
                </a:solidFill>
                <a:latin typeface="Calibri" pitchFamily="34" charset="0"/>
                <a:ea typeface="Calibri" pitchFamily="34" charset="-122"/>
                <a:cs typeface="Calibri" pitchFamily="34" charset="-120"/>
              </a:rPr>
              <a:t>Explain the stretch reflex, reciprocal inhibition and the Golgi tendon organ, and state what current evidence says about how PNF works</a:t>
            </a:r>
            <a:endParaRPr lang="en-US" sz="1600" dirty="0"/>
          </a:p>
        </p:txBody>
      </p:sp>
      <p:sp>
        <p:nvSpPr>
          <p:cNvPr id="16" name="Shape 14"/>
          <p:cNvSpPr/>
          <p:nvPr/>
        </p:nvSpPr>
        <p:spPr>
          <a:xfrm>
            <a:off x="548640" y="4590288"/>
            <a:ext cx="420624" cy="420624"/>
          </a:xfrm>
          <a:prstGeom prst="ellipse">
            <a:avLst/>
          </a:prstGeom>
          <a:solidFill>
            <a:srgbClr val="B3304C"/>
          </a:solidFill>
          <a:ln w="12700">
            <a:solidFill>
              <a:srgbClr val="B3304C"/>
            </a:solidFill>
            <a:prstDash val="solid"/>
          </a:ln>
        </p:spPr>
      </p:sp>
      <p:sp>
        <p:nvSpPr>
          <p:cNvPr id="17" name="Text 15"/>
          <p:cNvSpPr txBox="1"/>
          <p:nvPr/>
        </p:nvSpPr>
        <p:spPr>
          <a:xfrm>
            <a:off x="548640" y="459028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18" name="Text 16"/>
          <p:cNvSpPr txBox="1"/>
          <p:nvPr/>
        </p:nvSpPr>
        <p:spPr>
          <a:xfrm>
            <a:off x="1188720" y="4544568"/>
            <a:ext cx="6766560" cy="548640"/>
          </a:xfrm>
          <a:prstGeom prst="rect">
            <a:avLst/>
          </a:prstGeom>
          <a:noFill/>
          <a:ln/>
        </p:spPr>
        <p:txBody>
          <a:bodyPr wrap="square" lIns="0" tIns="0" rIns="0" bIns="0" rtlCol="0" anchor="ctr">
            <a:normAutofit/>
          </a:bodyPr>
          <a:lstStyle/>
          <a:p>
            <a:pPr indent="0" marL="0">
              <a:buNone/>
            </a:pPr>
            <a:r>
              <a:rPr lang="en-US" sz="1600" dirty="0">
                <a:solidFill>
                  <a:srgbClr val="16303A"/>
                </a:solidFill>
                <a:latin typeface="Calibri" pitchFamily="34" charset="0"/>
                <a:ea typeface="Calibri" pitchFamily="34" charset="-122"/>
                <a:cs typeface="Calibri" pitchFamily="34" charset="-120"/>
              </a:rPr>
              <a:t>Distinguish the nervous system and tissue contributions to flexibility and cue end-range strength for flexible students</a:t>
            </a:r>
            <a:endParaRPr lang="en-US" sz="1600" dirty="0"/>
          </a:p>
        </p:txBody>
      </p:sp>
      <p:sp>
        <p:nvSpPr>
          <p:cNvPr id="19" name="Shape 17"/>
          <p:cNvSpPr/>
          <p:nvPr/>
        </p:nvSpPr>
        <p:spPr>
          <a:xfrm>
            <a:off x="548640" y="5303520"/>
            <a:ext cx="420624" cy="420624"/>
          </a:xfrm>
          <a:prstGeom prst="ellipse">
            <a:avLst/>
          </a:prstGeom>
          <a:solidFill>
            <a:srgbClr val="B3304C"/>
          </a:solidFill>
          <a:ln w="12700">
            <a:solidFill>
              <a:srgbClr val="B3304C"/>
            </a:solidFill>
            <a:prstDash val="solid"/>
          </a:ln>
        </p:spPr>
      </p:sp>
      <p:sp>
        <p:nvSpPr>
          <p:cNvPr id="20" name="Text 18"/>
          <p:cNvSpPr txBox="1"/>
          <p:nvPr/>
        </p:nvSpPr>
        <p:spPr>
          <a:xfrm>
            <a:off x="548640" y="530352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21" name="Text 19"/>
          <p:cNvSpPr txBox="1"/>
          <p:nvPr/>
        </p:nvSpPr>
        <p:spPr>
          <a:xfrm>
            <a:off x="1188720" y="5257800"/>
            <a:ext cx="6766560" cy="548640"/>
          </a:xfrm>
          <a:prstGeom prst="rect">
            <a:avLst/>
          </a:prstGeom>
          <a:noFill/>
          <a:ln/>
        </p:spPr>
        <p:txBody>
          <a:bodyPr wrap="square" lIns="0" tIns="0" rIns="0" bIns="0" rtlCol="0" anchor="ctr">
            <a:normAutofit/>
          </a:bodyPr>
          <a:lstStyle/>
          <a:p>
            <a:pPr indent="0" marL="0">
              <a:buNone/>
            </a:pPr>
            <a:r>
              <a:rPr lang="en-US" sz="1600" dirty="0">
                <a:solidFill>
                  <a:srgbClr val="16303A"/>
                </a:solidFill>
                <a:latin typeface="Calibri" pitchFamily="34" charset="0"/>
                <a:ea typeface="Calibri" pitchFamily="34" charset="-122"/>
                <a:cs typeface="Calibri" pitchFamily="34" charset="-120"/>
              </a:rPr>
              <a:t>Separate supported from unsupported claims about fascia and choose accurate cueing language</a:t>
            </a:r>
            <a:endParaRPr lang="en-US" sz="1600" dirty="0"/>
          </a:p>
        </p:txBody>
      </p:sp>
      <p:sp>
        <p:nvSpPr>
          <p:cNvPr id="22" name="Shape 20"/>
          <p:cNvSpPr/>
          <p:nvPr/>
        </p:nvSpPr>
        <p:spPr>
          <a:xfrm>
            <a:off x="8229600" y="1737360"/>
            <a:ext cx="3383280" cy="4023360"/>
          </a:xfrm>
          <a:prstGeom prst="roundRect">
            <a:avLst>
              <a:gd name="adj" fmla="val 3243"/>
            </a:avLst>
          </a:prstGeom>
          <a:solidFill>
            <a:srgbClr val="EDF2EF"/>
          </a:solidFill>
          <a:ln w="12700">
            <a:solidFill>
              <a:srgbClr val="EDF2EF"/>
            </a:solidFill>
            <a:prstDash val="solid"/>
          </a:ln>
        </p:spPr>
      </p:sp>
      <p:sp>
        <p:nvSpPr>
          <p:cNvPr id="23" name="Text 21"/>
          <p:cNvSpPr txBox="1"/>
          <p:nvPr/>
        </p:nvSpPr>
        <p:spPr>
          <a:xfrm>
            <a:off x="8458200" y="1874520"/>
            <a:ext cx="2926080" cy="274320"/>
          </a:xfrm>
          <a:prstGeom prst="rect">
            <a:avLst/>
          </a:prstGeom>
          <a:noFill/>
          <a:ln/>
        </p:spPr>
        <p:txBody>
          <a:bodyPr wrap="square" lIns="0" tIns="0" rIns="0" bIns="0" rtlCol="0" anchor="ctr"/>
          <a:lstStyle/>
          <a:p>
            <a:pPr indent="0" marL="0">
              <a:buNone/>
            </a:pPr>
            <a:r>
              <a:rPr lang="en-US" sz="1000" b="1" spc="300" kern="0" dirty="0">
                <a:solidFill>
                  <a:srgbClr val="55707A"/>
                </a:solidFill>
                <a:latin typeface="Calibri" pitchFamily="34" charset="0"/>
                <a:ea typeface="Calibri" pitchFamily="34" charset="-122"/>
                <a:cs typeface="Calibri" pitchFamily="34" charset="-120"/>
              </a:rPr>
              <a:t>LESSONS</a:t>
            </a:r>
            <a:endParaRPr lang="en-US" sz="1000" dirty="0"/>
          </a:p>
        </p:txBody>
      </p:sp>
      <p:sp>
        <p:nvSpPr>
          <p:cNvPr id="24" name="Text 22"/>
          <p:cNvSpPr txBox="1"/>
          <p:nvPr/>
        </p:nvSpPr>
        <p:spPr>
          <a:xfrm>
            <a:off x="8458200" y="2194560"/>
            <a:ext cx="2971800" cy="3474720"/>
          </a:xfrm>
          <a:prstGeom prst="rect">
            <a:avLst/>
          </a:prstGeom>
          <a:noFill/>
          <a:ln/>
        </p:spPr>
        <p:txBody>
          <a:bodyPr wrap="square" lIns="0" tIns="0" rIns="0" bIns="0" rtlCol="0" anchor="t">
            <a:normAutofit/>
          </a:bodyPr>
          <a:lstStyle/>
          <a:p>
            <a:pPr indent="0" marL="0">
              <a:spcAft>
                <a:spcPts val="600"/>
              </a:spcAft>
              <a:buNone/>
            </a:pPr>
            <a:r>
              <a:rPr lang="en-US" sz="1150" dirty="0">
                <a:solidFill>
                  <a:srgbClr val="16303A"/>
                </a:solidFill>
                <a:latin typeface="Calibri" pitchFamily="34" charset="0"/>
                <a:ea typeface="Calibri" pitchFamily="34" charset="-122"/>
                <a:cs typeface="Calibri" pitchFamily="34" charset="-120"/>
              </a:rPr>
              <a:t>4.1  Muscle structure and how a muscle shortens</a:t>
            </a:r>
            <a:endParaRPr lang="en-US" sz="1150" dirty="0"/>
          </a:p>
          <a:p>
            <a:pPr indent="0" marL="0">
              <a:spcAft>
                <a:spcPts val="600"/>
              </a:spcAft>
              <a:buNone/>
            </a:pPr>
            <a:r>
              <a:rPr lang="en-US" sz="1150" dirty="0">
                <a:solidFill>
                  <a:srgbClr val="16303A"/>
                </a:solidFill>
                <a:latin typeface="Calibri" pitchFamily="34" charset="0"/>
                <a:ea typeface="Calibri" pitchFamily="34" charset="-122"/>
                <a:cs typeface="Calibri" pitchFamily="34" charset="-120"/>
              </a:rPr>
              <a:t>4.2  Concentric, eccentric and isometric: lowering through Chaturanga, holding Chair</a:t>
            </a:r>
            <a:endParaRPr lang="en-US" sz="1150" dirty="0"/>
          </a:p>
          <a:p>
            <a:pPr indent="0" marL="0">
              <a:spcAft>
                <a:spcPts val="600"/>
              </a:spcAft>
              <a:buNone/>
            </a:pPr>
            <a:r>
              <a:rPr lang="en-US" sz="1150" dirty="0">
                <a:solidFill>
                  <a:srgbClr val="16303A"/>
                </a:solidFill>
                <a:latin typeface="Calibri" pitchFamily="34" charset="0"/>
                <a:ea typeface="Calibri" pitchFamily="34" charset="-122"/>
                <a:cs typeface="Calibri" pitchFamily="34" charset="-120"/>
              </a:rPr>
              <a:t>4.3  Agonist, antagonist, synergist and stabilizer</a:t>
            </a:r>
            <a:endParaRPr lang="en-US" sz="1150" dirty="0"/>
          </a:p>
          <a:p>
            <a:pPr indent="0" marL="0">
              <a:spcAft>
                <a:spcPts val="600"/>
              </a:spcAft>
              <a:buNone/>
            </a:pPr>
            <a:r>
              <a:rPr lang="en-US" sz="1150" dirty="0">
                <a:solidFill>
                  <a:srgbClr val="16303A"/>
                </a:solidFill>
                <a:latin typeface="Calibri" pitchFamily="34" charset="0"/>
                <a:ea typeface="Calibri" pitchFamily="34" charset="-122"/>
                <a:cs typeface="Calibri" pitchFamily="34" charset="-120"/>
              </a:rPr>
              <a:t>4.4  Reciprocal inhibition, the stretch reflex and the Golgi tendon organ</a:t>
            </a:r>
            <a:endParaRPr lang="en-US" sz="1150" dirty="0"/>
          </a:p>
          <a:p>
            <a:pPr indent="0" marL="0">
              <a:spcAft>
                <a:spcPts val="600"/>
              </a:spcAft>
              <a:buNone/>
            </a:pPr>
            <a:r>
              <a:rPr lang="en-US" sz="1150" dirty="0">
                <a:solidFill>
                  <a:srgbClr val="16303A"/>
                </a:solidFill>
                <a:latin typeface="Calibri" pitchFamily="34" charset="0"/>
                <a:ea typeface="Calibri" pitchFamily="34" charset="-122"/>
                <a:cs typeface="Calibri" pitchFamily="34" charset="-120"/>
              </a:rPr>
              <a:t>4.5  What flexibility is: nervous system tolerance and tissue length</a:t>
            </a:r>
            <a:endParaRPr lang="en-US" sz="1150" dirty="0"/>
          </a:p>
          <a:p>
            <a:pPr indent="0" marL="0">
              <a:spcAft>
                <a:spcPts val="600"/>
              </a:spcAft>
              <a:buNone/>
            </a:pPr>
            <a:r>
              <a:rPr lang="en-US" sz="1150" dirty="0">
                <a:solidFill>
                  <a:srgbClr val="16303A"/>
                </a:solidFill>
                <a:latin typeface="Calibri" pitchFamily="34" charset="0"/>
                <a:ea typeface="Calibri" pitchFamily="34" charset="-122"/>
                <a:cs typeface="Calibri" pitchFamily="34" charset="-120"/>
              </a:rPr>
              <a:t>4.6  Fascia without the hype</a:t>
            </a:r>
            <a:endParaRPr lang="en-US" sz="1150" dirty="0"/>
          </a:p>
          <a:p>
            <a:pPr indent="0" marL="0">
              <a:spcAft>
                <a:spcPts val="600"/>
              </a:spcAft>
              <a:buNone/>
            </a:pPr>
            <a:r>
              <a:rPr lang="en-US" sz="1150" dirty="0">
                <a:solidFill>
                  <a:srgbClr val="16303A"/>
                </a:solidFill>
                <a:latin typeface="Calibri" pitchFamily="34" charset="0"/>
                <a:ea typeface="Calibri" pitchFamily="34" charset="-122"/>
                <a:cs typeface="Calibri" pitchFamily="34" charset="-120"/>
              </a:rPr>
              <a:t>4.7  Pose lab: muscle roles in Warrior III and Bridge</a:t>
            </a:r>
            <a:endParaRPr lang="en-US" sz="1150" dirty="0"/>
          </a:p>
        </p:txBody>
      </p:sp>
      <p:sp>
        <p:nvSpPr>
          <p:cNvPr id="25" name="Text 23"/>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26" name="Text 24"/>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303A"/>
        </a:solidFill>
      </p:bgPr>
    </p:bg>
    <p:spTree>
      <p:nvGrpSpPr>
        <p:cNvPr id="1" name=""/>
        <p:cNvGrpSpPr/>
        <p:nvPr/>
      </p:nvGrpSpPr>
      <p:grpSpPr>
        <a:xfrm>
          <a:off x="0" y="0"/>
          <a:ext cx="0" cy="0"/>
          <a:chOff x="0" y="0"/>
          <a:chExt cx="0" cy="0"/>
        </a:xfrm>
      </p:grpSpPr>
      <p:sp>
        <p:nvSpPr>
          <p:cNvPr id="2" name="Shape 0"/>
          <p:cNvSpPr/>
          <p:nvPr/>
        </p:nvSpPr>
        <p:spPr>
          <a:xfrm>
            <a:off x="548640" y="1463040"/>
            <a:ext cx="1371600" cy="1371600"/>
          </a:xfrm>
          <a:prstGeom prst="ellipse">
            <a:avLst/>
          </a:prstGeom>
          <a:solidFill>
            <a:srgbClr val="B3304C"/>
          </a:solidFill>
          <a:ln w="12700">
            <a:solidFill>
              <a:srgbClr val="B3304C"/>
            </a:solidFill>
            <a:prstDash val="solid"/>
          </a:ln>
        </p:spPr>
      </p:sp>
      <p:sp>
        <p:nvSpPr>
          <p:cNvPr id="3" name="Text 1"/>
          <p:cNvSpPr txBox="1"/>
          <p:nvPr/>
        </p:nvSpPr>
        <p:spPr>
          <a:xfrm>
            <a:off x="548640" y="1463040"/>
            <a:ext cx="1371600" cy="137160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4.1</a:t>
            </a:r>
            <a:endParaRPr lang="en-US" sz="3000" dirty="0"/>
          </a:p>
        </p:txBody>
      </p:sp>
      <p:sp>
        <p:nvSpPr>
          <p:cNvPr id="4" name="Text 2"/>
          <p:cNvSpPr txBox="1"/>
          <p:nvPr/>
        </p:nvSpPr>
        <p:spPr>
          <a:xfrm>
            <a:off x="2286000" y="1508760"/>
            <a:ext cx="7315200" cy="320040"/>
          </a:xfrm>
          <a:prstGeom prst="rect">
            <a:avLst/>
          </a:prstGeom>
          <a:noFill/>
          <a:ln/>
        </p:spPr>
        <p:txBody>
          <a:bodyPr wrap="square" lIns="0" tIns="0" rIns="0" bIns="0" rtlCol="0" anchor="ctr"/>
          <a:lstStyle/>
          <a:p>
            <a:pPr indent="0" marL="0">
              <a:buNone/>
            </a:pPr>
            <a:r>
              <a:rPr lang="en-US" sz="1300" b="1" spc="300" kern="0" dirty="0">
                <a:solidFill>
                  <a:srgbClr val="CBB78C"/>
                </a:solidFill>
                <a:latin typeface="Calibri" pitchFamily="34" charset="0"/>
                <a:ea typeface="Calibri" pitchFamily="34" charset="-122"/>
                <a:cs typeface="Calibri" pitchFamily="34" charset="-120"/>
              </a:rPr>
              <a:t>LESSON 4.1  ·  25 MIN</a:t>
            </a:r>
            <a:endParaRPr lang="en-US" sz="1300" dirty="0"/>
          </a:p>
        </p:txBody>
      </p:sp>
      <p:sp>
        <p:nvSpPr>
          <p:cNvPr id="5" name="Text 3"/>
          <p:cNvSpPr txBox="1"/>
          <p:nvPr/>
        </p:nvSpPr>
        <p:spPr>
          <a:xfrm>
            <a:off x="2286000" y="1874520"/>
            <a:ext cx="9052560" cy="1463040"/>
          </a:xfrm>
          <a:prstGeom prst="rect">
            <a:avLst/>
          </a:prstGeom>
          <a:noFill/>
          <a:ln/>
        </p:spPr>
        <p:txBody>
          <a:bodyPr wrap="square" lIns="0" tIns="0" rIns="0" bIns="0" rtlCol="0" anchor="t">
            <a:normAutofit/>
          </a:bodyPr>
          <a:lstStyle/>
          <a:p>
            <a:pPr indent="0" marL="0">
              <a:buNone/>
            </a:pPr>
            <a:r>
              <a:rPr lang="en-US" sz="3600" b="1" dirty="0">
                <a:solidFill>
                  <a:srgbClr val="FFFFFF"/>
                </a:solidFill>
                <a:latin typeface="Cambria" pitchFamily="34" charset="0"/>
                <a:ea typeface="Cambria" pitchFamily="34" charset="-122"/>
                <a:cs typeface="Cambria" pitchFamily="34" charset="-120"/>
              </a:rPr>
              <a:t>Muscle structure and how a muscle shortens</a:t>
            </a:r>
            <a:endParaRPr lang="en-US" sz="3600" dirty="0"/>
          </a:p>
        </p:txBody>
      </p:sp>
      <p:sp>
        <p:nvSpPr>
          <p:cNvPr id="6" name="Shape 4"/>
          <p:cNvSpPr/>
          <p:nvPr/>
        </p:nvSpPr>
        <p:spPr>
          <a:xfrm>
            <a:off x="2286000" y="3931920"/>
            <a:ext cx="1965960" cy="566928"/>
          </a:xfrm>
          <a:prstGeom prst="roundRect">
            <a:avLst>
              <a:gd name="adj" fmla="val 48387"/>
            </a:avLst>
          </a:prstGeom>
          <a:solidFill>
            <a:srgbClr val="22414D"/>
          </a:solidFill>
          <a:ln w="12700">
            <a:solidFill>
              <a:srgbClr val="3B5A66"/>
            </a:solidFill>
            <a:prstDash val="solid"/>
          </a:ln>
        </p:spPr>
      </p:sp>
      <p:sp>
        <p:nvSpPr>
          <p:cNvPr id="7" name="Text 5"/>
          <p:cNvSpPr txBox="1"/>
          <p:nvPr/>
        </p:nvSpPr>
        <p:spPr>
          <a:xfrm>
            <a:off x="228600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See it</a:t>
            </a:r>
            <a:endParaRPr lang="en-US" sz="1400" dirty="0"/>
          </a:p>
        </p:txBody>
      </p:sp>
      <p:sp>
        <p:nvSpPr>
          <p:cNvPr id="8" name="Shape 6"/>
          <p:cNvSpPr/>
          <p:nvPr/>
        </p:nvSpPr>
        <p:spPr>
          <a:xfrm>
            <a:off x="4434840" y="3931920"/>
            <a:ext cx="1965960" cy="566928"/>
          </a:xfrm>
          <a:prstGeom prst="roundRect">
            <a:avLst>
              <a:gd name="adj" fmla="val 48387"/>
            </a:avLst>
          </a:prstGeom>
          <a:solidFill>
            <a:srgbClr val="22414D"/>
          </a:solidFill>
          <a:ln w="12700">
            <a:solidFill>
              <a:srgbClr val="3B5A66"/>
            </a:solidFill>
            <a:prstDash val="solid"/>
          </a:ln>
        </p:spPr>
      </p:sp>
      <p:sp>
        <p:nvSpPr>
          <p:cNvPr id="9" name="Text 7"/>
          <p:cNvSpPr txBox="1"/>
          <p:nvPr/>
        </p:nvSpPr>
        <p:spPr>
          <a:xfrm>
            <a:off x="443484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Feel it</a:t>
            </a:r>
            <a:endParaRPr lang="en-US" sz="1400" dirty="0"/>
          </a:p>
        </p:txBody>
      </p:sp>
      <p:sp>
        <p:nvSpPr>
          <p:cNvPr id="10" name="Shape 8"/>
          <p:cNvSpPr/>
          <p:nvPr/>
        </p:nvSpPr>
        <p:spPr>
          <a:xfrm>
            <a:off x="6583680" y="3931920"/>
            <a:ext cx="1965960" cy="566928"/>
          </a:xfrm>
          <a:prstGeom prst="roundRect">
            <a:avLst>
              <a:gd name="adj" fmla="val 48387"/>
            </a:avLst>
          </a:prstGeom>
          <a:solidFill>
            <a:srgbClr val="22414D"/>
          </a:solidFill>
          <a:ln w="12700">
            <a:solidFill>
              <a:srgbClr val="3B5A66"/>
            </a:solidFill>
            <a:prstDash val="solid"/>
          </a:ln>
        </p:spPr>
      </p:sp>
      <p:sp>
        <p:nvSpPr>
          <p:cNvPr id="11" name="Text 9"/>
          <p:cNvSpPr txBox="1"/>
          <p:nvPr/>
        </p:nvSpPr>
        <p:spPr>
          <a:xfrm>
            <a:off x="658368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Cue it</a:t>
            </a:r>
            <a:endParaRPr lang="en-US" sz="1400" dirty="0"/>
          </a:p>
        </p:txBody>
      </p:sp>
      <p:sp>
        <p:nvSpPr>
          <p:cNvPr id="12" name="Shape 10"/>
          <p:cNvSpPr/>
          <p:nvPr/>
        </p:nvSpPr>
        <p:spPr>
          <a:xfrm>
            <a:off x="8732520" y="3931920"/>
            <a:ext cx="1965960" cy="566928"/>
          </a:xfrm>
          <a:prstGeom prst="roundRect">
            <a:avLst>
              <a:gd name="adj" fmla="val 48387"/>
            </a:avLst>
          </a:prstGeom>
          <a:solidFill>
            <a:srgbClr val="22414D"/>
          </a:solidFill>
          <a:ln w="12700">
            <a:solidFill>
              <a:srgbClr val="3B5A66"/>
            </a:solidFill>
            <a:prstDash val="solid"/>
          </a:ln>
        </p:spPr>
      </p:sp>
      <p:sp>
        <p:nvSpPr>
          <p:cNvPr id="13" name="Text 11"/>
          <p:cNvSpPr txBox="1"/>
          <p:nvPr/>
        </p:nvSpPr>
        <p:spPr>
          <a:xfrm>
            <a:off x="873252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Check it</a:t>
            </a:r>
            <a:endParaRPr lang="en-US" sz="1400" dirty="0"/>
          </a:p>
        </p:txBody>
      </p:sp>
      <p:sp>
        <p:nvSpPr>
          <p:cNvPr id="14" name="Text 1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A9BFC6"/>
                </a:solidFill>
                <a:latin typeface="Calibri" pitchFamily="34" charset="0"/>
                <a:ea typeface="Calibri" pitchFamily="34" charset="-122"/>
                <a:cs typeface="Calibri" pitchFamily="34" charset="-120"/>
              </a:rPr>
              <a:t>Anatomy on the Mat  ·  Dr. Akash Garg, D.C.</a:t>
            </a:r>
            <a:endParaRPr lang="en-US" sz="900" dirty="0"/>
          </a:p>
        </p:txBody>
      </p:sp>
      <p:sp>
        <p:nvSpPr>
          <p:cNvPr id="15" name="Text 1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A9BFC6"/>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4.1</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Skeletal muscle: the tissue you cue</a:t>
            </a:r>
            <a:endParaRPr lang="en-US" sz="3000" dirty="0"/>
          </a:p>
        </p:txBody>
      </p:sp>
      <p:sp>
        <p:nvSpPr>
          <p:cNvPr id="4" name="Shape 2"/>
          <p:cNvSpPr/>
          <p:nvPr/>
        </p:nvSpPr>
        <p:spPr>
          <a:xfrm>
            <a:off x="548640" y="1984248"/>
            <a:ext cx="182880" cy="182880"/>
          </a:xfrm>
          <a:prstGeom prst="ellipse">
            <a:avLst/>
          </a:prstGeom>
          <a:solidFill>
            <a:srgbClr val="B3304C"/>
          </a:solidFill>
          <a:ln w="12700">
            <a:solidFill>
              <a:srgbClr val="B3304C"/>
            </a:solidFill>
            <a:prstDash val="solid"/>
          </a:ln>
        </p:spPr>
      </p:sp>
      <p:sp>
        <p:nvSpPr>
          <p:cNvPr id="5" name="Text 3"/>
          <p:cNvSpPr txBox="1"/>
          <p:nvPr/>
        </p:nvSpPr>
        <p:spPr>
          <a:xfrm>
            <a:off x="960120" y="1874520"/>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Three muscle types: skeletal, cardiac and smooth</a:t>
            </a:r>
            <a:endParaRPr lang="en-US" sz="1900" dirty="0"/>
          </a:p>
        </p:txBody>
      </p:sp>
      <p:sp>
        <p:nvSpPr>
          <p:cNvPr id="6" name="Shape 4"/>
          <p:cNvSpPr/>
          <p:nvPr/>
        </p:nvSpPr>
        <p:spPr>
          <a:xfrm>
            <a:off x="548640" y="2916936"/>
            <a:ext cx="182880" cy="182880"/>
          </a:xfrm>
          <a:prstGeom prst="ellipse">
            <a:avLst/>
          </a:prstGeom>
          <a:solidFill>
            <a:srgbClr val="2F7359"/>
          </a:solidFill>
          <a:ln w="12700">
            <a:solidFill>
              <a:srgbClr val="2F7359"/>
            </a:solidFill>
            <a:prstDash val="solid"/>
          </a:ln>
        </p:spPr>
      </p:sp>
      <p:sp>
        <p:nvSpPr>
          <p:cNvPr id="7" name="Text 5"/>
          <p:cNvSpPr txBox="1"/>
          <p:nvPr/>
        </p:nvSpPr>
        <p:spPr>
          <a:xfrm>
            <a:off x="960120" y="2807208"/>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Only skeletal muscle is under voluntary control</a:t>
            </a:r>
            <a:endParaRPr lang="en-US" sz="1900" dirty="0"/>
          </a:p>
        </p:txBody>
      </p:sp>
      <p:sp>
        <p:nvSpPr>
          <p:cNvPr id="8" name="Shape 6"/>
          <p:cNvSpPr/>
          <p:nvPr/>
        </p:nvSpPr>
        <p:spPr>
          <a:xfrm>
            <a:off x="548640" y="3849624"/>
            <a:ext cx="182880" cy="182880"/>
          </a:xfrm>
          <a:prstGeom prst="ellipse">
            <a:avLst/>
          </a:prstGeom>
          <a:solidFill>
            <a:srgbClr val="B3304C"/>
          </a:solidFill>
          <a:ln w="12700">
            <a:solidFill>
              <a:srgbClr val="B3304C"/>
            </a:solidFill>
            <a:prstDash val="solid"/>
          </a:ln>
        </p:spPr>
      </p:sp>
      <p:sp>
        <p:nvSpPr>
          <p:cNvPr id="9" name="Text 7"/>
          <p:cNvSpPr txBox="1"/>
          <p:nvPr/>
        </p:nvSpPr>
        <p:spPr>
          <a:xfrm>
            <a:off x="960120" y="3739896"/>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Skeletal muscle attaches to bone through tendons</a:t>
            </a:r>
            <a:endParaRPr lang="en-US" sz="1900" dirty="0"/>
          </a:p>
        </p:txBody>
      </p:sp>
      <p:sp>
        <p:nvSpPr>
          <p:cNvPr id="10" name="Shape 8"/>
          <p:cNvSpPr/>
          <p:nvPr/>
        </p:nvSpPr>
        <p:spPr>
          <a:xfrm>
            <a:off x="548640" y="4782312"/>
            <a:ext cx="182880" cy="182880"/>
          </a:xfrm>
          <a:prstGeom prst="ellipse">
            <a:avLst/>
          </a:prstGeom>
          <a:solidFill>
            <a:srgbClr val="2F7359"/>
          </a:solidFill>
          <a:ln w="12700">
            <a:solidFill>
              <a:srgbClr val="2F7359"/>
            </a:solidFill>
            <a:prstDash val="solid"/>
          </a:ln>
        </p:spPr>
      </p:sp>
      <p:sp>
        <p:nvSpPr>
          <p:cNvPr id="11" name="Text 9"/>
          <p:cNvSpPr txBox="1"/>
          <p:nvPr/>
        </p:nvSpPr>
        <p:spPr>
          <a:xfrm>
            <a:off x="960120" y="4672584"/>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It moves joints, holds postures and makes heat</a:t>
            </a:r>
            <a:endParaRPr lang="en-US" sz="1900" dirty="0"/>
          </a:p>
        </p:txBody>
      </p:sp>
      <p:sp>
        <p:nvSpPr>
          <p:cNvPr id="12" name="Shape 10"/>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13" name="Image 0" descr="Even standing still in Mountain, skeletal muscles are quietly working">    </p:cNvPr>
          <p:cNvPicPr>
            <a:picLocks noChangeAspect="1"/>
          </p:cNvPicPr>
          <p:nvPr/>
        </p:nvPicPr>
        <p:blipFill>
          <a:blip r:embed="rId1"/>
          <a:stretch>
            <a:fillRect/>
          </a:stretch>
        </p:blipFill>
        <p:spPr>
          <a:xfrm>
            <a:off x="8067738" y="1901952"/>
            <a:ext cx="2426844" cy="3657600"/>
          </a:xfrm>
          <a:prstGeom prst="rect">
            <a:avLst/>
          </a:prstGeom>
        </p:spPr>
      </p:pic>
      <p:sp>
        <p:nvSpPr>
          <p:cNvPr id="14" name="Text 11"/>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1  </a:t>
            </a:r>
            <a:pPr indent="0" marL="0">
              <a:buNone/>
            </a:pPr>
            <a:r>
              <a:rPr lang="en-US" sz="1100" dirty="0">
                <a:solidFill>
                  <a:srgbClr val="55707A"/>
                </a:solidFill>
                <a:latin typeface="Calibri" pitchFamily="34" charset="0"/>
                <a:ea typeface="Calibri" pitchFamily="34" charset="-122"/>
                <a:cs typeface="Calibri" pitchFamily="34" charset="-120"/>
              </a:rPr>
              <a:t>Even standing still in Mountain, skeletal muscles are quietly working</a:t>
            </a:r>
            <a:endParaRPr lang="en-US" sz="1100" dirty="0"/>
          </a:p>
        </p:txBody>
      </p:sp>
      <p:sp>
        <p:nvSpPr>
          <p:cNvPr id="15" name="Text 1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6" name="Text 1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4.1</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Muscle to sarcomere: boxes inside boxes</a:t>
            </a:r>
            <a:endParaRPr lang="en-US" sz="3000" dirty="0"/>
          </a:p>
        </p:txBody>
      </p:sp>
      <p:sp>
        <p:nvSpPr>
          <p:cNvPr id="4" name="Shape 2"/>
          <p:cNvSpPr/>
          <p:nvPr/>
        </p:nvSpPr>
        <p:spPr>
          <a:xfrm>
            <a:off x="548640" y="1984248"/>
            <a:ext cx="182880" cy="182880"/>
          </a:xfrm>
          <a:prstGeom prst="ellipse">
            <a:avLst/>
          </a:prstGeom>
          <a:solidFill>
            <a:srgbClr val="B3304C"/>
          </a:solidFill>
          <a:ln w="12700">
            <a:solidFill>
              <a:srgbClr val="B3304C"/>
            </a:solidFill>
            <a:prstDash val="solid"/>
          </a:ln>
        </p:spPr>
      </p:sp>
      <p:sp>
        <p:nvSpPr>
          <p:cNvPr id="5" name="Text 3"/>
          <p:cNvSpPr txBox="1"/>
          <p:nvPr/>
        </p:nvSpPr>
        <p:spPr>
          <a:xfrm>
            <a:off x="960120" y="1874520"/>
            <a:ext cx="443484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Muscle is built of bundles called fascicles</a:t>
            </a:r>
            <a:endParaRPr lang="en-US" sz="1900" dirty="0"/>
          </a:p>
        </p:txBody>
      </p:sp>
      <p:sp>
        <p:nvSpPr>
          <p:cNvPr id="6" name="Shape 4"/>
          <p:cNvSpPr/>
          <p:nvPr/>
        </p:nvSpPr>
        <p:spPr>
          <a:xfrm>
            <a:off x="548640" y="2916936"/>
            <a:ext cx="182880" cy="182880"/>
          </a:xfrm>
          <a:prstGeom prst="ellipse">
            <a:avLst/>
          </a:prstGeom>
          <a:solidFill>
            <a:srgbClr val="2F7359"/>
          </a:solidFill>
          <a:ln w="12700">
            <a:solidFill>
              <a:srgbClr val="2F7359"/>
            </a:solidFill>
            <a:prstDash val="solid"/>
          </a:ln>
        </p:spPr>
      </p:sp>
      <p:sp>
        <p:nvSpPr>
          <p:cNvPr id="7" name="Text 5"/>
          <p:cNvSpPr txBox="1"/>
          <p:nvPr/>
        </p:nvSpPr>
        <p:spPr>
          <a:xfrm>
            <a:off x="960120" y="2807208"/>
            <a:ext cx="443484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Each fascicle holds many muscle fibers (cells)</a:t>
            </a:r>
            <a:endParaRPr lang="en-US" sz="1900" dirty="0"/>
          </a:p>
        </p:txBody>
      </p:sp>
      <p:sp>
        <p:nvSpPr>
          <p:cNvPr id="8" name="Shape 6"/>
          <p:cNvSpPr/>
          <p:nvPr/>
        </p:nvSpPr>
        <p:spPr>
          <a:xfrm>
            <a:off x="548640" y="3849624"/>
            <a:ext cx="182880" cy="182880"/>
          </a:xfrm>
          <a:prstGeom prst="ellipse">
            <a:avLst/>
          </a:prstGeom>
          <a:solidFill>
            <a:srgbClr val="B3304C"/>
          </a:solidFill>
          <a:ln w="12700">
            <a:solidFill>
              <a:srgbClr val="B3304C"/>
            </a:solidFill>
            <a:prstDash val="solid"/>
          </a:ln>
        </p:spPr>
      </p:sp>
      <p:sp>
        <p:nvSpPr>
          <p:cNvPr id="9" name="Text 7"/>
          <p:cNvSpPr txBox="1"/>
          <p:nvPr/>
        </p:nvSpPr>
        <p:spPr>
          <a:xfrm>
            <a:off x="960120" y="3739896"/>
            <a:ext cx="443484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Each fiber is packed with myofibrils</a:t>
            </a:r>
            <a:endParaRPr lang="en-US" sz="1900" dirty="0"/>
          </a:p>
        </p:txBody>
      </p:sp>
      <p:sp>
        <p:nvSpPr>
          <p:cNvPr id="10" name="Shape 8"/>
          <p:cNvSpPr/>
          <p:nvPr/>
        </p:nvSpPr>
        <p:spPr>
          <a:xfrm>
            <a:off x="548640" y="4782312"/>
            <a:ext cx="182880" cy="182880"/>
          </a:xfrm>
          <a:prstGeom prst="ellipse">
            <a:avLst/>
          </a:prstGeom>
          <a:solidFill>
            <a:srgbClr val="2F7359"/>
          </a:solidFill>
          <a:ln w="12700">
            <a:solidFill>
              <a:srgbClr val="2F7359"/>
            </a:solidFill>
            <a:prstDash val="solid"/>
          </a:ln>
        </p:spPr>
      </p:sp>
      <p:sp>
        <p:nvSpPr>
          <p:cNvPr id="11" name="Text 9"/>
          <p:cNvSpPr txBox="1"/>
          <p:nvPr/>
        </p:nvSpPr>
        <p:spPr>
          <a:xfrm>
            <a:off x="960120" y="4672584"/>
            <a:ext cx="443484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Each myofibril is a chain of sarcomeres</a:t>
            </a:r>
            <a:endParaRPr lang="en-US" sz="1900" dirty="0"/>
          </a:p>
        </p:txBody>
      </p:sp>
      <p:sp>
        <p:nvSpPr>
          <p:cNvPr id="12" name="Shape 10"/>
          <p:cNvSpPr/>
          <p:nvPr/>
        </p:nvSpPr>
        <p:spPr>
          <a:xfrm>
            <a:off x="5623560" y="1737360"/>
            <a:ext cx="6035040" cy="4389120"/>
          </a:xfrm>
          <a:prstGeom prst="roundRect">
            <a:avLst>
              <a:gd name="adj" fmla="val 2500"/>
            </a:avLst>
          </a:prstGeom>
          <a:solidFill>
            <a:srgbClr val="F9FBFA"/>
          </a:solidFill>
          <a:ln w="12700">
            <a:solidFill>
              <a:srgbClr val="C6D4CF"/>
            </a:solidFill>
            <a:prstDash val="solid"/>
          </a:ln>
        </p:spPr>
      </p:sp>
      <p:pic>
        <p:nvPicPr>
          <p:cNvPr id="13" name="Image 0" descr="Muscle, fascicle, fiber, myofibril, sarcomere">    </p:cNvPr>
          <p:cNvPicPr>
            <a:picLocks noChangeAspect="1"/>
          </p:cNvPicPr>
          <p:nvPr/>
        </p:nvPicPr>
        <p:blipFill>
          <a:blip r:embed="rId1"/>
          <a:stretch>
            <a:fillRect/>
          </a:stretch>
        </p:blipFill>
        <p:spPr>
          <a:xfrm>
            <a:off x="5806440" y="1959102"/>
            <a:ext cx="5669280" cy="3543300"/>
          </a:xfrm>
          <a:prstGeom prst="rect">
            <a:avLst/>
          </a:prstGeom>
        </p:spPr>
      </p:pic>
      <p:sp>
        <p:nvSpPr>
          <p:cNvPr id="14" name="Text 11"/>
          <p:cNvSpPr txBox="1"/>
          <p:nvPr/>
        </p:nvSpPr>
        <p:spPr>
          <a:xfrm>
            <a:off x="5806440" y="5623560"/>
            <a:ext cx="566928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2  </a:t>
            </a:r>
            <a:pPr indent="0" marL="0">
              <a:buNone/>
            </a:pPr>
            <a:r>
              <a:rPr lang="en-US" sz="1100" dirty="0">
                <a:solidFill>
                  <a:srgbClr val="55707A"/>
                </a:solidFill>
                <a:latin typeface="Calibri" pitchFamily="34" charset="0"/>
                <a:ea typeface="Calibri" pitchFamily="34" charset="-122"/>
                <a:cs typeface="Calibri" pitchFamily="34" charset="-120"/>
              </a:rPr>
              <a:t>Muscle, fascicle, fiber, myofibril, sarcomere</a:t>
            </a:r>
            <a:endParaRPr lang="en-US" sz="1100" dirty="0"/>
          </a:p>
        </p:txBody>
      </p:sp>
      <p:sp>
        <p:nvSpPr>
          <p:cNvPr id="15" name="Text 1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6" name="Text 1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4.1</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The sliding filament model</a:t>
            </a:r>
            <a:endParaRPr lang="en-US" sz="3000" dirty="0"/>
          </a:p>
        </p:txBody>
      </p:sp>
      <p:sp>
        <p:nvSpPr>
          <p:cNvPr id="4" name="Shape 2"/>
          <p:cNvSpPr/>
          <p:nvPr/>
        </p:nvSpPr>
        <p:spPr>
          <a:xfrm>
            <a:off x="548640" y="1984248"/>
            <a:ext cx="182880" cy="182880"/>
          </a:xfrm>
          <a:prstGeom prst="ellipse">
            <a:avLst/>
          </a:prstGeom>
          <a:solidFill>
            <a:srgbClr val="B3304C"/>
          </a:solidFill>
          <a:ln w="12700">
            <a:solidFill>
              <a:srgbClr val="B3304C"/>
            </a:solidFill>
            <a:prstDash val="solid"/>
          </a:ln>
        </p:spPr>
      </p:sp>
      <p:sp>
        <p:nvSpPr>
          <p:cNvPr id="5" name="Text 3"/>
          <p:cNvSpPr txBox="1"/>
          <p:nvPr/>
        </p:nvSpPr>
        <p:spPr>
          <a:xfrm>
            <a:off x="960120" y="1874520"/>
            <a:ext cx="443484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Thin filaments: actin. Thick filaments: myosin</a:t>
            </a:r>
            <a:endParaRPr lang="en-US" sz="1900" dirty="0"/>
          </a:p>
        </p:txBody>
      </p:sp>
      <p:sp>
        <p:nvSpPr>
          <p:cNvPr id="6" name="Shape 4"/>
          <p:cNvSpPr/>
          <p:nvPr/>
        </p:nvSpPr>
        <p:spPr>
          <a:xfrm>
            <a:off x="548640" y="2916936"/>
            <a:ext cx="182880" cy="182880"/>
          </a:xfrm>
          <a:prstGeom prst="ellipse">
            <a:avLst/>
          </a:prstGeom>
          <a:solidFill>
            <a:srgbClr val="2F7359"/>
          </a:solidFill>
          <a:ln w="12700">
            <a:solidFill>
              <a:srgbClr val="2F7359"/>
            </a:solidFill>
            <a:prstDash val="solid"/>
          </a:ln>
        </p:spPr>
      </p:sp>
      <p:sp>
        <p:nvSpPr>
          <p:cNvPr id="7" name="Text 5"/>
          <p:cNvSpPr txBox="1"/>
          <p:nvPr/>
        </p:nvSpPr>
        <p:spPr>
          <a:xfrm>
            <a:off x="960120" y="2807208"/>
            <a:ext cx="443484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Myosin heads grab actin and pull it toward the center</a:t>
            </a:r>
            <a:endParaRPr lang="en-US" sz="1900" dirty="0"/>
          </a:p>
        </p:txBody>
      </p:sp>
      <p:sp>
        <p:nvSpPr>
          <p:cNvPr id="8" name="Shape 6"/>
          <p:cNvSpPr/>
          <p:nvPr/>
        </p:nvSpPr>
        <p:spPr>
          <a:xfrm>
            <a:off x="548640" y="3849624"/>
            <a:ext cx="182880" cy="182880"/>
          </a:xfrm>
          <a:prstGeom prst="ellipse">
            <a:avLst/>
          </a:prstGeom>
          <a:solidFill>
            <a:srgbClr val="B3304C"/>
          </a:solidFill>
          <a:ln w="12700">
            <a:solidFill>
              <a:srgbClr val="B3304C"/>
            </a:solidFill>
            <a:prstDash val="solid"/>
          </a:ln>
        </p:spPr>
      </p:sp>
      <p:sp>
        <p:nvSpPr>
          <p:cNvPr id="9" name="Text 7"/>
          <p:cNvSpPr txBox="1"/>
          <p:nvPr/>
        </p:nvSpPr>
        <p:spPr>
          <a:xfrm>
            <a:off x="960120" y="3739896"/>
            <a:ext cx="443484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Filaments slide past each other; none of them shrinks</a:t>
            </a:r>
            <a:endParaRPr lang="en-US" sz="1900" dirty="0"/>
          </a:p>
        </p:txBody>
      </p:sp>
      <p:sp>
        <p:nvSpPr>
          <p:cNvPr id="10" name="Shape 8"/>
          <p:cNvSpPr/>
          <p:nvPr/>
        </p:nvSpPr>
        <p:spPr>
          <a:xfrm>
            <a:off x="548640" y="4782312"/>
            <a:ext cx="182880" cy="182880"/>
          </a:xfrm>
          <a:prstGeom prst="ellipse">
            <a:avLst/>
          </a:prstGeom>
          <a:solidFill>
            <a:srgbClr val="2F7359"/>
          </a:solidFill>
          <a:ln w="12700">
            <a:solidFill>
              <a:srgbClr val="2F7359"/>
            </a:solidFill>
            <a:prstDash val="solid"/>
          </a:ln>
        </p:spPr>
      </p:sp>
      <p:sp>
        <p:nvSpPr>
          <p:cNvPr id="11" name="Text 9"/>
          <p:cNvSpPr txBox="1"/>
          <p:nvPr/>
        </p:nvSpPr>
        <p:spPr>
          <a:xfrm>
            <a:off x="960120" y="4672584"/>
            <a:ext cx="443484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Needs calcium to switch on and ATP to release and reset</a:t>
            </a:r>
            <a:endParaRPr lang="en-US" sz="1900" dirty="0"/>
          </a:p>
        </p:txBody>
      </p:sp>
      <p:sp>
        <p:nvSpPr>
          <p:cNvPr id="12" name="Shape 10"/>
          <p:cNvSpPr/>
          <p:nvPr/>
        </p:nvSpPr>
        <p:spPr>
          <a:xfrm>
            <a:off x="5623560" y="1737360"/>
            <a:ext cx="6035040" cy="4389120"/>
          </a:xfrm>
          <a:prstGeom prst="roundRect">
            <a:avLst>
              <a:gd name="adj" fmla="val 2500"/>
            </a:avLst>
          </a:prstGeom>
          <a:solidFill>
            <a:srgbClr val="F9FBFA"/>
          </a:solidFill>
          <a:ln w="12700">
            <a:solidFill>
              <a:srgbClr val="C6D4CF"/>
            </a:solidFill>
            <a:prstDash val="solid"/>
          </a:ln>
        </p:spPr>
      </p:sp>
      <p:pic>
        <p:nvPicPr>
          <p:cNvPr id="13" name="Image 0" descr="Relaxed versus contracted sarcomere">    </p:cNvPr>
          <p:cNvPicPr>
            <a:picLocks noChangeAspect="1"/>
          </p:cNvPicPr>
          <p:nvPr/>
        </p:nvPicPr>
        <p:blipFill>
          <a:blip r:embed="rId1"/>
          <a:stretch>
            <a:fillRect/>
          </a:stretch>
        </p:blipFill>
        <p:spPr>
          <a:xfrm>
            <a:off x="5806440" y="1959102"/>
            <a:ext cx="5669280" cy="3543300"/>
          </a:xfrm>
          <a:prstGeom prst="rect">
            <a:avLst/>
          </a:prstGeom>
        </p:spPr>
      </p:pic>
      <p:sp>
        <p:nvSpPr>
          <p:cNvPr id="14" name="Text 11"/>
          <p:cNvSpPr txBox="1"/>
          <p:nvPr/>
        </p:nvSpPr>
        <p:spPr>
          <a:xfrm>
            <a:off x="5806440" y="5623560"/>
            <a:ext cx="566928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3  </a:t>
            </a:r>
            <a:pPr indent="0" marL="0">
              <a:buNone/>
            </a:pPr>
            <a:r>
              <a:rPr lang="en-US" sz="1100" dirty="0">
                <a:solidFill>
                  <a:srgbClr val="55707A"/>
                </a:solidFill>
                <a:latin typeface="Calibri" pitchFamily="34" charset="0"/>
                <a:ea typeface="Calibri" pitchFamily="34" charset="-122"/>
                <a:cs typeface="Calibri" pitchFamily="34" charset="-120"/>
              </a:rPr>
              <a:t>Relaxed versus contracted sarcomere</a:t>
            </a:r>
            <a:endParaRPr lang="en-US" sz="1100" dirty="0"/>
          </a:p>
        </p:txBody>
      </p:sp>
      <p:sp>
        <p:nvSpPr>
          <p:cNvPr id="15" name="Text 1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6" name="Text 1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4.1</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Motor units: how effort is graded</a:t>
            </a:r>
            <a:endParaRPr lang="en-US" sz="3000" dirty="0"/>
          </a:p>
        </p:txBody>
      </p:sp>
      <p:sp>
        <p:nvSpPr>
          <p:cNvPr id="4" name="Shape 2"/>
          <p:cNvSpPr/>
          <p:nvPr/>
        </p:nvSpPr>
        <p:spPr>
          <a:xfrm>
            <a:off x="548640" y="1984248"/>
            <a:ext cx="182880" cy="182880"/>
          </a:xfrm>
          <a:prstGeom prst="ellipse">
            <a:avLst/>
          </a:prstGeom>
          <a:solidFill>
            <a:srgbClr val="B3304C"/>
          </a:solidFill>
          <a:ln w="12700">
            <a:solidFill>
              <a:srgbClr val="B3304C"/>
            </a:solidFill>
            <a:prstDash val="solid"/>
          </a:ln>
        </p:spPr>
      </p:sp>
      <p:sp>
        <p:nvSpPr>
          <p:cNvPr id="5" name="Text 3"/>
          <p:cNvSpPr txBox="1"/>
          <p:nvPr/>
        </p:nvSpPr>
        <p:spPr>
          <a:xfrm>
            <a:off x="960120" y="1874520"/>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A motor unit is one motor neuron plus its fibers</a:t>
            </a:r>
            <a:endParaRPr lang="en-US" sz="1900" dirty="0"/>
          </a:p>
        </p:txBody>
      </p:sp>
      <p:sp>
        <p:nvSpPr>
          <p:cNvPr id="6" name="Shape 4"/>
          <p:cNvSpPr/>
          <p:nvPr/>
        </p:nvSpPr>
        <p:spPr>
          <a:xfrm>
            <a:off x="548640" y="2916936"/>
            <a:ext cx="182880" cy="182880"/>
          </a:xfrm>
          <a:prstGeom prst="ellipse">
            <a:avLst/>
          </a:prstGeom>
          <a:solidFill>
            <a:srgbClr val="2F7359"/>
          </a:solidFill>
          <a:ln w="12700">
            <a:solidFill>
              <a:srgbClr val="2F7359"/>
            </a:solidFill>
            <a:prstDash val="solid"/>
          </a:ln>
        </p:spPr>
      </p:sp>
      <p:sp>
        <p:nvSpPr>
          <p:cNvPr id="7" name="Text 5"/>
          <p:cNvSpPr txBox="1"/>
          <p:nvPr/>
        </p:nvSpPr>
        <p:spPr>
          <a:xfrm>
            <a:off x="960120" y="2807208"/>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When a motor unit fires, all its fibers contract</a:t>
            </a:r>
            <a:endParaRPr lang="en-US" sz="1900" dirty="0"/>
          </a:p>
        </p:txBody>
      </p:sp>
      <p:sp>
        <p:nvSpPr>
          <p:cNvPr id="8" name="Shape 6"/>
          <p:cNvSpPr/>
          <p:nvPr/>
        </p:nvSpPr>
        <p:spPr>
          <a:xfrm>
            <a:off x="548640" y="3849624"/>
            <a:ext cx="182880" cy="182880"/>
          </a:xfrm>
          <a:prstGeom prst="ellipse">
            <a:avLst/>
          </a:prstGeom>
          <a:solidFill>
            <a:srgbClr val="B3304C"/>
          </a:solidFill>
          <a:ln w="12700">
            <a:solidFill>
              <a:srgbClr val="B3304C"/>
            </a:solidFill>
            <a:prstDash val="solid"/>
          </a:ln>
        </p:spPr>
      </p:sp>
      <p:sp>
        <p:nvSpPr>
          <p:cNvPr id="9" name="Text 7"/>
          <p:cNvSpPr txBox="1"/>
          <p:nvPr/>
        </p:nvSpPr>
        <p:spPr>
          <a:xfrm>
            <a:off x="960120" y="3739896"/>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More force: recruit more units and fire them faster</a:t>
            </a:r>
            <a:endParaRPr lang="en-US" sz="1900" dirty="0"/>
          </a:p>
        </p:txBody>
      </p:sp>
      <p:sp>
        <p:nvSpPr>
          <p:cNvPr id="10" name="Shape 8"/>
          <p:cNvSpPr/>
          <p:nvPr/>
        </p:nvSpPr>
        <p:spPr>
          <a:xfrm>
            <a:off x="548640" y="4782312"/>
            <a:ext cx="182880" cy="182880"/>
          </a:xfrm>
          <a:prstGeom prst="ellipse">
            <a:avLst/>
          </a:prstGeom>
          <a:solidFill>
            <a:srgbClr val="2F7359"/>
          </a:solidFill>
          <a:ln w="12700">
            <a:solidFill>
              <a:srgbClr val="2F7359"/>
            </a:solidFill>
            <a:prstDash val="solid"/>
          </a:ln>
        </p:spPr>
      </p:sp>
      <p:sp>
        <p:nvSpPr>
          <p:cNvPr id="11" name="Text 9"/>
          <p:cNvSpPr txBox="1"/>
          <p:nvPr/>
        </p:nvSpPr>
        <p:spPr>
          <a:xfrm>
            <a:off x="960120" y="4672584"/>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Small units allow the fine corrections of balance</a:t>
            </a:r>
            <a:endParaRPr lang="en-US" sz="1900" dirty="0"/>
          </a:p>
        </p:txBody>
      </p:sp>
      <p:sp>
        <p:nvSpPr>
          <p:cNvPr id="12" name="Shape 10"/>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13" name="Image 0" descr="Tree: small motor units in the standing foot and ankle make constant tiny corrections">    </p:cNvPr>
          <p:cNvPicPr>
            <a:picLocks noChangeAspect="1"/>
          </p:cNvPicPr>
          <p:nvPr/>
        </p:nvPicPr>
        <p:blipFill>
          <a:blip r:embed="rId1"/>
          <a:stretch>
            <a:fillRect/>
          </a:stretch>
        </p:blipFill>
        <p:spPr>
          <a:xfrm>
            <a:off x="8247383" y="1901952"/>
            <a:ext cx="2067553" cy="3657600"/>
          </a:xfrm>
          <a:prstGeom prst="rect">
            <a:avLst/>
          </a:prstGeom>
        </p:spPr>
      </p:pic>
      <p:sp>
        <p:nvSpPr>
          <p:cNvPr id="14" name="Text 11"/>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4  </a:t>
            </a:r>
            <a:pPr indent="0" marL="0">
              <a:buNone/>
            </a:pPr>
            <a:r>
              <a:rPr lang="en-US" sz="1100" dirty="0">
                <a:solidFill>
                  <a:srgbClr val="55707A"/>
                </a:solidFill>
                <a:latin typeface="Calibri" pitchFamily="34" charset="0"/>
                <a:ea typeface="Calibri" pitchFamily="34" charset="-122"/>
                <a:cs typeface="Calibri" pitchFamily="34" charset="-120"/>
              </a:rPr>
              <a:t>Tree: small motor units in the standing foot and ankle make constant tiny corrections</a:t>
            </a:r>
            <a:endParaRPr lang="en-US" sz="1100" dirty="0"/>
          </a:p>
        </p:txBody>
      </p:sp>
      <p:sp>
        <p:nvSpPr>
          <p:cNvPr id="15" name="Text 1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6" name="Text 1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4.1</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Skeletal muscles in the human body</a:t>
            </a:r>
            <a:endParaRPr lang="en-US" sz="3000" dirty="0"/>
          </a:p>
        </p:txBody>
      </p:sp>
      <p:sp>
        <p:nvSpPr>
          <p:cNvPr id="4" name="Text 2"/>
          <p:cNvSpPr txBox="1"/>
          <p:nvPr/>
        </p:nvSpPr>
        <p:spPr>
          <a:xfrm>
            <a:off x="548640" y="1737360"/>
            <a:ext cx="6035040" cy="1737360"/>
          </a:xfrm>
          <a:prstGeom prst="rect">
            <a:avLst/>
          </a:prstGeom>
          <a:noFill/>
          <a:ln/>
        </p:spPr>
        <p:txBody>
          <a:bodyPr wrap="square" lIns="0" tIns="0" rIns="0" bIns="0" rtlCol="0" anchor="ctr">
            <a:normAutofit/>
          </a:bodyPr>
          <a:lstStyle/>
          <a:p>
            <a:pPr indent="0" marL="0">
              <a:buNone/>
            </a:pPr>
            <a:r>
              <a:rPr lang="en-US" sz="9600" b="1" dirty="0">
                <a:solidFill>
                  <a:srgbClr val="B3304C"/>
                </a:solidFill>
                <a:latin typeface="Cambria" pitchFamily="34" charset="0"/>
                <a:ea typeface="Cambria" pitchFamily="34" charset="-122"/>
                <a:cs typeface="Cambria" pitchFamily="34" charset="-120"/>
              </a:rPr>
              <a:t>600+</a:t>
            </a:r>
            <a:endParaRPr lang="en-US" sz="9600" dirty="0"/>
          </a:p>
        </p:txBody>
      </p:sp>
      <p:sp>
        <p:nvSpPr>
          <p:cNvPr id="5" name="Text 3"/>
          <p:cNvSpPr txBox="1"/>
          <p:nvPr/>
        </p:nvSpPr>
        <p:spPr>
          <a:xfrm>
            <a:off x="548640" y="3657600"/>
            <a:ext cx="6035040" cy="2194560"/>
          </a:xfrm>
          <a:prstGeom prst="rect">
            <a:avLst/>
          </a:prstGeom>
          <a:noFill/>
          <a:ln/>
        </p:spPr>
        <p:txBody>
          <a:bodyPr wrap="square" lIns="0" tIns="0" rIns="0" bIns="0" rtlCol="0" anchor="t">
            <a:normAutofit/>
          </a:bodyPr>
          <a:lstStyle/>
          <a:p>
            <a:pPr indent="0" marL="0">
              <a:buNone/>
            </a:pPr>
            <a:r>
              <a:rPr lang="en-US" sz="2000" dirty="0">
                <a:solidFill>
                  <a:srgbClr val="16303A"/>
                </a:solidFill>
                <a:latin typeface="Calibri" pitchFamily="34" charset="0"/>
                <a:ea typeface="Calibri" pitchFamily="34" charset="-122"/>
                <a:cs typeface="Calibri" pitchFamily="34" charset="-120"/>
              </a:rPr>
              <a:t>Every one of them can only pull on its attachments. No muscle can push, so every movement back the other way needs a different muscle or gravity.</a:t>
            </a:r>
            <a:endParaRPr lang="en-US" sz="2000" dirty="0"/>
          </a:p>
        </p:txBody>
      </p:sp>
      <p:sp>
        <p:nvSpPr>
          <p:cNvPr id="6" name="Shape 4"/>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7" name="Image 0" descr="In Chair the quadriceps pull on the shin to stop the knees bending further">    </p:cNvPr>
          <p:cNvPicPr>
            <a:picLocks noChangeAspect="1"/>
          </p:cNvPicPr>
          <p:nvPr/>
        </p:nvPicPr>
        <p:blipFill>
          <a:blip r:embed="rId1"/>
          <a:stretch>
            <a:fillRect/>
          </a:stretch>
        </p:blipFill>
        <p:spPr>
          <a:xfrm>
            <a:off x="8107599" y="1901952"/>
            <a:ext cx="2347123" cy="3657600"/>
          </a:xfrm>
          <a:prstGeom prst="rect">
            <a:avLst/>
          </a:prstGeom>
        </p:spPr>
      </p:pic>
      <p:sp>
        <p:nvSpPr>
          <p:cNvPr id="8" name="Text 5"/>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5  </a:t>
            </a:r>
            <a:pPr indent="0" marL="0">
              <a:buNone/>
            </a:pPr>
            <a:r>
              <a:rPr lang="en-US" sz="1100" dirty="0">
                <a:solidFill>
                  <a:srgbClr val="55707A"/>
                </a:solidFill>
                <a:latin typeface="Calibri" pitchFamily="34" charset="0"/>
                <a:ea typeface="Calibri" pitchFamily="34" charset="-122"/>
                <a:cs typeface="Calibri" pitchFamily="34" charset="-120"/>
              </a:rPr>
              <a:t>In Chair the quadriceps pull on the shin to stop the knees bending further</a:t>
            </a:r>
            <a:endParaRPr lang="en-US" sz="1100" dirty="0"/>
          </a:p>
        </p:txBody>
      </p:sp>
      <p:sp>
        <p:nvSpPr>
          <p:cNvPr id="9" name="Text 6"/>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0" name="Text 7"/>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4.1  ·  FEEL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Feel it: find a muscle switching on</a:t>
            </a:r>
            <a:endParaRPr lang="en-US" sz="3000" dirty="0"/>
          </a:p>
        </p:txBody>
      </p:sp>
      <p:sp>
        <p:nvSpPr>
          <p:cNvPr id="4" name="Shape 2"/>
          <p:cNvSpPr/>
          <p:nvPr/>
        </p:nvSpPr>
        <p:spPr>
          <a:xfrm>
            <a:off x="548640" y="1828800"/>
            <a:ext cx="457200" cy="457200"/>
          </a:xfrm>
          <a:prstGeom prst="ellipse">
            <a:avLst/>
          </a:prstGeom>
          <a:solidFill>
            <a:srgbClr val="2F7359"/>
          </a:solidFill>
          <a:ln w="12700">
            <a:solidFill>
              <a:srgbClr val="2F7359"/>
            </a:solidFill>
            <a:prstDash val="solid"/>
          </a:ln>
        </p:spPr>
      </p:sp>
      <p:sp>
        <p:nvSpPr>
          <p:cNvPr id="5" name="Text 3"/>
          <p:cNvSpPr txBox="1"/>
          <p:nvPr/>
        </p:nvSpPr>
        <p:spPr>
          <a:xfrm>
            <a:off x="54864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6" name="Text 4"/>
          <p:cNvSpPr txBox="1"/>
          <p:nvPr/>
        </p:nvSpPr>
        <p:spPr>
          <a:xfrm>
            <a:off x="1234440" y="1783080"/>
            <a:ext cx="534924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Stand in Mountain and rest one hand on the front of each thigh</a:t>
            </a:r>
            <a:endParaRPr lang="en-US" sz="1800" dirty="0"/>
          </a:p>
        </p:txBody>
      </p:sp>
      <p:sp>
        <p:nvSpPr>
          <p:cNvPr id="7" name="Shape 5"/>
          <p:cNvSpPr/>
          <p:nvPr/>
        </p:nvSpPr>
        <p:spPr>
          <a:xfrm>
            <a:off x="548640" y="2743200"/>
            <a:ext cx="457200" cy="457200"/>
          </a:xfrm>
          <a:prstGeom prst="ellipse">
            <a:avLst/>
          </a:prstGeom>
          <a:solidFill>
            <a:srgbClr val="2F7359"/>
          </a:solidFill>
          <a:ln w="12700">
            <a:solidFill>
              <a:srgbClr val="2F7359"/>
            </a:solidFill>
            <a:prstDash val="solid"/>
          </a:ln>
        </p:spPr>
      </p:sp>
      <p:sp>
        <p:nvSpPr>
          <p:cNvPr id="8" name="Text 6"/>
          <p:cNvSpPr txBox="1"/>
          <p:nvPr/>
        </p:nvSpPr>
        <p:spPr>
          <a:xfrm>
            <a:off x="548640" y="27432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9" name="Text 7"/>
          <p:cNvSpPr txBox="1"/>
          <p:nvPr/>
        </p:nvSpPr>
        <p:spPr>
          <a:xfrm>
            <a:off x="1234440" y="2697480"/>
            <a:ext cx="534924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Feel the thighs soft; now bend the knees slightly into a small Chair</a:t>
            </a:r>
            <a:endParaRPr lang="en-US" sz="1800" dirty="0"/>
          </a:p>
        </p:txBody>
      </p:sp>
      <p:sp>
        <p:nvSpPr>
          <p:cNvPr id="10" name="Shape 8"/>
          <p:cNvSpPr/>
          <p:nvPr/>
        </p:nvSpPr>
        <p:spPr>
          <a:xfrm>
            <a:off x="548640" y="3657600"/>
            <a:ext cx="457200" cy="457200"/>
          </a:xfrm>
          <a:prstGeom prst="ellipse">
            <a:avLst/>
          </a:prstGeom>
          <a:solidFill>
            <a:srgbClr val="2F7359"/>
          </a:solidFill>
          <a:ln w="12700">
            <a:solidFill>
              <a:srgbClr val="2F7359"/>
            </a:solidFill>
            <a:prstDash val="solid"/>
          </a:ln>
        </p:spPr>
      </p:sp>
      <p:sp>
        <p:nvSpPr>
          <p:cNvPr id="11" name="Text 9"/>
          <p:cNvSpPr txBox="1"/>
          <p:nvPr/>
        </p:nvSpPr>
        <p:spPr>
          <a:xfrm>
            <a:off x="548640" y="36576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2" name="Text 10"/>
          <p:cNvSpPr txBox="1"/>
          <p:nvPr/>
        </p:nvSpPr>
        <p:spPr>
          <a:xfrm>
            <a:off x="1234440" y="3611880"/>
            <a:ext cx="534924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Notice the quadriceps firm under your hands as they start to work</a:t>
            </a:r>
            <a:endParaRPr lang="en-US" sz="1800" dirty="0"/>
          </a:p>
        </p:txBody>
      </p:sp>
      <p:sp>
        <p:nvSpPr>
          <p:cNvPr id="13" name="Shape 11"/>
          <p:cNvSpPr/>
          <p:nvPr/>
        </p:nvSpPr>
        <p:spPr>
          <a:xfrm>
            <a:off x="548640" y="4572000"/>
            <a:ext cx="457200" cy="457200"/>
          </a:xfrm>
          <a:prstGeom prst="ellipse">
            <a:avLst/>
          </a:prstGeom>
          <a:solidFill>
            <a:srgbClr val="2F7359"/>
          </a:solidFill>
          <a:ln w="12700">
            <a:solidFill>
              <a:srgbClr val="2F7359"/>
            </a:solidFill>
            <a:prstDash val="solid"/>
          </a:ln>
        </p:spPr>
      </p:sp>
      <p:sp>
        <p:nvSpPr>
          <p:cNvPr id="14" name="Text 12"/>
          <p:cNvSpPr txBox="1"/>
          <p:nvPr/>
        </p:nvSpPr>
        <p:spPr>
          <a:xfrm>
            <a:off x="548640" y="45720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15" name="Text 13"/>
          <p:cNvSpPr txBox="1"/>
          <p:nvPr/>
        </p:nvSpPr>
        <p:spPr>
          <a:xfrm>
            <a:off x="1234440" y="4526280"/>
            <a:ext cx="534924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Sink a little deeper and feel them firm further: more motor units recruited</a:t>
            </a:r>
            <a:endParaRPr lang="en-US" sz="1800" dirty="0"/>
          </a:p>
        </p:txBody>
      </p:sp>
      <p:sp>
        <p:nvSpPr>
          <p:cNvPr id="16" name="Shape 14"/>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17" name="Image 0" descr="Feel the quadriceps firm as you sink">    </p:cNvPr>
          <p:cNvPicPr>
            <a:picLocks noChangeAspect="1"/>
          </p:cNvPicPr>
          <p:nvPr/>
        </p:nvPicPr>
        <p:blipFill>
          <a:blip r:embed="rId1"/>
          <a:stretch>
            <a:fillRect/>
          </a:stretch>
        </p:blipFill>
        <p:spPr>
          <a:xfrm>
            <a:off x="8107599" y="1901952"/>
            <a:ext cx="2347123" cy="3657600"/>
          </a:xfrm>
          <a:prstGeom prst="rect">
            <a:avLst/>
          </a:prstGeom>
        </p:spPr>
      </p:pic>
      <p:sp>
        <p:nvSpPr>
          <p:cNvPr id="18" name="Text 15"/>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6  </a:t>
            </a:r>
            <a:pPr indent="0" marL="0">
              <a:buNone/>
            </a:pPr>
            <a:r>
              <a:rPr lang="en-US" sz="1100" dirty="0">
                <a:solidFill>
                  <a:srgbClr val="55707A"/>
                </a:solidFill>
                <a:latin typeface="Calibri" pitchFamily="34" charset="0"/>
                <a:ea typeface="Calibri" pitchFamily="34" charset="-122"/>
                <a:cs typeface="Calibri" pitchFamily="34" charset="-120"/>
              </a:rPr>
              <a:t>Feel the quadriceps firm as you sink</a:t>
            </a:r>
            <a:endParaRPr lang="en-US" sz="1100" dirty="0"/>
          </a:p>
        </p:txBody>
      </p:sp>
      <p:sp>
        <p:nvSpPr>
          <p:cNvPr id="19" name="Text 16"/>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20" name="Text 17"/>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F2E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4.1  ·  CHECK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During a contraction, what happens inside the sarcomere?</a:t>
            </a:r>
            <a:endParaRPr lang="en-US" sz="3000" dirty="0"/>
          </a:p>
        </p:txBody>
      </p:sp>
      <p:sp>
        <p:nvSpPr>
          <p:cNvPr id="4" name="Shape 2"/>
          <p:cNvSpPr/>
          <p:nvPr/>
        </p:nvSpPr>
        <p:spPr>
          <a:xfrm>
            <a:off x="548640" y="2057400"/>
            <a:ext cx="7863840" cy="777240"/>
          </a:xfrm>
          <a:prstGeom prst="roundRect">
            <a:avLst>
              <a:gd name="adj" fmla="val 11765"/>
            </a:avLst>
          </a:prstGeom>
          <a:solidFill>
            <a:srgbClr val="FFFFFF"/>
          </a:solidFill>
          <a:ln w="12700">
            <a:solidFill>
              <a:srgbClr val="C6D4CF"/>
            </a:solidFill>
            <a:prstDash val="solid"/>
          </a:ln>
        </p:spPr>
      </p:sp>
      <p:sp>
        <p:nvSpPr>
          <p:cNvPr id="5" name="Shape 3"/>
          <p:cNvSpPr/>
          <p:nvPr/>
        </p:nvSpPr>
        <p:spPr>
          <a:xfrm>
            <a:off x="731520" y="2212848"/>
            <a:ext cx="457200" cy="457200"/>
          </a:xfrm>
          <a:prstGeom prst="ellipse">
            <a:avLst/>
          </a:prstGeom>
          <a:solidFill>
            <a:srgbClr val="16303A"/>
          </a:solidFill>
          <a:ln w="12700">
            <a:solidFill>
              <a:srgbClr val="16303A"/>
            </a:solidFill>
            <a:prstDash val="solid"/>
          </a:ln>
        </p:spPr>
      </p:sp>
      <p:sp>
        <p:nvSpPr>
          <p:cNvPr id="6" name="Text 4"/>
          <p:cNvSpPr txBox="1"/>
          <p:nvPr/>
        </p:nvSpPr>
        <p:spPr>
          <a:xfrm>
            <a:off x="731520" y="221284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A</a:t>
            </a:r>
            <a:endParaRPr lang="en-US" sz="1400" dirty="0"/>
          </a:p>
        </p:txBody>
      </p:sp>
      <p:sp>
        <p:nvSpPr>
          <p:cNvPr id="7" name="Text 5"/>
          <p:cNvSpPr txBox="1"/>
          <p:nvPr/>
        </p:nvSpPr>
        <p:spPr>
          <a:xfrm>
            <a:off x="1371600" y="2057400"/>
            <a:ext cx="6858000" cy="777240"/>
          </a:xfrm>
          <a:prstGeom prst="rect">
            <a:avLst/>
          </a:prstGeom>
          <a:noFill/>
          <a:ln/>
        </p:spPr>
        <p:txBody>
          <a:bodyPr wrap="square" lIns="0" tIns="0" rIns="0" bIns="0" rtlCol="0" anchor="ctr">
            <a:normAutofit/>
          </a:bodyPr>
          <a:lstStyle/>
          <a:p>
            <a:pPr indent="0" marL="0">
              <a:buNone/>
            </a:pPr>
            <a:r>
              <a:rPr lang="en-US" sz="1700" dirty="0">
                <a:solidFill>
                  <a:srgbClr val="16303A"/>
                </a:solidFill>
                <a:latin typeface="Calibri" pitchFamily="34" charset="0"/>
                <a:ea typeface="Calibri" pitchFamily="34" charset="-122"/>
                <a:cs typeface="Calibri" pitchFamily="34" charset="-120"/>
              </a:rPr>
              <a:t>Actin and myosin filaments shorten</a:t>
            </a:r>
            <a:endParaRPr lang="en-US" sz="1700" dirty="0"/>
          </a:p>
        </p:txBody>
      </p:sp>
      <p:sp>
        <p:nvSpPr>
          <p:cNvPr id="8" name="Shape 6"/>
          <p:cNvSpPr/>
          <p:nvPr/>
        </p:nvSpPr>
        <p:spPr>
          <a:xfrm>
            <a:off x="548640" y="3017520"/>
            <a:ext cx="7863840" cy="777240"/>
          </a:xfrm>
          <a:prstGeom prst="roundRect">
            <a:avLst>
              <a:gd name="adj" fmla="val 11765"/>
            </a:avLst>
          </a:prstGeom>
          <a:solidFill>
            <a:srgbClr val="FFFFFF"/>
          </a:solidFill>
          <a:ln w="12700">
            <a:solidFill>
              <a:srgbClr val="C6D4CF"/>
            </a:solidFill>
            <a:prstDash val="solid"/>
          </a:ln>
        </p:spPr>
      </p:sp>
      <p:sp>
        <p:nvSpPr>
          <p:cNvPr id="9" name="Shape 7"/>
          <p:cNvSpPr/>
          <p:nvPr/>
        </p:nvSpPr>
        <p:spPr>
          <a:xfrm>
            <a:off x="731520" y="3172968"/>
            <a:ext cx="457200" cy="457200"/>
          </a:xfrm>
          <a:prstGeom prst="ellipse">
            <a:avLst/>
          </a:prstGeom>
          <a:solidFill>
            <a:srgbClr val="16303A"/>
          </a:solidFill>
          <a:ln w="12700">
            <a:solidFill>
              <a:srgbClr val="16303A"/>
            </a:solidFill>
            <a:prstDash val="solid"/>
          </a:ln>
        </p:spPr>
      </p:sp>
      <p:sp>
        <p:nvSpPr>
          <p:cNvPr id="10" name="Text 8"/>
          <p:cNvSpPr txBox="1"/>
          <p:nvPr/>
        </p:nvSpPr>
        <p:spPr>
          <a:xfrm>
            <a:off x="731520" y="317296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B</a:t>
            </a:r>
            <a:endParaRPr lang="en-US" sz="1400" dirty="0"/>
          </a:p>
        </p:txBody>
      </p:sp>
      <p:sp>
        <p:nvSpPr>
          <p:cNvPr id="11" name="Text 9"/>
          <p:cNvSpPr txBox="1"/>
          <p:nvPr/>
        </p:nvSpPr>
        <p:spPr>
          <a:xfrm>
            <a:off x="1371600" y="3017520"/>
            <a:ext cx="6858000" cy="777240"/>
          </a:xfrm>
          <a:prstGeom prst="rect">
            <a:avLst/>
          </a:prstGeom>
          <a:noFill/>
          <a:ln/>
        </p:spPr>
        <p:txBody>
          <a:bodyPr wrap="square" lIns="0" tIns="0" rIns="0" bIns="0" rtlCol="0" anchor="ctr">
            <a:normAutofit/>
          </a:bodyPr>
          <a:lstStyle/>
          <a:p>
            <a:pPr indent="0" marL="0">
              <a:buNone/>
            </a:pPr>
            <a:r>
              <a:rPr lang="en-US" sz="1700" dirty="0">
                <a:solidFill>
                  <a:srgbClr val="16303A"/>
                </a:solidFill>
                <a:latin typeface="Calibri" pitchFamily="34" charset="0"/>
                <a:ea typeface="Calibri" pitchFamily="34" charset="-122"/>
                <a:cs typeface="Calibri" pitchFamily="34" charset="-120"/>
              </a:rPr>
              <a:t>Myosin pulls actin toward the center so the filaments slide past each other</a:t>
            </a:r>
            <a:endParaRPr lang="en-US" sz="1700" dirty="0"/>
          </a:p>
        </p:txBody>
      </p:sp>
      <p:sp>
        <p:nvSpPr>
          <p:cNvPr id="12" name="Shape 10"/>
          <p:cNvSpPr/>
          <p:nvPr/>
        </p:nvSpPr>
        <p:spPr>
          <a:xfrm>
            <a:off x="548640" y="3977640"/>
            <a:ext cx="7863840" cy="777240"/>
          </a:xfrm>
          <a:prstGeom prst="roundRect">
            <a:avLst>
              <a:gd name="adj" fmla="val 11765"/>
            </a:avLst>
          </a:prstGeom>
          <a:solidFill>
            <a:srgbClr val="FFFFFF"/>
          </a:solidFill>
          <a:ln w="12700">
            <a:solidFill>
              <a:srgbClr val="C6D4CF"/>
            </a:solidFill>
            <a:prstDash val="solid"/>
          </a:ln>
        </p:spPr>
      </p:sp>
      <p:sp>
        <p:nvSpPr>
          <p:cNvPr id="13" name="Shape 11"/>
          <p:cNvSpPr/>
          <p:nvPr/>
        </p:nvSpPr>
        <p:spPr>
          <a:xfrm>
            <a:off x="731520" y="4133088"/>
            <a:ext cx="457200" cy="457200"/>
          </a:xfrm>
          <a:prstGeom prst="ellipse">
            <a:avLst/>
          </a:prstGeom>
          <a:solidFill>
            <a:srgbClr val="16303A"/>
          </a:solidFill>
          <a:ln w="12700">
            <a:solidFill>
              <a:srgbClr val="16303A"/>
            </a:solidFill>
            <a:prstDash val="solid"/>
          </a:ln>
        </p:spPr>
      </p:sp>
      <p:sp>
        <p:nvSpPr>
          <p:cNvPr id="14" name="Text 12"/>
          <p:cNvSpPr txBox="1"/>
          <p:nvPr/>
        </p:nvSpPr>
        <p:spPr>
          <a:xfrm>
            <a:off x="731520" y="413308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C</a:t>
            </a:r>
            <a:endParaRPr lang="en-US" sz="1400" dirty="0"/>
          </a:p>
        </p:txBody>
      </p:sp>
      <p:sp>
        <p:nvSpPr>
          <p:cNvPr id="15" name="Text 13"/>
          <p:cNvSpPr txBox="1"/>
          <p:nvPr/>
        </p:nvSpPr>
        <p:spPr>
          <a:xfrm>
            <a:off x="1371600" y="3977640"/>
            <a:ext cx="6858000" cy="777240"/>
          </a:xfrm>
          <a:prstGeom prst="rect">
            <a:avLst/>
          </a:prstGeom>
          <a:noFill/>
          <a:ln/>
        </p:spPr>
        <p:txBody>
          <a:bodyPr wrap="square" lIns="0" tIns="0" rIns="0" bIns="0" rtlCol="0" anchor="ctr">
            <a:normAutofit/>
          </a:bodyPr>
          <a:lstStyle/>
          <a:p>
            <a:pPr indent="0" marL="0">
              <a:buNone/>
            </a:pPr>
            <a:r>
              <a:rPr lang="en-US" sz="1700" dirty="0">
                <a:solidFill>
                  <a:srgbClr val="16303A"/>
                </a:solidFill>
                <a:latin typeface="Calibri" pitchFamily="34" charset="0"/>
                <a:ea typeface="Calibri" pitchFamily="34" charset="-122"/>
                <a:cs typeface="Calibri" pitchFamily="34" charset="-120"/>
              </a:rPr>
              <a:t>The Z discs move further apart</a:t>
            </a:r>
            <a:endParaRPr lang="en-US" sz="1700" dirty="0"/>
          </a:p>
        </p:txBody>
      </p:sp>
      <p:sp>
        <p:nvSpPr>
          <p:cNvPr id="16" name="Text 14"/>
          <p:cNvSpPr txBox="1"/>
          <p:nvPr/>
        </p:nvSpPr>
        <p:spPr>
          <a:xfrm>
            <a:off x="8778240" y="2194560"/>
            <a:ext cx="2834640" cy="1280160"/>
          </a:xfrm>
          <a:prstGeom prst="rect">
            <a:avLst/>
          </a:prstGeom>
          <a:noFill/>
          <a:ln/>
        </p:spPr>
        <p:txBody>
          <a:bodyPr wrap="square" lIns="0" tIns="0" rIns="0" bIns="0" rtlCol="0" anchor="ctr"/>
          <a:lstStyle/>
          <a:p>
            <a:pPr indent="0" marL="0">
              <a:buNone/>
            </a:pPr>
            <a:r>
              <a:rPr lang="en-US" sz="1800" i="1" dirty="0">
                <a:solidFill>
                  <a:srgbClr val="55707A"/>
                </a:solidFill>
                <a:latin typeface="Cambria" pitchFamily="34" charset="0"/>
                <a:ea typeface="Cambria" pitchFamily="34" charset="-122"/>
                <a:cs typeface="Cambria" pitchFamily="34" charset="-120"/>
              </a:rPr>
              <a:t>Pause the video and choose before you move on.</a:t>
            </a:r>
            <a:endParaRPr lang="en-US" sz="1800" dirty="0"/>
          </a:p>
        </p:txBody>
      </p:sp>
      <p:sp>
        <p:nvSpPr>
          <p:cNvPr id="17" name="Text 15"/>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8" name="Text 16"/>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4.1  ·  CHECK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Answer</a:t>
            </a:r>
            <a:endParaRPr lang="en-US" sz="3000" dirty="0"/>
          </a:p>
        </p:txBody>
      </p:sp>
      <p:sp>
        <p:nvSpPr>
          <p:cNvPr id="4" name="Shape 2"/>
          <p:cNvSpPr/>
          <p:nvPr/>
        </p:nvSpPr>
        <p:spPr>
          <a:xfrm>
            <a:off x="548640" y="1737360"/>
            <a:ext cx="11064240" cy="1097280"/>
          </a:xfrm>
          <a:prstGeom prst="roundRect">
            <a:avLst>
              <a:gd name="adj" fmla="val 10000"/>
            </a:avLst>
          </a:prstGeom>
          <a:solidFill>
            <a:srgbClr val="D5E9DF"/>
          </a:solidFill>
          <a:ln w="19050">
            <a:solidFill>
              <a:srgbClr val="2F7359"/>
            </a:solidFill>
            <a:prstDash val="solid"/>
          </a:ln>
        </p:spPr>
      </p:sp>
      <p:sp>
        <p:nvSpPr>
          <p:cNvPr id="5" name="Shape 3"/>
          <p:cNvSpPr/>
          <p:nvPr/>
        </p:nvSpPr>
        <p:spPr>
          <a:xfrm>
            <a:off x="777240" y="2011680"/>
            <a:ext cx="548640" cy="548640"/>
          </a:xfrm>
          <a:prstGeom prst="ellipse">
            <a:avLst/>
          </a:prstGeom>
          <a:solidFill>
            <a:srgbClr val="2F7359"/>
          </a:solidFill>
          <a:ln w="12700">
            <a:solidFill>
              <a:srgbClr val="2F7359"/>
            </a:solidFill>
            <a:prstDash val="solid"/>
          </a:ln>
        </p:spPr>
      </p:sp>
      <p:sp>
        <p:nvSpPr>
          <p:cNvPr id="6" name="Text 4"/>
          <p:cNvSpPr txBox="1"/>
          <p:nvPr/>
        </p:nvSpPr>
        <p:spPr>
          <a:xfrm>
            <a:off x="777240" y="2011680"/>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B</a:t>
            </a:r>
            <a:endParaRPr lang="en-US" sz="1400" dirty="0"/>
          </a:p>
        </p:txBody>
      </p:sp>
      <p:sp>
        <p:nvSpPr>
          <p:cNvPr id="7" name="Text 5"/>
          <p:cNvSpPr txBox="1"/>
          <p:nvPr/>
        </p:nvSpPr>
        <p:spPr>
          <a:xfrm>
            <a:off x="1554480" y="1737360"/>
            <a:ext cx="9875520" cy="1097280"/>
          </a:xfrm>
          <a:prstGeom prst="rect">
            <a:avLst/>
          </a:prstGeom>
          <a:noFill/>
          <a:ln/>
        </p:spPr>
        <p:txBody>
          <a:bodyPr wrap="square" lIns="0" tIns="0" rIns="0" bIns="0" rtlCol="0" anchor="ctr">
            <a:normAutofit/>
          </a:bodyPr>
          <a:lstStyle/>
          <a:p>
            <a:pPr indent="0" marL="0">
              <a:buNone/>
            </a:pPr>
            <a:r>
              <a:rPr lang="en-US" sz="2200" b="1" dirty="0">
                <a:solidFill>
                  <a:srgbClr val="16303A"/>
                </a:solidFill>
                <a:latin typeface="Cambria" pitchFamily="34" charset="0"/>
                <a:ea typeface="Cambria" pitchFamily="34" charset="-122"/>
                <a:cs typeface="Cambria" pitchFamily="34" charset="-120"/>
              </a:rPr>
              <a:t>Myosin pulls actin toward the center so the filaments slide past each other</a:t>
            </a:r>
            <a:endParaRPr lang="en-US" sz="2200" dirty="0"/>
          </a:p>
        </p:txBody>
      </p:sp>
      <p:sp>
        <p:nvSpPr>
          <p:cNvPr id="8" name="Text 6"/>
          <p:cNvSpPr txBox="1"/>
          <p:nvPr/>
        </p:nvSpPr>
        <p:spPr>
          <a:xfrm>
            <a:off x="548640" y="3108960"/>
            <a:ext cx="11064240" cy="12801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In the sliding filament model the filaments keep their length and slide past each other, drawing the Z discs closer together.</a:t>
            </a:r>
            <a:endParaRPr lang="en-US" sz="1800" dirty="0"/>
          </a:p>
        </p:txBody>
      </p:sp>
      <p:sp>
        <p:nvSpPr>
          <p:cNvPr id="9" name="Text 7"/>
          <p:cNvSpPr txBox="1"/>
          <p:nvPr/>
        </p:nvSpPr>
        <p:spPr>
          <a:xfrm>
            <a:off x="548640" y="4754880"/>
            <a:ext cx="11064240" cy="731520"/>
          </a:xfrm>
          <a:prstGeom prst="rect">
            <a:avLst/>
          </a:prstGeom>
          <a:noFill/>
          <a:ln/>
        </p:spPr>
        <p:txBody>
          <a:bodyPr wrap="square" lIns="0" tIns="0" rIns="0" bIns="0" rtlCol="0" anchor="t">
            <a:normAutofit/>
          </a:bodyPr>
          <a:lstStyle/>
          <a:p>
            <a:pPr indent="0" marL="0">
              <a:buNone/>
            </a:pPr>
            <a:r>
              <a:rPr lang="en-US" sz="1200" dirty="0">
                <a:solidFill>
                  <a:srgbClr val="55707A"/>
                </a:solidFill>
                <a:latin typeface="Calibri" pitchFamily="34" charset="0"/>
                <a:ea typeface="Calibri" pitchFamily="34" charset="-122"/>
                <a:cs typeface="Calibri" pitchFamily="34" charset="-120"/>
              </a:rPr>
              <a:t>Question: During a contraction, what happens inside the sarcomere?</a:t>
            </a:r>
            <a:endParaRPr lang="en-US" sz="1200" dirty="0"/>
          </a:p>
        </p:txBody>
      </p:sp>
      <p:sp>
        <p:nvSpPr>
          <p:cNvPr id="10" name="Text 8"/>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1" name="Text 9"/>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303A"/>
        </a:solidFill>
      </p:bgPr>
    </p:bg>
    <p:spTree>
      <p:nvGrpSpPr>
        <p:cNvPr id="1" name=""/>
        <p:cNvGrpSpPr/>
        <p:nvPr/>
      </p:nvGrpSpPr>
      <p:grpSpPr>
        <a:xfrm>
          <a:off x="0" y="0"/>
          <a:ext cx="0" cy="0"/>
          <a:chOff x="0" y="0"/>
          <a:chExt cx="0" cy="0"/>
        </a:xfrm>
      </p:grpSpPr>
      <p:sp>
        <p:nvSpPr>
          <p:cNvPr id="2" name="Shape 0"/>
          <p:cNvSpPr/>
          <p:nvPr/>
        </p:nvSpPr>
        <p:spPr>
          <a:xfrm>
            <a:off x="548640" y="1463040"/>
            <a:ext cx="1371600" cy="1371600"/>
          </a:xfrm>
          <a:prstGeom prst="ellipse">
            <a:avLst/>
          </a:prstGeom>
          <a:solidFill>
            <a:srgbClr val="B3304C"/>
          </a:solidFill>
          <a:ln w="12700">
            <a:solidFill>
              <a:srgbClr val="B3304C"/>
            </a:solidFill>
            <a:prstDash val="solid"/>
          </a:ln>
        </p:spPr>
      </p:sp>
      <p:sp>
        <p:nvSpPr>
          <p:cNvPr id="3" name="Text 1"/>
          <p:cNvSpPr txBox="1"/>
          <p:nvPr/>
        </p:nvSpPr>
        <p:spPr>
          <a:xfrm>
            <a:off x="548640" y="1463040"/>
            <a:ext cx="1371600" cy="137160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4.2</a:t>
            </a:r>
            <a:endParaRPr lang="en-US" sz="3000" dirty="0"/>
          </a:p>
        </p:txBody>
      </p:sp>
      <p:sp>
        <p:nvSpPr>
          <p:cNvPr id="4" name="Text 2"/>
          <p:cNvSpPr txBox="1"/>
          <p:nvPr/>
        </p:nvSpPr>
        <p:spPr>
          <a:xfrm>
            <a:off x="2286000" y="1508760"/>
            <a:ext cx="7315200" cy="320040"/>
          </a:xfrm>
          <a:prstGeom prst="rect">
            <a:avLst/>
          </a:prstGeom>
          <a:noFill/>
          <a:ln/>
        </p:spPr>
        <p:txBody>
          <a:bodyPr wrap="square" lIns="0" tIns="0" rIns="0" bIns="0" rtlCol="0" anchor="ctr"/>
          <a:lstStyle/>
          <a:p>
            <a:pPr indent="0" marL="0">
              <a:buNone/>
            </a:pPr>
            <a:r>
              <a:rPr lang="en-US" sz="1300" b="1" spc="300" kern="0" dirty="0">
                <a:solidFill>
                  <a:srgbClr val="CBB78C"/>
                </a:solidFill>
                <a:latin typeface="Calibri" pitchFamily="34" charset="0"/>
                <a:ea typeface="Calibri" pitchFamily="34" charset="-122"/>
                <a:cs typeface="Calibri" pitchFamily="34" charset="-120"/>
              </a:rPr>
              <a:t>LESSON 4.2  ·  30 MIN</a:t>
            </a:r>
            <a:endParaRPr lang="en-US" sz="1300" dirty="0"/>
          </a:p>
        </p:txBody>
      </p:sp>
      <p:sp>
        <p:nvSpPr>
          <p:cNvPr id="5" name="Text 3"/>
          <p:cNvSpPr txBox="1"/>
          <p:nvPr/>
        </p:nvSpPr>
        <p:spPr>
          <a:xfrm>
            <a:off x="2286000" y="1874520"/>
            <a:ext cx="9052560" cy="1463040"/>
          </a:xfrm>
          <a:prstGeom prst="rect">
            <a:avLst/>
          </a:prstGeom>
          <a:noFill/>
          <a:ln/>
        </p:spPr>
        <p:txBody>
          <a:bodyPr wrap="square" lIns="0" tIns="0" rIns="0" bIns="0" rtlCol="0" anchor="t">
            <a:normAutofit/>
          </a:bodyPr>
          <a:lstStyle/>
          <a:p>
            <a:pPr indent="0" marL="0">
              <a:buNone/>
            </a:pPr>
            <a:r>
              <a:rPr lang="en-US" sz="3600" b="1" dirty="0">
                <a:solidFill>
                  <a:srgbClr val="FFFFFF"/>
                </a:solidFill>
                <a:latin typeface="Cambria" pitchFamily="34" charset="0"/>
                <a:ea typeface="Cambria" pitchFamily="34" charset="-122"/>
                <a:cs typeface="Cambria" pitchFamily="34" charset="-120"/>
              </a:rPr>
              <a:t>Concentric, eccentric and isometric: lowering through Chaturanga, holding Chair</a:t>
            </a:r>
            <a:endParaRPr lang="en-US" sz="3600" dirty="0"/>
          </a:p>
        </p:txBody>
      </p:sp>
      <p:sp>
        <p:nvSpPr>
          <p:cNvPr id="6" name="Shape 4"/>
          <p:cNvSpPr/>
          <p:nvPr/>
        </p:nvSpPr>
        <p:spPr>
          <a:xfrm>
            <a:off x="2286000" y="3931920"/>
            <a:ext cx="1965960" cy="566928"/>
          </a:xfrm>
          <a:prstGeom prst="roundRect">
            <a:avLst>
              <a:gd name="adj" fmla="val 48387"/>
            </a:avLst>
          </a:prstGeom>
          <a:solidFill>
            <a:srgbClr val="22414D"/>
          </a:solidFill>
          <a:ln w="12700">
            <a:solidFill>
              <a:srgbClr val="3B5A66"/>
            </a:solidFill>
            <a:prstDash val="solid"/>
          </a:ln>
        </p:spPr>
      </p:sp>
      <p:sp>
        <p:nvSpPr>
          <p:cNvPr id="7" name="Text 5"/>
          <p:cNvSpPr txBox="1"/>
          <p:nvPr/>
        </p:nvSpPr>
        <p:spPr>
          <a:xfrm>
            <a:off x="228600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See it</a:t>
            </a:r>
            <a:endParaRPr lang="en-US" sz="1400" dirty="0"/>
          </a:p>
        </p:txBody>
      </p:sp>
      <p:sp>
        <p:nvSpPr>
          <p:cNvPr id="8" name="Shape 6"/>
          <p:cNvSpPr/>
          <p:nvPr/>
        </p:nvSpPr>
        <p:spPr>
          <a:xfrm>
            <a:off x="4434840" y="3931920"/>
            <a:ext cx="1965960" cy="566928"/>
          </a:xfrm>
          <a:prstGeom prst="roundRect">
            <a:avLst>
              <a:gd name="adj" fmla="val 48387"/>
            </a:avLst>
          </a:prstGeom>
          <a:solidFill>
            <a:srgbClr val="22414D"/>
          </a:solidFill>
          <a:ln w="12700">
            <a:solidFill>
              <a:srgbClr val="3B5A66"/>
            </a:solidFill>
            <a:prstDash val="solid"/>
          </a:ln>
        </p:spPr>
      </p:sp>
      <p:sp>
        <p:nvSpPr>
          <p:cNvPr id="9" name="Text 7"/>
          <p:cNvSpPr txBox="1"/>
          <p:nvPr/>
        </p:nvSpPr>
        <p:spPr>
          <a:xfrm>
            <a:off x="443484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Feel it</a:t>
            </a:r>
            <a:endParaRPr lang="en-US" sz="1400" dirty="0"/>
          </a:p>
        </p:txBody>
      </p:sp>
      <p:sp>
        <p:nvSpPr>
          <p:cNvPr id="10" name="Shape 8"/>
          <p:cNvSpPr/>
          <p:nvPr/>
        </p:nvSpPr>
        <p:spPr>
          <a:xfrm>
            <a:off x="6583680" y="3931920"/>
            <a:ext cx="1965960" cy="566928"/>
          </a:xfrm>
          <a:prstGeom prst="roundRect">
            <a:avLst>
              <a:gd name="adj" fmla="val 48387"/>
            </a:avLst>
          </a:prstGeom>
          <a:solidFill>
            <a:srgbClr val="22414D"/>
          </a:solidFill>
          <a:ln w="12700">
            <a:solidFill>
              <a:srgbClr val="3B5A66"/>
            </a:solidFill>
            <a:prstDash val="solid"/>
          </a:ln>
        </p:spPr>
      </p:sp>
      <p:sp>
        <p:nvSpPr>
          <p:cNvPr id="11" name="Text 9"/>
          <p:cNvSpPr txBox="1"/>
          <p:nvPr/>
        </p:nvSpPr>
        <p:spPr>
          <a:xfrm>
            <a:off x="658368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Cue it</a:t>
            </a:r>
            <a:endParaRPr lang="en-US" sz="1400" dirty="0"/>
          </a:p>
        </p:txBody>
      </p:sp>
      <p:sp>
        <p:nvSpPr>
          <p:cNvPr id="12" name="Shape 10"/>
          <p:cNvSpPr/>
          <p:nvPr/>
        </p:nvSpPr>
        <p:spPr>
          <a:xfrm>
            <a:off x="8732520" y="3931920"/>
            <a:ext cx="1965960" cy="566928"/>
          </a:xfrm>
          <a:prstGeom prst="roundRect">
            <a:avLst>
              <a:gd name="adj" fmla="val 48387"/>
            </a:avLst>
          </a:prstGeom>
          <a:solidFill>
            <a:srgbClr val="22414D"/>
          </a:solidFill>
          <a:ln w="12700">
            <a:solidFill>
              <a:srgbClr val="3B5A66"/>
            </a:solidFill>
            <a:prstDash val="solid"/>
          </a:ln>
        </p:spPr>
      </p:sp>
      <p:sp>
        <p:nvSpPr>
          <p:cNvPr id="13" name="Text 11"/>
          <p:cNvSpPr txBox="1"/>
          <p:nvPr/>
        </p:nvSpPr>
        <p:spPr>
          <a:xfrm>
            <a:off x="873252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Check it</a:t>
            </a:r>
            <a:endParaRPr lang="en-US" sz="1400" dirty="0"/>
          </a:p>
        </p:txBody>
      </p:sp>
      <p:sp>
        <p:nvSpPr>
          <p:cNvPr id="14" name="Text 1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A9BFC6"/>
                </a:solidFill>
                <a:latin typeface="Calibri" pitchFamily="34" charset="0"/>
                <a:ea typeface="Calibri" pitchFamily="34" charset="-122"/>
                <a:cs typeface="Calibri" pitchFamily="34" charset="-120"/>
              </a:rPr>
              <a:t>Anatomy on the Mat  ·  Dr. Akash Garg, D.C.</a:t>
            </a:r>
            <a:endParaRPr lang="en-US" sz="900" dirty="0"/>
          </a:p>
        </p:txBody>
      </p:sp>
      <p:sp>
        <p:nvSpPr>
          <p:cNvPr id="15" name="Text 1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A9BFC6"/>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4.2</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Three ways a working muscle behaves</a:t>
            </a:r>
            <a:endParaRPr lang="en-US" sz="3000" dirty="0"/>
          </a:p>
        </p:txBody>
      </p:sp>
      <p:sp>
        <p:nvSpPr>
          <p:cNvPr id="4" name="Shape 2"/>
          <p:cNvSpPr/>
          <p:nvPr/>
        </p:nvSpPr>
        <p:spPr>
          <a:xfrm>
            <a:off x="548640" y="1984248"/>
            <a:ext cx="182880" cy="182880"/>
          </a:xfrm>
          <a:prstGeom prst="ellipse">
            <a:avLst/>
          </a:prstGeom>
          <a:solidFill>
            <a:srgbClr val="B3304C"/>
          </a:solidFill>
          <a:ln w="12700">
            <a:solidFill>
              <a:srgbClr val="B3304C"/>
            </a:solidFill>
            <a:prstDash val="solid"/>
          </a:ln>
        </p:spPr>
      </p:sp>
      <p:sp>
        <p:nvSpPr>
          <p:cNvPr id="5" name="Text 3"/>
          <p:cNvSpPr txBox="1"/>
          <p:nvPr/>
        </p:nvSpPr>
        <p:spPr>
          <a:xfrm>
            <a:off x="960120" y="1874520"/>
            <a:ext cx="443484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Concentric: the muscle shortens while working</a:t>
            </a:r>
            <a:endParaRPr lang="en-US" sz="1900" dirty="0"/>
          </a:p>
        </p:txBody>
      </p:sp>
      <p:sp>
        <p:nvSpPr>
          <p:cNvPr id="6" name="Shape 4"/>
          <p:cNvSpPr/>
          <p:nvPr/>
        </p:nvSpPr>
        <p:spPr>
          <a:xfrm>
            <a:off x="548640" y="2916936"/>
            <a:ext cx="182880" cy="182880"/>
          </a:xfrm>
          <a:prstGeom prst="ellipse">
            <a:avLst/>
          </a:prstGeom>
          <a:solidFill>
            <a:srgbClr val="2F7359"/>
          </a:solidFill>
          <a:ln w="12700">
            <a:solidFill>
              <a:srgbClr val="2F7359"/>
            </a:solidFill>
            <a:prstDash val="solid"/>
          </a:ln>
        </p:spPr>
      </p:sp>
      <p:sp>
        <p:nvSpPr>
          <p:cNvPr id="7" name="Text 5"/>
          <p:cNvSpPr txBox="1"/>
          <p:nvPr/>
        </p:nvSpPr>
        <p:spPr>
          <a:xfrm>
            <a:off x="960120" y="2807208"/>
            <a:ext cx="443484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Eccentric: the muscle lengthens while working, under control</a:t>
            </a:r>
            <a:endParaRPr lang="en-US" sz="1900" dirty="0"/>
          </a:p>
        </p:txBody>
      </p:sp>
      <p:sp>
        <p:nvSpPr>
          <p:cNvPr id="8" name="Shape 6"/>
          <p:cNvSpPr/>
          <p:nvPr/>
        </p:nvSpPr>
        <p:spPr>
          <a:xfrm>
            <a:off x="548640" y="3849624"/>
            <a:ext cx="182880" cy="182880"/>
          </a:xfrm>
          <a:prstGeom prst="ellipse">
            <a:avLst/>
          </a:prstGeom>
          <a:solidFill>
            <a:srgbClr val="B3304C"/>
          </a:solidFill>
          <a:ln w="12700">
            <a:solidFill>
              <a:srgbClr val="B3304C"/>
            </a:solidFill>
            <a:prstDash val="solid"/>
          </a:ln>
        </p:spPr>
      </p:sp>
      <p:sp>
        <p:nvSpPr>
          <p:cNvPr id="9" name="Text 7"/>
          <p:cNvSpPr txBox="1"/>
          <p:nvPr/>
        </p:nvSpPr>
        <p:spPr>
          <a:xfrm>
            <a:off x="960120" y="3739896"/>
            <a:ext cx="443484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Isometric: the muscle works but its length stays the same</a:t>
            </a:r>
            <a:endParaRPr lang="en-US" sz="1900" dirty="0"/>
          </a:p>
        </p:txBody>
      </p:sp>
      <p:sp>
        <p:nvSpPr>
          <p:cNvPr id="10" name="Shape 8"/>
          <p:cNvSpPr/>
          <p:nvPr/>
        </p:nvSpPr>
        <p:spPr>
          <a:xfrm>
            <a:off x="548640" y="4782312"/>
            <a:ext cx="182880" cy="182880"/>
          </a:xfrm>
          <a:prstGeom prst="ellipse">
            <a:avLst/>
          </a:prstGeom>
          <a:solidFill>
            <a:srgbClr val="2F7359"/>
          </a:solidFill>
          <a:ln w="12700">
            <a:solidFill>
              <a:srgbClr val="2F7359"/>
            </a:solidFill>
            <a:prstDash val="solid"/>
          </a:ln>
        </p:spPr>
      </p:sp>
      <p:sp>
        <p:nvSpPr>
          <p:cNvPr id="11" name="Text 9"/>
          <p:cNvSpPr txBox="1"/>
          <p:nvPr/>
        </p:nvSpPr>
        <p:spPr>
          <a:xfrm>
            <a:off x="960120" y="4672584"/>
            <a:ext cx="443484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Compare muscle force with the load, usually gravity</a:t>
            </a:r>
            <a:endParaRPr lang="en-US" sz="1900" dirty="0"/>
          </a:p>
        </p:txBody>
      </p:sp>
      <p:sp>
        <p:nvSpPr>
          <p:cNvPr id="12" name="Shape 10"/>
          <p:cNvSpPr/>
          <p:nvPr/>
        </p:nvSpPr>
        <p:spPr>
          <a:xfrm>
            <a:off x="5623560" y="1737360"/>
            <a:ext cx="6035040" cy="4389120"/>
          </a:xfrm>
          <a:prstGeom prst="roundRect">
            <a:avLst>
              <a:gd name="adj" fmla="val 2500"/>
            </a:avLst>
          </a:prstGeom>
          <a:solidFill>
            <a:srgbClr val="F9FBFA"/>
          </a:solidFill>
          <a:ln w="12700">
            <a:solidFill>
              <a:srgbClr val="C6D4CF"/>
            </a:solidFill>
            <a:prstDash val="solid"/>
          </a:ln>
        </p:spPr>
      </p:sp>
      <p:pic>
        <p:nvPicPr>
          <p:cNvPr id="13" name="Image 0" descr="Concentric, eccentric and isometric contractions">    </p:cNvPr>
          <p:cNvPicPr>
            <a:picLocks noChangeAspect="1"/>
          </p:cNvPicPr>
          <p:nvPr/>
        </p:nvPicPr>
        <p:blipFill>
          <a:blip r:embed="rId1"/>
          <a:stretch>
            <a:fillRect/>
          </a:stretch>
        </p:blipFill>
        <p:spPr>
          <a:xfrm>
            <a:off x="5806440" y="1959102"/>
            <a:ext cx="5669280" cy="3543300"/>
          </a:xfrm>
          <a:prstGeom prst="rect">
            <a:avLst/>
          </a:prstGeom>
        </p:spPr>
      </p:pic>
      <p:sp>
        <p:nvSpPr>
          <p:cNvPr id="14" name="Text 11"/>
          <p:cNvSpPr txBox="1"/>
          <p:nvPr/>
        </p:nvSpPr>
        <p:spPr>
          <a:xfrm>
            <a:off x="5806440" y="5623560"/>
            <a:ext cx="566928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7  </a:t>
            </a:r>
            <a:pPr indent="0" marL="0">
              <a:buNone/>
            </a:pPr>
            <a:r>
              <a:rPr lang="en-US" sz="1100" dirty="0">
                <a:solidFill>
                  <a:srgbClr val="55707A"/>
                </a:solidFill>
                <a:latin typeface="Calibri" pitchFamily="34" charset="0"/>
                <a:ea typeface="Calibri" pitchFamily="34" charset="-122"/>
                <a:cs typeface="Calibri" pitchFamily="34" charset="-120"/>
              </a:rPr>
              <a:t>Concentric, eccentric and isometric contractions</a:t>
            </a:r>
            <a:endParaRPr lang="en-US" sz="1100" dirty="0"/>
          </a:p>
        </p:txBody>
      </p:sp>
      <p:sp>
        <p:nvSpPr>
          <p:cNvPr id="15" name="Text 1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6" name="Text 1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4.2</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Chaturanga: an eccentric lower</a:t>
            </a:r>
            <a:endParaRPr lang="en-US" sz="3000" dirty="0"/>
          </a:p>
        </p:txBody>
      </p:sp>
      <p:sp>
        <p:nvSpPr>
          <p:cNvPr id="4" name="Shape 2"/>
          <p:cNvSpPr/>
          <p:nvPr/>
        </p:nvSpPr>
        <p:spPr>
          <a:xfrm>
            <a:off x="548640" y="1984248"/>
            <a:ext cx="182880" cy="182880"/>
          </a:xfrm>
          <a:prstGeom prst="ellipse">
            <a:avLst/>
          </a:prstGeom>
          <a:solidFill>
            <a:srgbClr val="B3304C"/>
          </a:solidFill>
          <a:ln w="12700">
            <a:solidFill>
              <a:srgbClr val="B3304C"/>
            </a:solidFill>
            <a:prstDash val="solid"/>
          </a:ln>
        </p:spPr>
      </p:sp>
      <p:sp>
        <p:nvSpPr>
          <p:cNvPr id="5" name="Text 3"/>
          <p:cNvSpPr txBox="1"/>
          <p:nvPr/>
        </p:nvSpPr>
        <p:spPr>
          <a:xfrm>
            <a:off x="960120" y="1874520"/>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Lowering from plank, the elbows bend under body weight</a:t>
            </a:r>
            <a:endParaRPr lang="en-US" sz="1900" dirty="0"/>
          </a:p>
        </p:txBody>
      </p:sp>
      <p:sp>
        <p:nvSpPr>
          <p:cNvPr id="6" name="Shape 4"/>
          <p:cNvSpPr/>
          <p:nvPr/>
        </p:nvSpPr>
        <p:spPr>
          <a:xfrm>
            <a:off x="548640" y="2916936"/>
            <a:ext cx="182880" cy="182880"/>
          </a:xfrm>
          <a:prstGeom prst="ellipse">
            <a:avLst/>
          </a:prstGeom>
          <a:solidFill>
            <a:srgbClr val="2F7359"/>
          </a:solidFill>
          <a:ln w="12700">
            <a:solidFill>
              <a:srgbClr val="2F7359"/>
            </a:solidFill>
            <a:prstDash val="solid"/>
          </a:ln>
        </p:spPr>
      </p:sp>
      <p:sp>
        <p:nvSpPr>
          <p:cNvPr id="7" name="Text 5"/>
          <p:cNvSpPr txBox="1"/>
          <p:nvPr/>
        </p:nvSpPr>
        <p:spPr>
          <a:xfrm>
            <a:off x="960120" y="2807208"/>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Triceps, pectorals and front deltoids lengthen as they work</a:t>
            </a:r>
            <a:endParaRPr lang="en-US" sz="1900" dirty="0"/>
          </a:p>
        </p:txBody>
      </p:sp>
      <p:sp>
        <p:nvSpPr>
          <p:cNvPr id="8" name="Shape 6"/>
          <p:cNvSpPr/>
          <p:nvPr/>
        </p:nvSpPr>
        <p:spPr>
          <a:xfrm>
            <a:off x="548640" y="3849624"/>
            <a:ext cx="182880" cy="182880"/>
          </a:xfrm>
          <a:prstGeom prst="ellipse">
            <a:avLst/>
          </a:prstGeom>
          <a:solidFill>
            <a:srgbClr val="B3304C"/>
          </a:solidFill>
          <a:ln w="12700">
            <a:solidFill>
              <a:srgbClr val="B3304C"/>
            </a:solidFill>
            <a:prstDash val="solid"/>
          </a:ln>
        </p:spPr>
      </p:sp>
      <p:sp>
        <p:nvSpPr>
          <p:cNvPr id="9" name="Text 7"/>
          <p:cNvSpPr txBox="1"/>
          <p:nvPr/>
        </p:nvSpPr>
        <p:spPr>
          <a:xfrm>
            <a:off x="960120" y="3739896"/>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They act as brakes: eccentric contraction</a:t>
            </a:r>
            <a:endParaRPr lang="en-US" sz="1900" dirty="0"/>
          </a:p>
        </p:txBody>
      </p:sp>
      <p:sp>
        <p:nvSpPr>
          <p:cNvPr id="10" name="Shape 8"/>
          <p:cNvSpPr/>
          <p:nvPr/>
        </p:nvSpPr>
        <p:spPr>
          <a:xfrm>
            <a:off x="548640" y="4782312"/>
            <a:ext cx="182880" cy="182880"/>
          </a:xfrm>
          <a:prstGeom prst="ellipse">
            <a:avLst/>
          </a:prstGeom>
          <a:solidFill>
            <a:srgbClr val="2F7359"/>
          </a:solidFill>
          <a:ln w="12700">
            <a:solidFill>
              <a:srgbClr val="2F7359"/>
            </a:solidFill>
            <a:prstDash val="solid"/>
          </a:ln>
        </p:spPr>
      </p:sp>
      <p:sp>
        <p:nvSpPr>
          <p:cNvPr id="11" name="Text 9"/>
          <p:cNvSpPr txBox="1"/>
          <p:nvPr/>
        </p:nvSpPr>
        <p:spPr>
          <a:xfrm>
            <a:off x="960120" y="4672584"/>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Pressing back up would be concentric work</a:t>
            </a:r>
            <a:endParaRPr lang="en-US" sz="1900" dirty="0"/>
          </a:p>
        </p:txBody>
      </p:sp>
      <p:sp>
        <p:nvSpPr>
          <p:cNvPr id="12" name="Shape 10"/>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13" name="Image 0" descr="Lowering to Chaturanga: triceps and chest muscles brake the descent">    </p:cNvPr>
          <p:cNvPicPr>
            <a:picLocks noChangeAspect="1"/>
          </p:cNvPicPr>
          <p:nvPr/>
        </p:nvPicPr>
        <p:blipFill>
          <a:blip r:embed="rId1"/>
          <a:stretch>
            <a:fillRect/>
          </a:stretch>
        </p:blipFill>
        <p:spPr>
          <a:xfrm>
            <a:off x="7086600" y="2416207"/>
            <a:ext cx="4389120" cy="2629090"/>
          </a:xfrm>
          <a:prstGeom prst="rect">
            <a:avLst/>
          </a:prstGeom>
        </p:spPr>
      </p:pic>
      <p:sp>
        <p:nvSpPr>
          <p:cNvPr id="14" name="Text 11"/>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8  </a:t>
            </a:r>
            <a:pPr indent="0" marL="0">
              <a:buNone/>
            </a:pPr>
            <a:r>
              <a:rPr lang="en-US" sz="1100" dirty="0">
                <a:solidFill>
                  <a:srgbClr val="55707A"/>
                </a:solidFill>
                <a:latin typeface="Calibri" pitchFamily="34" charset="0"/>
                <a:ea typeface="Calibri" pitchFamily="34" charset="-122"/>
                <a:cs typeface="Calibri" pitchFamily="34" charset="-120"/>
              </a:rPr>
              <a:t>Lowering to Chaturanga: triceps and chest muscles brake the descent</a:t>
            </a:r>
            <a:endParaRPr lang="en-US" sz="1100" dirty="0"/>
          </a:p>
        </p:txBody>
      </p:sp>
      <p:sp>
        <p:nvSpPr>
          <p:cNvPr id="15" name="Text 1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6" name="Text 1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4.2  ·  CUE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Holding Chair: isometric work</a:t>
            </a:r>
            <a:endParaRPr lang="en-US" sz="3000" dirty="0"/>
          </a:p>
        </p:txBody>
      </p:sp>
      <p:sp>
        <p:nvSpPr>
          <p:cNvPr id="4" name="Shape 2"/>
          <p:cNvSpPr/>
          <p:nvPr/>
        </p:nvSpPr>
        <p:spPr>
          <a:xfrm>
            <a:off x="548640" y="1783080"/>
            <a:ext cx="6035040" cy="2377440"/>
          </a:xfrm>
          <a:prstGeom prst="roundRect">
            <a:avLst>
              <a:gd name="adj" fmla="val 5385"/>
            </a:avLst>
          </a:prstGeom>
          <a:solidFill>
            <a:srgbClr val="16303A"/>
          </a:solidFill>
          <a:ln w="12700">
            <a:solidFill>
              <a:srgbClr val="16303A"/>
            </a:solidFill>
            <a:prstDash val="solid"/>
          </a:ln>
        </p:spPr>
      </p:sp>
      <p:sp>
        <p:nvSpPr>
          <p:cNvPr id="5" name="Text 3"/>
          <p:cNvSpPr txBox="1"/>
          <p:nvPr/>
        </p:nvSpPr>
        <p:spPr>
          <a:xfrm>
            <a:off x="868680" y="1920240"/>
            <a:ext cx="5394960" cy="2103120"/>
          </a:xfrm>
          <a:prstGeom prst="rect">
            <a:avLst/>
          </a:prstGeom>
          <a:noFill/>
          <a:ln/>
        </p:spPr>
        <p:txBody>
          <a:bodyPr wrap="square" lIns="0" tIns="0" rIns="0" bIns="0" rtlCol="0" anchor="ctr">
            <a:normAutofit/>
          </a:bodyPr>
          <a:lstStyle/>
          <a:p>
            <a:pPr indent="0" marL="0">
              <a:buNone/>
            </a:pPr>
            <a:r>
              <a:rPr lang="en-US" sz="2400" dirty="0">
                <a:solidFill>
                  <a:srgbClr val="FFFFFF"/>
                </a:solidFill>
                <a:latin typeface="Cambria" pitchFamily="34" charset="0"/>
                <a:ea typeface="Cambria" pitchFamily="34" charset="-122"/>
                <a:cs typeface="Cambria" pitchFamily="34" charset="-120"/>
              </a:rPr>
              <a:t>“Sit back as if onto a chair, then stay: keep the thighs working, keep breathing, and keep the knees tracking toward the second toes.”</a:t>
            </a:r>
            <a:endParaRPr lang="en-US" sz="2400" dirty="0"/>
          </a:p>
        </p:txBody>
      </p:sp>
      <p:sp>
        <p:nvSpPr>
          <p:cNvPr id="6" name="Text 4"/>
          <p:cNvSpPr txBox="1"/>
          <p:nvPr/>
        </p:nvSpPr>
        <p:spPr>
          <a:xfrm>
            <a:off x="548640" y="4389120"/>
            <a:ext cx="6035040" cy="1554480"/>
          </a:xfrm>
          <a:prstGeom prst="rect">
            <a:avLst/>
          </a:prstGeom>
          <a:noFill/>
          <a:ln/>
        </p:spPr>
        <p:txBody>
          <a:bodyPr wrap="square" lIns="0" tIns="0" rIns="0" bIns="0" rtlCol="0" anchor="t">
            <a:normAutofit/>
          </a:bodyPr>
          <a:lstStyle/>
          <a:p>
            <a:pPr indent="0" marL="0">
              <a:buNone/>
            </a:pPr>
            <a:r>
              <a:rPr lang="en-US" sz="1800" b="1" dirty="0">
                <a:solidFill>
                  <a:srgbClr val="2F7359"/>
                </a:solidFill>
                <a:latin typeface="Calibri" pitchFamily="34" charset="0"/>
                <a:ea typeface="Calibri" pitchFamily="34" charset="-122"/>
                <a:cs typeface="Calibri" pitchFamily="34" charset="-120"/>
              </a:rPr>
              <a:t>Why it works  </a:t>
            </a:r>
            <a:pPr indent="0" marL="0">
              <a:buNone/>
            </a:pPr>
            <a:r>
              <a:rPr lang="en-US" sz="1800" dirty="0">
                <a:solidFill>
                  <a:srgbClr val="16303A"/>
                </a:solidFill>
                <a:latin typeface="Calibri" pitchFamily="34" charset="0"/>
                <a:ea typeface="Calibri" pitchFamily="34" charset="-122"/>
                <a:cs typeface="Calibri" pitchFamily="34" charset="-120"/>
              </a:rPr>
              <a:t>In the hold, the quadriceps and gluteus maximus produce tension without changing length. That is an isometric contraction, and it is why Chair feels hard even though nothing is moving.</a:t>
            </a:r>
            <a:endParaRPr lang="en-US" sz="1800" dirty="0"/>
          </a:p>
        </p:txBody>
      </p:sp>
      <p:sp>
        <p:nvSpPr>
          <p:cNvPr id="7" name="Shape 5"/>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8" name="Image 0" descr="Chair hold: quadriceps and gluteals work isometrically">    </p:cNvPr>
          <p:cNvPicPr>
            <a:picLocks noChangeAspect="1"/>
          </p:cNvPicPr>
          <p:nvPr/>
        </p:nvPicPr>
        <p:blipFill>
          <a:blip r:embed="rId1"/>
          <a:stretch>
            <a:fillRect/>
          </a:stretch>
        </p:blipFill>
        <p:spPr>
          <a:xfrm>
            <a:off x="8107599" y="1901952"/>
            <a:ext cx="2347123" cy="3657600"/>
          </a:xfrm>
          <a:prstGeom prst="rect">
            <a:avLst/>
          </a:prstGeom>
        </p:spPr>
      </p:pic>
      <p:sp>
        <p:nvSpPr>
          <p:cNvPr id="9" name="Text 6"/>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9  </a:t>
            </a:r>
            <a:pPr indent="0" marL="0">
              <a:buNone/>
            </a:pPr>
            <a:r>
              <a:rPr lang="en-US" sz="1100" dirty="0">
                <a:solidFill>
                  <a:srgbClr val="55707A"/>
                </a:solidFill>
                <a:latin typeface="Calibri" pitchFamily="34" charset="0"/>
                <a:ea typeface="Calibri" pitchFamily="34" charset="-122"/>
                <a:cs typeface="Calibri" pitchFamily="34" charset="-120"/>
              </a:rPr>
              <a:t>Chair hold: quadriceps and gluteals work isometrically</a:t>
            </a:r>
            <a:endParaRPr lang="en-US" sz="1100" dirty="0"/>
          </a:p>
        </p:txBody>
      </p:sp>
      <p:sp>
        <p:nvSpPr>
          <p:cNvPr id="10" name="Text 7"/>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1" name="Text 8"/>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4.2</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The same muscle, three jobs in Chair</a:t>
            </a:r>
            <a:endParaRPr lang="en-US" sz="3000" dirty="0"/>
          </a:p>
        </p:txBody>
      </p:sp>
      <p:sp>
        <p:nvSpPr>
          <p:cNvPr id="4" name="Shape 2"/>
          <p:cNvSpPr/>
          <p:nvPr/>
        </p:nvSpPr>
        <p:spPr>
          <a:xfrm>
            <a:off x="548640" y="1783080"/>
            <a:ext cx="3505200" cy="4297680"/>
          </a:xfrm>
          <a:prstGeom prst="roundRect">
            <a:avLst>
              <a:gd name="adj" fmla="val 3130"/>
            </a:avLst>
          </a:prstGeom>
          <a:solidFill>
            <a:srgbClr val="F1EADA"/>
          </a:solidFill>
          <a:ln w="12700">
            <a:solidFill>
              <a:srgbClr val="F1EADA"/>
            </a:solidFill>
            <a:prstDash val="solid"/>
          </a:ln>
        </p:spPr>
      </p:sp>
      <p:sp>
        <p:nvSpPr>
          <p:cNvPr id="5" name="Text 3"/>
          <p:cNvSpPr txBox="1"/>
          <p:nvPr/>
        </p:nvSpPr>
        <p:spPr>
          <a:xfrm>
            <a:off x="822960" y="1965960"/>
            <a:ext cx="2956560" cy="640080"/>
          </a:xfrm>
          <a:prstGeom prst="rect">
            <a:avLst/>
          </a:prstGeom>
          <a:noFill/>
          <a:ln/>
        </p:spPr>
        <p:txBody>
          <a:bodyPr wrap="square" lIns="0" tIns="0" rIns="0" bIns="0" rtlCol="0" anchor="t">
            <a:normAutofit/>
          </a:bodyPr>
          <a:lstStyle/>
          <a:p>
            <a:pPr indent="0" marL="0">
              <a:buNone/>
            </a:pPr>
            <a:r>
              <a:rPr lang="en-US" sz="2200" b="1" dirty="0">
                <a:solidFill>
                  <a:srgbClr val="16303A"/>
                </a:solidFill>
                <a:latin typeface="Cambria" pitchFamily="34" charset="0"/>
                <a:ea typeface="Cambria" pitchFamily="34" charset="-122"/>
                <a:cs typeface="Cambria" pitchFamily="34" charset="-120"/>
              </a:rPr>
              <a:t>Lowering in (eccentric)</a:t>
            </a:r>
            <a:endParaRPr lang="en-US" sz="2200" dirty="0"/>
          </a:p>
        </p:txBody>
      </p:sp>
      <p:sp>
        <p:nvSpPr>
          <p:cNvPr id="6" name="Text 4"/>
          <p:cNvSpPr txBox="1"/>
          <p:nvPr/>
        </p:nvSpPr>
        <p:spPr>
          <a:xfrm>
            <a:off x="822960" y="2697480"/>
            <a:ext cx="2956560" cy="320040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Quadriceps lengthen while working</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Gravity is winning, slowly</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Control the speed of descent</a:t>
            </a:r>
            <a:endParaRPr lang="en-US" sz="1700" dirty="0"/>
          </a:p>
        </p:txBody>
      </p:sp>
      <p:sp>
        <p:nvSpPr>
          <p:cNvPr id="7" name="Shape 5"/>
          <p:cNvSpPr/>
          <p:nvPr/>
        </p:nvSpPr>
        <p:spPr>
          <a:xfrm>
            <a:off x="4328160" y="1783080"/>
            <a:ext cx="3505200" cy="4297680"/>
          </a:xfrm>
          <a:prstGeom prst="roundRect">
            <a:avLst>
              <a:gd name="adj" fmla="val 3130"/>
            </a:avLst>
          </a:prstGeom>
          <a:solidFill>
            <a:srgbClr val="D5E9DF"/>
          </a:solidFill>
          <a:ln w="12700">
            <a:solidFill>
              <a:srgbClr val="D5E9DF"/>
            </a:solidFill>
            <a:prstDash val="solid"/>
          </a:ln>
        </p:spPr>
      </p:sp>
      <p:sp>
        <p:nvSpPr>
          <p:cNvPr id="8" name="Text 6"/>
          <p:cNvSpPr txBox="1"/>
          <p:nvPr/>
        </p:nvSpPr>
        <p:spPr>
          <a:xfrm>
            <a:off x="4602480" y="1965960"/>
            <a:ext cx="2956560" cy="640080"/>
          </a:xfrm>
          <a:prstGeom prst="rect">
            <a:avLst/>
          </a:prstGeom>
          <a:noFill/>
          <a:ln/>
        </p:spPr>
        <p:txBody>
          <a:bodyPr wrap="square" lIns="0" tIns="0" rIns="0" bIns="0" rtlCol="0" anchor="t">
            <a:normAutofit/>
          </a:bodyPr>
          <a:lstStyle/>
          <a:p>
            <a:pPr indent="0" marL="0">
              <a:buNone/>
            </a:pPr>
            <a:r>
              <a:rPr lang="en-US" sz="2200" b="1" dirty="0">
                <a:solidFill>
                  <a:srgbClr val="16303A"/>
                </a:solidFill>
                <a:latin typeface="Cambria" pitchFamily="34" charset="0"/>
                <a:ea typeface="Cambria" pitchFamily="34" charset="-122"/>
                <a:cs typeface="Cambria" pitchFamily="34" charset="-120"/>
              </a:rPr>
              <a:t>Holding (isometric)</a:t>
            </a:r>
            <a:endParaRPr lang="en-US" sz="2200" dirty="0"/>
          </a:p>
        </p:txBody>
      </p:sp>
      <p:sp>
        <p:nvSpPr>
          <p:cNvPr id="9" name="Text 7"/>
          <p:cNvSpPr txBox="1"/>
          <p:nvPr/>
        </p:nvSpPr>
        <p:spPr>
          <a:xfrm>
            <a:off x="4602480" y="2697480"/>
            <a:ext cx="2956560" cy="320040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Quadriceps length stays the same</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Force matches gravity</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Builds strength at that angle</a:t>
            </a:r>
            <a:endParaRPr lang="en-US" sz="1700" dirty="0"/>
          </a:p>
        </p:txBody>
      </p:sp>
      <p:sp>
        <p:nvSpPr>
          <p:cNvPr id="10" name="Shape 8"/>
          <p:cNvSpPr/>
          <p:nvPr/>
        </p:nvSpPr>
        <p:spPr>
          <a:xfrm>
            <a:off x="8107680" y="1783080"/>
            <a:ext cx="3505200" cy="4297680"/>
          </a:xfrm>
          <a:prstGeom prst="roundRect">
            <a:avLst>
              <a:gd name="adj" fmla="val 3130"/>
            </a:avLst>
          </a:prstGeom>
          <a:solidFill>
            <a:srgbClr val="F3D9DE"/>
          </a:solidFill>
          <a:ln w="12700">
            <a:solidFill>
              <a:srgbClr val="F3D9DE"/>
            </a:solidFill>
            <a:prstDash val="solid"/>
          </a:ln>
        </p:spPr>
      </p:sp>
      <p:sp>
        <p:nvSpPr>
          <p:cNvPr id="11" name="Text 9"/>
          <p:cNvSpPr txBox="1"/>
          <p:nvPr/>
        </p:nvSpPr>
        <p:spPr>
          <a:xfrm>
            <a:off x="8382000" y="1965960"/>
            <a:ext cx="2956560" cy="640080"/>
          </a:xfrm>
          <a:prstGeom prst="rect">
            <a:avLst/>
          </a:prstGeom>
          <a:noFill/>
          <a:ln/>
        </p:spPr>
        <p:txBody>
          <a:bodyPr wrap="square" lIns="0" tIns="0" rIns="0" bIns="0" rtlCol="0" anchor="t">
            <a:normAutofit/>
          </a:bodyPr>
          <a:lstStyle/>
          <a:p>
            <a:pPr indent="0" marL="0">
              <a:buNone/>
            </a:pPr>
            <a:r>
              <a:rPr lang="en-US" sz="2200" b="1" dirty="0">
                <a:solidFill>
                  <a:srgbClr val="16303A"/>
                </a:solidFill>
                <a:latin typeface="Cambria" pitchFamily="34" charset="0"/>
                <a:ea typeface="Cambria" pitchFamily="34" charset="-122"/>
                <a:cs typeface="Cambria" pitchFamily="34" charset="-120"/>
              </a:rPr>
              <a:t>Rising (concentric)</a:t>
            </a:r>
            <a:endParaRPr lang="en-US" sz="2200" dirty="0"/>
          </a:p>
        </p:txBody>
      </p:sp>
      <p:sp>
        <p:nvSpPr>
          <p:cNvPr id="12" name="Text 10"/>
          <p:cNvSpPr txBox="1"/>
          <p:nvPr/>
        </p:nvSpPr>
        <p:spPr>
          <a:xfrm>
            <a:off x="8382000" y="2697480"/>
            <a:ext cx="2956560" cy="320040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Quadriceps shorten while working</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Muscle force beats gravity</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Lifts the body upward</a:t>
            </a:r>
            <a:endParaRPr lang="en-US" sz="1700" dirty="0"/>
          </a:p>
        </p:txBody>
      </p:sp>
      <p:sp>
        <p:nvSpPr>
          <p:cNvPr id="13" name="Text 11"/>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4" name="Text 12"/>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4.2</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Gravity decides the contraction type</a:t>
            </a:r>
            <a:endParaRPr lang="en-US" sz="3000" dirty="0"/>
          </a:p>
        </p:txBody>
      </p:sp>
      <p:sp>
        <p:nvSpPr>
          <p:cNvPr id="4" name="Shape 2"/>
          <p:cNvSpPr/>
          <p:nvPr/>
        </p:nvSpPr>
        <p:spPr>
          <a:xfrm>
            <a:off x="548640" y="1984248"/>
            <a:ext cx="182880" cy="182880"/>
          </a:xfrm>
          <a:prstGeom prst="ellipse">
            <a:avLst/>
          </a:prstGeom>
          <a:solidFill>
            <a:srgbClr val="B3304C"/>
          </a:solidFill>
          <a:ln w="12700">
            <a:solidFill>
              <a:srgbClr val="B3304C"/>
            </a:solidFill>
            <a:prstDash val="solid"/>
          </a:ln>
        </p:spPr>
      </p:sp>
      <p:sp>
        <p:nvSpPr>
          <p:cNvPr id="5" name="Text 3"/>
          <p:cNvSpPr txBox="1"/>
          <p:nvPr/>
        </p:nvSpPr>
        <p:spPr>
          <a:xfrm>
            <a:off x="960120" y="1874520"/>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Ask: is this part moving with, against or across gravity?</a:t>
            </a:r>
            <a:endParaRPr lang="en-US" sz="1900" dirty="0"/>
          </a:p>
        </p:txBody>
      </p:sp>
      <p:sp>
        <p:nvSpPr>
          <p:cNvPr id="6" name="Shape 4"/>
          <p:cNvSpPr/>
          <p:nvPr/>
        </p:nvSpPr>
        <p:spPr>
          <a:xfrm>
            <a:off x="548640" y="2916936"/>
            <a:ext cx="182880" cy="182880"/>
          </a:xfrm>
          <a:prstGeom prst="ellipse">
            <a:avLst/>
          </a:prstGeom>
          <a:solidFill>
            <a:srgbClr val="2F7359"/>
          </a:solidFill>
          <a:ln w="12700">
            <a:solidFill>
              <a:srgbClr val="2F7359"/>
            </a:solidFill>
            <a:prstDash val="solid"/>
          </a:ln>
        </p:spPr>
      </p:sp>
      <p:sp>
        <p:nvSpPr>
          <p:cNvPr id="7" name="Text 5"/>
          <p:cNvSpPr txBox="1"/>
          <p:nvPr/>
        </p:nvSpPr>
        <p:spPr>
          <a:xfrm>
            <a:off x="960120" y="2807208"/>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Lowering the chest from Cobra: back extensors work eccentrically</a:t>
            </a:r>
            <a:endParaRPr lang="en-US" sz="1900" dirty="0"/>
          </a:p>
        </p:txBody>
      </p:sp>
      <p:sp>
        <p:nvSpPr>
          <p:cNvPr id="8" name="Shape 6"/>
          <p:cNvSpPr/>
          <p:nvPr/>
        </p:nvSpPr>
        <p:spPr>
          <a:xfrm>
            <a:off x="548640" y="3849624"/>
            <a:ext cx="182880" cy="182880"/>
          </a:xfrm>
          <a:prstGeom prst="ellipse">
            <a:avLst/>
          </a:prstGeom>
          <a:solidFill>
            <a:srgbClr val="B3304C"/>
          </a:solidFill>
          <a:ln w="12700">
            <a:solidFill>
              <a:srgbClr val="B3304C"/>
            </a:solidFill>
            <a:prstDash val="solid"/>
          </a:ln>
        </p:spPr>
      </p:sp>
      <p:sp>
        <p:nvSpPr>
          <p:cNvPr id="9" name="Text 7"/>
          <p:cNvSpPr txBox="1"/>
          <p:nvPr/>
        </p:nvSpPr>
        <p:spPr>
          <a:xfrm>
            <a:off x="960120" y="3739896"/>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Lifting into Cobra: the same back extensors work concentrically</a:t>
            </a:r>
            <a:endParaRPr lang="en-US" sz="1900" dirty="0"/>
          </a:p>
        </p:txBody>
      </p:sp>
      <p:sp>
        <p:nvSpPr>
          <p:cNvPr id="10" name="Shape 8"/>
          <p:cNvSpPr/>
          <p:nvPr/>
        </p:nvSpPr>
        <p:spPr>
          <a:xfrm>
            <a:off x="548640" y="4782312"/>
            <a:ext cx="182880" cy="182880"/>
          </a:xfrm>
          <a:prstGeom prst="ellipse">
            <a:avLst/>
          </a:prstGeom>
          <a:solidFill>
            <a:srgbClr val="2F7359"/>
          </a:solidFill>
          <a:ln w="12700">
            <a:solidFill>
              <a:srgbClr val="2F7359"/>
            </a:solidFill>
            <a:prstDash val="solid"/>
          </a:ln>
        </p:spPr>
      </p:sp>
      <p:sp>
        <p:nvSpPr>
          <p:cNvPr id="11" name="Text 9"/>
          <p:cNvSpPr txBox="1"/>
          <p:nvPr/>
        </p:nvSpPr>
        <p:spPr>
          <a:xfrm>
            <a:off x="960120" y="4672584"/>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Unfamiliar eccentric work causes the most next-day soreness</a:t>
            </a:r>
            <a:endParaRPr lang="en-US" sz="1900" dirty="0"/>
          </a:p>
        </p:txBody>
      </p:sp>
      <p:sp>
        <p:nvSpPr>
          <p:cNvPr id="12" name="Shape 10"/>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13" name="Image 0" descr="Cobra: the back extensors lift you and then lower you">    </p:cNvPr>
          <p:cNvPicPr>
            <a:picLocks noChangeAspect="1"/>
          </p:cNvPicPr>
          <p:nvPr/>
        </p:nvPicPr>
        <p:blipFill>
          <a:blip r:embed="rId1"/>
          <a:stretch>
            <a:fillRect/>
          </a:stretch>
        </p:blipFill>
        <p:spPr>
          <a:xfrm>
            <a:off x="7086600" y="2302105"/>
            <a:ext cx="4389120" cy="2857293"/>
          </a:xfrm>
          <a:prstGeom prst="rect">
            <a:avLst/>
          </a:prstGeom>
        </p:spPr>
      </p:pic>
      <p:sp>
        <p:nvSpPr>
          <p:cNvPr id="14" name="Text 11"/>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10  </a:t>
            </a:r>
            <a:pPr indent="0" marL="0">
              <a:buNone/>
            </a:pPr>
            <a:r>
              <a:rPr lang="en-US" sz="1100" dirty="0">
                <a:solidFill>
                  <a:srgbClr val="55707A"/>
                </a:solidFill>
                <a:latin typeface="Calibri" pitchFamily="34" charset="0"/>
                <a:ea typeface="Calibri" pitchFamily="34" charset="-122"/>
                <a:cs typeface="Calibri" pitchFamily="34" charset="-120"/>
              </a:rPr>
              <a:t>Cobra: the back extensors lift you and then lower you</a:t>
            </a:r>
            <a:endParaRPr lang="en-US" sz="1100" dirty="0"/>
          </a:p>
        </p:txBody>
      </p:sp>
      <p:sp>
        <p:nvSpPr>
          <p:cNvPr id="15" name="Text 1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6" name="Text 1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4.2  ·  FEEL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Feel it: one Chaturanga, three contractions</a:t>
            </a:r>
            <a:endParaRPr lang="en-US" sz="3000" dirty="0"/>
          </a:p>
        </p:txBody>
      </p:sp>
      <p:sp>
        <p:nvSpPr>
          <p:cNvPr id="4" name="Shape 2"/>
          <p:cNvSpPr/>
          <p:nvPr/>
        </p:nvSpPr>
        <p:spPr>
          <a:xfrm>
            <a:off x="548640" y="1828800"/>
            <a:ext cx="457200" cy="457200"/>
          </a:xfrm>
          <a:prstGeom prst="ellipse">
            <a:avLst/>
          </a:prstGeom>
          <a:solidFill>
            <a:srgbClr val="2F7359"/>
          </a:solidFill>
          <a:ln w="12700">
            <a:solidFill>
              <a:srgbClr val="2F7359"/>
            </a:solidFill>
            <a:prstDash val="solid"/>
          </a:ln>
        </p:spPr>
      </p:sp>
      <p:sp>
        <p:nvSpPr>
          <p:cNvPr id="5" name="Text 3"/>
          <p:cNvSpPr txBox="1"/>
          <p:nvPr/>
        </p:nvSpPr>
        <p:spPr>
          <a:xfrm>
            <a:off x="54864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6" name="Text 4"/>
          <p:cNvSpPr txBox="1"/>
          <p:nvPr/>
        </p:nvSpPr>
        <p:spPr>
          <a:xfrm>
            <a:off x="1234440" y="1783080"/>
            <a:ext cx="534924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From plank, shift forward and lower slowly for a count of four: eccentric</a:t>
            </a:r>
            <a:endParaRPr lang="en-US" sz="1800" dirty="0"/>
          </a:p>
        </p:txBody>
      </p:sp>
      <p:sp>
        <p:nvSpPr>
          <p:cNvPr id="7" name="Shape 5"/>
          <p:cNvSpPr/>
          <p:nvPr/>
        </p:nvSpPr>
        <p:spPr>
          <a:xfrm>
            <a:off x="548640" y="2743200"/>
            <a:ext cx="457200" cy="457200"/>
          </a:xfrm>
          <a:prstGeom prst="ellipse">
            <a:avLst/>
          </a:prstGeom>
          <a:solidFill>
            <a:srgbClr val="2F7359"/>
          </a:solidFill>
          <a:ln w="12700">
            <a:solidFill>
              <a:srgbClr val="2F7359"/>
            </a:solidFill>
            <a:prstDash val="solid"/>
          </a:ln>
        </p:spPr>
      </p:sp>
      <p:sp>
        <p:nvSpPr>
          <p:cNvPr id="8" name="Text 6"/>
          <p:cNvSpPr txBox="1"/>
          <p:nvPr/>
        </p:nvSpPr>
        <p:spPr>
          <a:xfrm>
            <a:off x="548640" y="27432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9" name="Text 7"/>
          <p:cNvSpPr txBox="1"/>
          <p:nvPr/>
        </p:nvSpPr>
        <p:spPr>
          <a:xfrm>
            <a:off x="1234440" y="2697480"/>
            <a:ext cx="534924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Pause halfway with shoulders at elbow height, hold three breaths: isometric</a:t>
            </a:r>
            <a:endParaRPr lang="en-US" sz="1800" dirty="0"/>
          </a:p>
        </p:txBody>
      </p:sp>
      <p:sp>
        <p:nvSpPr>
          <p:cNvPr id="10" name="Shape 8"/>
          <p:cNvSpPr/>
          <p:nvPr/>
        </p:nvSpPr>
        <p:spPr>
          <a:xfrm>
            <a:off x="548640" y="3657600"/>
            <a:ext cx="457200" cy="457200"/>
          </a:xfrm>
          <a:prstGeom prst="ellipse">
            <a:avLst/>
          </a:prstGeom>
          <a:solidFill>
            <a:srgbClr val="2F7359"/>
          </a:solidFill>
          <a:ln w="12700">
            <a:solidFill>
              <a:srgbClr val="2F7359"/>
            </a:solidFill>
            <a:prstDash val="solid"/>
          </a:ln>
        </p:spPr>
      </p:sp>
      <p:sp>
        <p:nvSpPr>
          <p:cNvPr id="11" name="Text 9"/>
          <p:cNvSpPr txBox="1"/>
          <p:nvPr/>
        </p:nvSpPr>
        <p:spPr>
          <a:xfrm>
            <a:off x="548640" y="36576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2" name="Text 10"/>
          <p:cNvSpPr txBox="1"/>
          <p:nvPr/>
        </p:nvSpPr>
        <p:spPr>
          <a:xfrm>
            <a:off x="1234440" y="3611880"/>
            <a:ext cx="534924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Press back up to plank with control: concentric</a:t>
            </a:r>
            <a:endParaRPr lang="en-US" sz="1800" dirty="0"/>
          </a:p>
        </p:txBody>
      </p:sp>
      <p:sp>
        <p:nvSpPr>
          <p:cNvPr id="13" name="Shape 11"/>
          <p:cNvSpPr/>
          <p:nvPr/>
        </p:nvSpPr>
        <p:spPr>
          <a:xfrm>
            <a:off x="548640" y="4572000"/>
            <a:ext cx="457200" cy="457200"/>
          </a:xfrm>
          <a:prstGeom prst="ellipse">
            <a:avLst/>
          </a:prstGeom>
          <a:solidFill>
            <a:srgbClr val="2F7359"/>
          </a:solidFill>
          <a:ln w="12700">
            <a:solidFill>
              <a:srgbClr val="2F7359"/>
            </a:solidFill>
            <a:prstDash val="solid"/>
          </a:ln>
        </p:spPr>
      </p:sp>
      <p:sp>
        <p:nvSpPr>
          <p:cNvPr id="14" name="Text 12"/>
          <p:cNvSpPr txBox="1"/>
          <p:nvPr/>
        </p:nvSpPr>
        <p:spPr>
          <a:xfrm>
            <a:off x="548640" y="45720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15" name="Text 13"/>
          <p:cNvSpPr txBox="1"/>
          <p:nvPr/>
        </p:nvSpPr>
        <p:spPr>
          <a:xfrm>
            <a:off x="1234440" y="4526280"/>
            <a:ext cx="534924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Repeat with knees down and notice the lighter load</a:t>
            </a:r>
            <a:endParaRPr lang="en-US" sz="1800" dirty="0"/>
          </a:p>
        </p:txBody>
      </p:sp>
      <p:sp>
        <p:nvSpPr>
          <p:cNvPr id="16" name="Shape 14"/>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17" name="Image 0" descr="Lower, pause, press: three contraction types">    </p:cNvPr>
          <p:cNvPicPr>
            <a:picLocks noChangeAspect="1"/>
          </p:cNvPicPr>
          <p:nvPr/>
        </p:nvPicPr>
        <p:blipFill>
          <a:blip r:embed="rId1"/>
          <a:stretch>
            <a:fillRect/>
          </a:stretch>
        </p:blipFill>
        <p:spPr>
          <a:xfrm>
            <a:off x="7086600" y="2416207"/>
            <a:ext cx="4389120" cy="2629090"/>
          </a:xfrm>
          <a:prstGeom prst="rect">
            <a:avLst/>
          </a:prstGeom>
        </p:spPr>
      </p:pic>
      <p:sp>
        <p:nvSpPr>
          <p:cNvPr id="18" name="Text 15"/>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11  </a:t>
            </a:r>
            <a:pPr indent="0" marL="0">
              <a:buNone/>
            </a:pPr>
            <a:r>
              <a:rPr lang="en-US" sz="1100" dirty="0">
                <a:solidFill>
                  <a:srgbClr val="55707A"/>
                </a:solidFill>
                <a:latin typeface="Calibri" pitchFamily="34" charset="0"/>
                <a:ea typeface="Calibri" pitchFamily="34" charset="-122"/>
                <a:cs typeface="Calibri" pitchFamily="34" charset="-120"/>
              </a:rPr>
              <a:t>Lower, pause, press: three contraction types</a:t>
            </a:r>
            <a:endParaRPr lang="en-US" sz="1100" dirty="0"/>
          </a:p>
        </p:txBody>
      </p:sp>
      <p:sp>
        <p:nvSpPr>
          <p:cNvPr id="19" name="Text 16"/>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20" name="Text 17"/>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F2E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4.2  ·  CHECK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A student lowers slowly from plank into Chaturanga. What are the triceps doing?</a:t>
            </a:r>
            <a:endParaRPr lang="en-US" sz="3000" dirty="0"/>
          </a:p>
        </p:txBody>
      </p:sp>
      <p:sp>
        <p:nvSpPr>
          <p:cNvPr id="4" name="Shape 2"/>
          <p:cNvSpPr/>
          <p:nvPr/>
        </p:nvSpPr>
        <p:spPr>
          <a:xfrm>
            <a:off x="548640" y="2057400"/>
            <a:ext cx="7863840" cy="777240"/>
          </a:xfrm>
          <a:prstGeom prst="roundRect">
            <a:avLst>
              <a:gd name="adj" fmla="val 11765"/>
            </a:avLst>
          </a:prstGeom>
          <a:solidFill>
            <a:srgbClr val="FFFFFF"/>
          </a:solidFill>
          <a:ln w="12700">
            <a:solidFill>
              <a:srgbClr val="C6D4CF"/>
            </a:solidFill>
            <a:prstDash val="solid"/>
          </a:ln>
        </p:spPr>
      </p:sp>
      <p:sp>
        <p:nvSpPr>
          <p:cNvPr id="5" name="Shape 3"/>
          <p:cNvSpPr/>
          <p:nvPr/>
        </p:nvSpPr>
        <p:spPr>
          <a:xfrm>
            <a:off x="731520" y="2212848"/>
            <a:ext cx="457200" cy="457200"/>
          </a:xfrm>
          <a:prstGeom prst="ellipse">
            <a:avLst/>
          </a:prstGeom>
          <a:solidFill>
            <a:srgbClr val="16303A"/>
          </a:solidFill>
          <a:ln w="12700">
            <a:solidFill>
              <a:srgbClr val="16303A"/>
            </a:solidFill>
            <a:prstDash val="solid"/>
          </a:ln>
        </p:spPr>
      </p:sp>
      <p:sp>
        <p:nvSpPr>
          <p:cNvPr id="6" name="Text 4"/>
          <p:cNvSpPr txBox="1"/>
          <p:nvPr/>
        </p:nvSpPr>
        <p:spPr>
          <a:xfrm>
            <a:off x="731520" y="221284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A</a:t>
            </a:r>
            <a:endParaRPr lang="en-US" sz="1400" dirty="0"/>
          </a:p>
        </p:txBody>
      </p:sp>
      <p:sp>
        <p:nvSpPr>
          <p:cNvPr id="7" name="Text 5"/>
          <p:cNvSpPr txBox="1"/>
          <p:nvPr/>
        </p:nvSpPr>
        <p:spPr>
          <a:xfrm>
            <a:off x="1371600" y="2057400"/>
            <a:ext cx="6858000" cy="777240"/>
          </a:xfrm>
          <a:prstGeom prst="rect">
            <a:avLst/>
          </a:prstGeom>
          <a:noFill/>
          <a:ln/>
        </p:spPr>
        <p:txBody>
          <a:bodyPr wrap="square" lIns="0" tIns="0" rIns="0" bIns="0" rtlCol="0" anchor="ctr">
            <a:normAutofit/>
          </a:bodyPr>
          <a:lstStyle/>
          <a:p>
            <a:pPr indent="0" marL="0">
              <a:buNone/>
            </a:pPr>
            <a:r>
              <a:rPr lang="en-US" sz="1700" dirty="0">
                <a:solidFill>
                  <a:srgbClr val="16303A"/>
                </a:solidFill>
                <a:latin typeface="Calibri" pitchFamily="34" charset="0"/>
                <a:ea typeface="Calibri" pitchFamily="34" charset="-122"/>
                <a:cs typeface="Calibri" pitchFamily="34" charset="-120"/>
              </a:rPr>
              <a:t>Relaxing, because the elbows are bending</a:t>
            </a:r>
            <a:endParaRPr lang="en-US" sz="1700" dirty="0"/>
          </a:p>
        </p:txBody>
      </p:sp>
      <p:sp>
        <p:nvSpPr>
          <p:cNvPr id="8" name="Shape 6"/>
          <p:cNvSpPr/>
          <p:nvPr/>
        </p:nvSpPr>
        <p:spPr>
          <a:xfrm>
            <a:off x="548640" y="3017520"/>
            <a:ext cx="7863840" cy="777240"/>
          </a:xfrm>
          <a:prstGeom prst="roundRect">
            <a:avLst>
              <a:gd name="adj" fmla="val 11765"/>
            </a:avLst>
          </a:prstGeom>
          <a:solidFill>
            <a:srgbClr val="FFFFFF"/>
          </a:solidFill>
          <a:ln w="12700">
            <a:solidFill>
              <a:srgbClr val="C6D4CF"/>
            </a:solidFill>
            <a:prstDash val="solid"/>
          </a:ln>
        </p:spPr>
      </p:sp>
      <p:sp>
        <p:nvSpPr>
          <p:cNvPr id="9" name="Shape 7"/>
          <p:cNvSpPr/>
          <p:nvPr/>
        </p:nvSpPr>
        <p:spPr>
          <a:xfrm>
            <a:off x="731520" y="3172968"/>
            <a:ext cx="457200" cy="457200"/>
          </a:xfrm>
          <a:prstGeom prst="ellipse">
            <a:avLst/>
          </a:prstGeom>
          <a:solidFill>
            <a:srgbClr val="16303A"/>
          </a:solidFill>
          <a:ln w="12700">
            <a:solidFill>
              <a:srgbClr val="16303A"/>
            </a:solidFill>
            <a:prstDash val="solid"/>
          </a:ln>
        </p:spPr>
      </p:sp>
      <p:sp>
        <p:nvSpPr>
          <p:cNvPr id="10" name="Text 8"/>
          <p:cNvSpPr txBox="1"/>
          <p:nvPr/>
        </p:nvSpPr>
        <p:spPr>
          <a:xfrm>
            <a:off x="731520" y="317296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B</a:t>
            </a:r>
            <a:endParaRPr lang="en-US" sz="1400" dirty="0"/>
          </a:p>
        </p:txBody>
      </p:sp>
      <p:sp>
        <p:nvSpPr>
          <p:cNvPr id="11" name="Text 9"/>
          <p:cNvSpPr txBox="1"/>
          <p:nvPr/>
        </p:nvSpPr>
        <p:spPr>
          <a:xfrm>
            <a:off x="1371600" y="3017520"/>
            <a:ext cx="6858000" cy="777240"/>
          </a:xfrm>
          <a:prstGeom prst="rect">
            <a:avLst/>
          </a:prstGeom>
          <a:noFill/>
          <a:ln/>
        </p:spPr>
        <p:txBody>
          <a:bodyPr wrap="square" lIns="0" tIns="0" rIns="0" bIns="0" rtlCol="0" anchor="ctr">
            <a:normAutofit/>
          </a:bodyPr>
          <a:lstStyle/>
          <a:p>
            <a:pPr indent="0" marL="0">
              <a:buNone/>
            </a:pPr>
            <a:r>
              <a:rPr lang="en-US" sz="1700" dirty="0">
                <a:solidFill>
                  <a:srgbClr val="16303A"/>
                </a:solidFill>
                <a:latin typeface="Calibri" pitchFamily="34" charset="0"/>
                <a:ea typeface="Calibri" pitchFamily="34" charset="-122"/>
                <a:cs typeface="Calibri" pitchFamily="34" charset="-120"/>
              </a:rPr>
              <a:t>Contracting concentrically</a:t>
            </a:r>
            <a:endParaRPr lang="en-US" sz="1700" dirty="0"/>
          </a:p>
        </p:txBody>
      </p:sp>
      <p:sp>
        <p:nvSpPr>
          <p:cNvPr id="12" name="Shape 10"/>
          <p:cNvSpPr/>
          <p:nvPr/>
        </p:nvSpPr>
        <p:spPr>
          <a:xfrm>
            <a:off x="548640" y="3977640"/>
            <a:ext cx="7863840" cy="777240"/>
          </a:xfrm>
          <a:prstGeom prst="roundRect">
            <a:avLst>
              <a:gd name="adj" fmla="val 11765"/>
            </a:avLst>
          </a:prstGeom>
          <a:solidFill>
            <a:srgbClr val="FFFFFF"/>
          </a:solidFill>
          <a:ln w="12700">
            <a:solidFill>
              <a:srgbClr val="C6D4CF"/>
            </a:solidFill>
            <a:prstDash val="solid"/>
          </a:ln>
        </p:spPr>
      </p:sp>
      <p:sp>
        <p:nvSpPr>
          <p:cNvPr id="13" name="Shape 11"/>
          <p:cNvSpPr/>
          <p:nvPr/>
        </p:nvSpPr>
        <p:spPr>
          <a:xfrm>
            <a:off x="731520" y="4133088"/>
            <a:ext cx="457200" cy="457200"/>
          </a:xfrm>
          <a:prstGeom prst="ellipse">
            <a:avLst/>
          </a:prstGeom>
          <a:solidFill>
            <a:srgbClr val="16303A"/>
          </a:solidFill>
          <a:ln w="12700">
            <a:solidFill>
              <a:srgbClr val="16303A"/>
            </a:solidFill>
            <a:prstDash val="solid"/>
          </a:ln>
        </p:spPr>
      </p:sp>
      <p:sp>
        <p:nvSpPr>
          <p:cNvPr id="14" name="Text 12"/>
          <p:cNvSpPr txBox="1"/>
          <p:nvPr/>
        </p:nvSpPr>
        <p:spPr>
          <a:xfrm>
            <a:off x="731520" y="413308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C</a:t>
            </a:r>
            <a:endParaRPr lang="en-US" sz="1400" dirty="0"/>
          </a:p>
        </p:txBody>
      </p:sp>
      <p:sp>
        <p:nvSpPr>
          <p:cNvPr id="15" name="Text 13"/>
          <p:cNvSpPr txBox="1"/>
          <p:nvPr/>
        </p:nvSpPr>
        <p:spPr>
          <a:xfrm>
            <a:off x="1371600" y="3977640"/>
            <a:ext cx="6858000" cy="777240"/>
          </a:xfrm>
          <a:prstGeom prst="rect">
            <a:avLst/>
          </a:prstGeom>
          <a:noFill/>
          <a:ln/>
        </p:spPr>
        <p:txBody>
          <a:bodyPr wrap="square" lIns="0" tIns="0" rIns="0" bIns="0" rtlCol="0" anchor="ctr">
            <a:normAutofit/>
          </a:bodyPr>
          <a:lstStyle/>
          <a:p>
            <a:pPr indent="0" marL="0">
              <a:buNone/>
            </a:pPr>
            <a:r>
              <a:rPr lang="en-US" sz="1700" dirty="0">
                <a:solidFill>
                  <a:srgbClr val="16303A"/>
                </a:solidFill>
                <a:latin typeface="Calibri" pitchFamily="34" charset="0"/>
                <a:ea typeface="Calibri" pitchFamily="34" charset="-122"/>
                <a:cs typeface="Calibri" pitchFamily="34" charset="-120"/>
              </a:rPr>
              <a:t>Contracting eccentrically, lengthening under control</a:t>
            </a:r>
            <a:endParaRPr lang="en-US" sz="1700" dirty="0"/>
          </a:p>
        </p:txBody>
      </p:sp>
      <p:sp>
        <p:nvSpPr>
          <p:cNvPr id="16" name="Text 14"/>
          <p:cNvSpPr txBox="1"/>
          <p:nvPr/>
        </p:nvSpPr>
        <p:spPr>
          <a:xfrm>
            <a:off x="8778240" y="2194560"/>
            <a:ext cx="2834640" cy="1280160"/>
          </a:xfrm>
          <a:prstGeom prst="rect">
            <a:avLst/>
          </a:prstGeom>
          <a:noFill/>
          <a:ln/>
        </p:spPr>
        <p:txBody>
          <a:bodyPr wrap="square" lIns="0" tIns="0" rIns="0" bIns="0" rtlCol="0" anchor="ctr"/>
          <a:lstStyle/>
          <a:p>
            <a:pPr indent="0" marL="0">
              <a:buNone/>
            </a:pPr>
            <a:r>
              <a:rPr lang="en-US" sz="1800" i="1" dirty="0">
                <a:solidFill>
                  <a:srgbClr val="55707A"/>
                </a:solidFill>
                <a:latin typeface="Cambria" pitchFamily="34" charset="0"/>
                <a:ea typeface="Cambria" pitchFamily="34" charset="-122"/>
                <a:cs typeface="Cambria" pitchFamily="34" charset="-120"/>
              </a:rPr>
              <a:t>Pause the video and choose before you move on.</a:t>
            </a:r>
            <a:endParaRPr lang="en-US" sz="1800" dirty="0"/>
          </a:p>
        </p:txBody>
      </p:sp>
      <p:sp>
        <p:nvSpPr>
          <p:cNvPr id="17" name="Text 15"/>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8" name="Text 16"/>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4.2  ·  CHECK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Answer</a:t>
            </a:r>
            <a:endParaRPr lang="en-US" sz="3000" dirty="0"/>
          </a:p>
        </p:txBody>
      </p:sp>
      <p:sp>
        <p:nvSpPr>
          <p:cNvPr id="4" name="Shape 2"/>
          <p:cNvSpPr/>
          <p:nvPr/>
        </p:nvSpPr>
        <p:spPr>
          <a:xfrm>
            <a:off x="548640" y="1737360"/>
            <a:ext cx="11064240" cy="1097280"/>
          </a:xfrm>
          <a:prstGeom prst="roundRect">
            <a:avLst>
              <a:gd name="adj" fmla="val 10000"/>
            </a:avLst>
          </a:prstGeom>
          <a:solidFill>
            <a:srgbClr val="D5E9DF"/>
          </a:solidFill>
          <a:ln w="19050">
            <a:solidFill>
              <a:srgbClr val="2F7359"/>
            </a:solidFill>
            <a:prstDash val="solid"/>
          </a:ln>
        </p:spPr>
      </p:sp>
      <p:sp>
        <p:nvSpPr>
          <p:cNvPr id="5" name="Shape 3"/>
          <p:cNvSpPr/>
          <p:nvPr/>
        </p:nvSpPr>
        <p:spPr>
          <a:xfrm>
            <a:off x="777240" y="2011680"/>
            <a:ext cx="548640" cy="548640"/>
          </a:xfrm>
          <a:prstGeom prst="ellipse">
            <a:avLst/>
          </a:prstGeom>
          <a:solidFill>
            <a:srgbClr val="2F7359"/>
          </a:solidFill>
          <a:ln w="12700">
            <a:solidFill>
              <a:srgbClr val="2F7359"/>
            </a:solidFill>
            <a:prstDash val="solid"/>
          </a:ln>
        </p:spPr>
      </p:sp>
      <p:sp>
        <p:nvSpPr>
          <p:cNvPr id="6" name="Text 4"/>
          <p:cNvSpPr txBox="1"/>
          <p:nvPr/>
        </p:nvSpPr>
        <p:spPr>
          <a:xfrm>
            <a:off x="777240" y="2011680"/>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C</a:t>
            </a:r>
            <a:endParaRPr lang="en-US" sz="1400" dirty="0"/>
          </a:p>
        </p:txBody>
      </p:sp>
      <p:sp>
        <p:nvSpPr>
          <p:cNvPr id="7" name="Text 5"/>
          <p:cNvSpPr txBox="1"/>
          <p:nvPr/>
        </p:nvSpPr>
        <p:spPr>
          <a:xfrm>
            <a:off x="1554480" y="1737360"/>
            <a:ext cx="9875520" cy="1097280"/>
          </a:xfrm>
          <a:prstGeom prst="rect">
            <a:avLst/>
          </a:prstGeom>
          <a:noFill/>
          <a:ln/>
        </p:spPr>
        <p:txBody>
          <a:bodyPr wrap="square" lIns="0" tIns="0" rIns="0" bIns="0" rtlCol="0" anchor="ctr">
            <a:normAutofit/>
          </a:bodyPr>
          <a:lstStyle/>
          <a:p>
            <a:pPr indent="0" marL="0">
              <a:buNone/>
            </a:pPr>
            <a:r>
              <a:rPr lang="en-US" sz="2200" b="1" dirty="0">
                <a:solidFill>
                  <a:srgbClr val="16303A"/>
                </a:solidFill>
                <a:latin typeface="Cambria" pitchFamily="34" charset="0"/>
                <a:ea typeface="Cambria" pitchFamily="34" charset="-122"/>
                <a:cs typeface="Cambria" pitchFamily="34" charset="-120"/>
              </a:rPr>
              <a:t>Contracting eccentrically, lengthening under control</a:t>
            </a:r>
            <a:endParaRPr lang="en-US" sz="2200" dirty="0"/>
          </a:p>
        </p:txBody>
      </p:sp>
      <p:sp>
        <p:nvSpPr>
          <p:cNvPr id="8" name="Text 6"/>
          <p:cNvSpPr txBox="1"/>
          <p:nvPr/>
        </p:nvSpPr>
        <p:spPr>
          <a:xfrm>
            <a:off x="548640" y="3108960"/>
            <a:ext cx="11064240" cy="12801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Gravity is bending the elbows and the triceps lengthen while working to control the descent, which is an eccentric contraction.</a:t>
            </a:r>
            <a:endParaRPr lang="en-US" sz="1800" dirty="0"/>
          </a:p>
        </p:txBody>
      </p:sp>
      <p:sp>
        <p:nvSpPr>
          <p:cNvPr id="9" name="Text 7"/>
          <p:cNvSpPr txBox="1"/>
          <p:nvPr/>
        </p:nvSpPr>
        <p:spPr>
          <a:xfrm>
            <a:off x="548640" y="4754880"/>
            <a:ext cx="11064240" cy="731520"/>
          </a:xfrm>
          <a:prstGeom prst="rect">
            <a:avLst/>
          </a:prstGeom>
          <a:noFill/>
          <a:ln/>
        </p:spPr>
        <p:txBody>
          <a:bodyPr wrap="square" lIns="0" tIns="0" rIns="0" bIns="0" rtlCol="0" anchor="t">
            <a:normAutofit/>
          </a:bodyPr>
          <a:lstStyle/>
          <a:p>
            <a:pPr indent="0" marL="0">
              <a:buNone/>
            </a:pPr>
            <a:r>
              <a:rPr lang="en-US" sz="1200" dirty="0">
                <a:solidFill>
                  <a:srgbClr val="55707A"/>
                </a:solidFill>
                <a:latin typeface="Calibri" pitchFamily="34" charset="0"/>
                <a:ea typeface="Calibri" pitchFamily="34" charset="-122"/>
                <a:cs typeface="Calibri" pitchFamily="34" charset="-120"/>
              </a:rPr>
              <a:t>Question: A student lowers slowly from plank into Chaturanga. What are the triceps doing?</a:t>
            </a:r>
            <a:endParaRPr lang="en-US" sz="1200" dirty="0"/>
          </a:p>
        </p:txBody>
      </p:sp>
      <p:sp>
        <p:nvSpPr>
          <p:cNvPr id="10" name="Text 8"/>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1" name="Text 9"/>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6303A"/>
        </a:solidFill>
      </p:bgPr>
    </p:bg>
    <p:spTree>
      <p:nvGrpSpPr>
        <p:cNvPr id="1" name=""/>
        <p:cNvGrpSpPr/>
        <p:nvPr/>
      </p:nvGrpSpPr>
      <p:grpSpPr>
        <a:xfrm>
          <a:off x="0" y="0"/>
          <a:ext cx="0" cy="0"/>
          <a:chOff x="0" y="0"/>
          <a:chExt cx="0" cy="0"/>
        </a:xfrm>
      </p:grpSpPr>
      <p:sp>
        <p:nvSpPr>
          <p:cNvPr id="2" name="Shape 0"/>
          <p:cNvSpPr/>
          <p:nvPr/>
        </p:nvSpPr>
        <p:spPr>
          <a:xfrm>
            <a:off x="548640" y="1463040"/>
            <a:ext cx="1371600" cy="1371600"/>
          </a:xfrm>
          <a:prstGeom prst="ellipse">
            <a:avLst/>
          </a:prstGeom>
          <a:solidFill>
            <a:srgbClr val="B3304C"/>
          </a:solidFill>
          <a:ln w="12700">
            <a:solidFill>
              <a:srgbClr val="B3304C"/>
            </a:solidFill>
            <a:prstDash val="solid"/>
          </a:ln>
        </p:spPr>
      </p:sp>
      <p:sp>
        <p:nvSpPr>
          <p:cNvPr id="3" name="Text 1"/>
          <p:cNvSpPr txBox="1"/>
          <p:nvPr/>
        </p:nvSpPr>
        <p:spPr>
          <a:xfrm>
            <a:off x="548640" y="1463040"/>
            <a:ext cx="1371600" cy="137160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4.3</a:t>
            </a:r>
            <a:endParaRPr lang="en-US" sz="3000" dirty="0"/>
          </a:p>
        </p:txBody>
      </p:sp>
      <p:sp>
        <p:nvSpPr>
          <p:cNvPr id="4" name="Text 2"/>
          <p:cNvSpPr txBox="1"/>
          <p:nvPr/>
        </p:nvSpPr>
        <p:spPr>
          <a:xfrm>
            <a:off x="2286000" y="1508760"/>
            <a:ext cx="7315200" cy="320040"/>
          </a:xfrm>
          <a:prstGeom prst="rect">
            <a:avLst/>
          </a:prstGeom>
          <a:noFill/>
          <a:ln/>
        </p:spPr>
        <p:txBody>
          <a:bodyPr wrap="square" lIns="0" tIns="0" rIns="0" bIns="0" rtlCol="0" anchor="ctr"/>
          <a:lstStyle/>
          <a:p>
            <a:pPr indent="0" marL="0">
              <a:buNone/>
            </a:pPr>
            <a:r>
              <a:rPr lang="en-US" sz="1300" b="1" spc="300" kern="0" dirty="0">
                <a:solidFill>
                  <a:srgbClr val="CBB78C"/>
                </a:solidFill>
                <a:latin typeface="Calibri" pitchFamily="34" charset="0"/>
                <a:ea typeface="Calibri" pitchFamily="34" charset="-122"/>
                <a:cs typeface="Calibri" pitchFamily="34" charset="-120"/>
              </a:rPr>
              <a:t>LESSON 4.3  ·  25 MIN</a:t>
            </a:r>
            <a:endParaRPr lang="en-US" sz="1300" dirty="0"/>
          </a:p>
        </p:txBody>
      </p:sp>
      <p:sp>
        <p:nvSpPr>
          <p:cNvPr id="5" name="Text 3"/>
          <p:cNvSpPr txBox="1"/>
          <p:nvPr/>
        </p:nvSpPr>
        <p:spPr>
          <a:xfrm>
            <a:off x="2286000" y="1874520"/>
            <a:ext cx="9052560" cy="1463040"/>
          </a:xfrm>
          <a:prstGeom prst="rect">
            <a:avLst/>
          </a:prstGeom>
          <a:noFill/>
          <a:ln/>
        </p:spPr>
        <p:txBody>
          <a:bodyPr wrap="square" lIns="0" tIns="0" rIns="0" bIns="0" rtlCol="0" anchor="t">
            <a:normAutofit/>
          </a:bodyPr>
          <a:lstStyle/>
          <a:p>
            <a:pPr indent="0" marL="0">
              <a:buNone/>
            </a:pPr>
            <a:r>
              <a:rPr lang="en-US" sz="3600" b="1" dirty="0">
                <a:solidFill>
                  <a:srgbClr val="FFFFFF"/>
                </a:solidFill>
                <a:latin typeface="Cambria" pitchFamily="34" charset="0"/>
                <a:ea typeface="Cambria" pitchFamily="34" charset="-122"/>
                <a:cs typeface="Cambria" pitchFamily="34" charset="-120"/>
              </a:rPr>
              <a:t>Agonist, antagonist, synergist and stabilizer</a:t>
            </a:r>
            <a:endParaRPr lang="en-US" sz="3600" dirty="0"/>
          </a:p>
        </p:txBody>
      </p:sp>
      <p:sp>
        <p:nvSpPr>
          <p:cNvPr id="6" name="Shape 4"/>
          <p:cNvSpPr/>
          <p:nvPr/>
        </p:nvSpPr>
        <p:spPr>
          <a:xfrm>
            <a:off x="2286000" y="3931920"/>
            <a:ext cx="1965960" cy="566928"/>
          </a:xfrm>
          <a:prstGeom prst="roundRect">
            <a:avLst>
              <a:gd name="adj" fmla="val 48387"/>
            </a:avLst>
          </a:prstGeom>
          <a:solidFill>
            <a:srgbClr val="22414D"/>
          </a:solidFill>
          <a:ln w="12700">
            <a:solidFill>
              <a:srgbClr val="3B5A66"/>
            </a:solidFill>
            <a:prstDash val="solid"/>
          </a:ln>
        </p:spPr>
      </p:sp>
      <p:sp>
        <p:nvSpPr>
          <p:cNvPr id="7" name="Text 5"/>
          <p:cNvSpPr txBox="1"/>
          <p:nvPr/>
        </p:nvSpPr>
        <p:spPr>
          <a:xfrm>
            <a:off x="228600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See it</a:t>
            </a:r>
            <a:endParaRPr lang="en-US" sz="1400" dirty="0"/>
          </a:p>
        </p:txBody>
      </p:sp>
      <p:sp>
        <p:nvSpPr>
          <p:cNvPr id="8" name="Shape 6"/>
          <p:cNvSpPr/>
          <p:nvPr/>
        </p:nvSpPr>
        <p:spPr>
          <a:xfrm>
            <a:off x="4434840" y="3931920"/>
            <a:ext cx="1965960" cy="566928"/>
          </a:xfrm>
          <a:prstGeom prst="roundRect">
            <a:avLst>
              <a:gd name="adj" fmla="val 48387"/>
            </a:avLst>
          </a:prstGeom>
          <a:solidFill>
            <a:srgbClr val="22414D"/>
          </a:solidFill>
          <a:ln w="12700">
            <a:solidFill>
              <a:srgbClr val="3B5A66"/>
            </a:solidFill>
            <a:prstDash val="solid"/>
          </a:ln>
        </p:spPr>
      </p:sp>
      <p:sp>
        <p:nvSpPr>
          <p:cNvPr id="9" name="Text 7"/>
          <p:cNvSpPr txBox="1"/>
          <p:nvPr/>
        </p:nvSpPr>
        <p:spPr>
          <a:xfrm>
            <a:off x="443484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Feel it</a:t>
            </a:r>
            <a:endParaRPr lang="en-US" sz="1400" dirty="0"/>
          </a:p>
        </p:txBody>
      </p:sp>
      <p:sp>
        <p:nvSpPr>
          <p:cNvPr id="10" name="Shape 8"/>
          <p:cNvSpPr/>
          <p:nvPr/>
        </p:nvSpPr>
        <p:spPr>
          <a:xfrm>
            <a:off x="6583680" y="3931920"/>
            <a:ext cx="1965960" cy="566928"/>
          </a:xfrm>
          <a:prstGeom prst="roundRect">
            <a:avLst>
              <a:gd name="adj" fmla="val 48387"/>
            </a:avLst>
          </a:prstGeom>
          <a:solidFill>
            <a:srgbClr val="22414D"/>
          </a:solidFill>
          <a:ln w="12700">
            <a:solidFill>
              <a:srgbClr val="3B5A66"/>
            </a:solidFill>
            <a:prstDash val="solid"/>
          </a:ln>
        </p:spPr>
      </p:sp>
      <p:sp>
        <p:nvSpPr>
          <p:cNvPr id="11" name="Text 9"/>
          <p:cNvSpPr txBox="1"/>
          <p:nvPr/>
        </p:nvSpPr>
        <p:spPr>
          <a:xfrm>
            <a:off x="658368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Cue it</a:t>
            </a:r>
            <a:endParaRPr lang="en-US" sz="1400" dirty="0"/>
          </a:p>
        </p:txBody>
      </p:sp>
      <p:sp>
        <p:nvSpPr>
          <p:cNvPr id="12" name="Shape 10"/>
          <p:cNvSpPr/>
          <p:nvPr/>
        </p:nvSpPr>
        <p:spPr>
          <a:xfrm>
            <a:off x="8732520" y="3931920"/>
            <a:ext cx="1965960" cy="566928"/>
          </a:xfrm>
          <a:prstGeom prst="roundRect">
            <a:avLst>
              <a:gd name="adj" fmla="val 48387"/>
            </a:avLst>
          </a:prstGeom>
          <a:solidFill>
            <a:srgbClr val="22414D"/>
          </a:solidFill>
          <a:ln w="12700">
            <a:solidFill>
              <a:srgbClr val="3B5A66"/>
            </a:solidFill>
            <a:prstDash val="solid"/>
          </a:ln>
        </p:spPr>
      </p:sp>
      <p:sp>
        <p:nvSpPr>
          <p:cNvPr id="13" name="Text 11"/>
          <p:cNvSpPr txBox="1"/>
          <p:nvPr/>
        </p:nvSpPr>
        <p:spPr>
          <a:xfrm>
            <a:off x="873252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Check it</a:t>
            </a:r>
            <a:endParaRPr lang="en-US" sz="1400" dirty="0"/>
          </a:p>
        </p:txBody>
      </p:sp>
      <p:sp>
        <p:nvSpPr>
          <p:cNvPr id="14" name="Text 1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A9BFC6"/>
                </a:solidFill>
                <a:latin typeface="Calibri" pitchFamily="34" charset="0"/>
                <a:ea typeface="Calibri" pitchFamily="34" charset="-122"/>
                <a:cs typeface="Calibri" pitchFamily="34" charset="-120"/>
              </a:rPr>
              <a:t>Anatomy on the Mat  ·  Dr. Akash Garg, D.C.</a:t>
            </a:r>
            <a:endParaRPr lang="en-US" sz="900" dirty="0"/>
          </a:p>
        </p:txBody>
      </p:sp>
      <p:sp>
        <p:nvSpPr>
          <p:cNvPr id="15" name="Text 1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A9BFC6"/>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4.3</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Four roles in every movement</a:t>
            </a:r>
            <a:endParaRPr lang="en-US" sz="3000" dirty="0"/>
          </a:p>
        </p:txBody>
      </p:sp>
      <p:sp>
        <p:nvSpPr>
          <p:cNvPr id="4" name="Shape 2"/>
          <p:cNvSpPr/>
          <p:nvPr/>
        </p:nvSpPr>
        <p:spPr>
          <a:xfrm>
            <a:off x="548640" y="1984248"/>
            <a:ext cx="182880" cy="182880"/>
          </a:xfrm>
          <a:prstGeom prst="ellipse">
            <a:avLst/>
          </a:prstGeom>
          <a:solidFill>
            <a:srgbClr val="B3304C"/>
          </a:solidFill>
          <a:ln w="12700">
            <a:solidFill>
              <a:srgbClr val="B3304C"/>
            </a:solidFill>
            <a:prstDash val="solid"/>
          </a:ln>
        </p:spPr>
      </p:sp>
      <p:sp>
        <p:nvSpPr>
          <p:cNvPr id="5" name="Text 3"/>
          <p:cNvSpPr txBox="1"/>
          <p:nvPr/>
        </p:nvSpPr>
        <p:spPr>
          <a:xfrm>
            <a:off x="960120" y="1874520"/>
            <a:ext cx="443484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Agonist (prime mover): main muscle producing the movement</a:t>
            </a:r>
            <a:endParaRPr lang="en-US" sz="1900" dirty="0"/>
          </a:p>
        </p:txBody>
      </p:sp>
      <p:sp>
        <p:nvSpPr>
          <p:cNvPr id="6" name="Shape 4"/>
          <p:cNvSpPr/>
          <p:nvPr/>
        </p:nvSpPr>
        <p:spPr>
          <a:xfrm>
            <a:off x="548640" y="2916936"/>
            <a:ext cx="182880" cy="182880"/>
          </a:xfrm>
          <a:prstGeom prst="ellipse">
            <a:avLst/>
          </a:prstGeom>
          <a:solidFill>
            <a:srgbClr val="2F7359"/>
          </a:solidFill>
          <a:ln w="12700">
            <a:solidFill>
              <a:srgbClr val="2F7359"/>
            </a:solidFill>
            <a:prstDash val="solid"/>
          </a:ln>
        </p:spPr>
      </p:sp>
      <p:sp>
        <p:nvSpPr>
          <p:cNvPr id="7" name="Text 5"/>
          <p:cNvSpPr txBox="1"/>
          <p:nvPr/>
        </p:nvSpPr>
        <p:spPr>
          <a:xfrm>
            <a:off x="960120" y="2807208"/>
            <a:ext cx="443484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Antagonist: produces the opposite movement; usually lengthens</a:t>
            </a:r>
            <a:endParaRPr lang="en-US" sz="1900" dirty="0"/>
          </a:p>
        </p:txBody>
      </p:sp>
      <p:sp>
        <p:nvSpPr>
          <p:cNvPr id="8" name="Shape 6"/>
          <p:cNvSpPr/>
          <p:nvPr/>
        </p:nvSpPr>
        <p:spPr>
          <a:xfrm>
            <a:off x="548640" y="3849624"/>
            <a:ext cx="182880" cy="182880"/>
          </a:xfrm>
          <a:prstGeom prst="ellipse">
            <a:avLst/>
          </a:prstGeom>
          <a:solidFill>
            <a:srgbClr val="B3304C"/>
          </a:solidFill>
          <a:ln w="12700">
            <a:solidFill>
              <a:srgbClr val="B3304C"/>
            </a:solidFill>
            <a:prstDash val="solid"/>
          </a:ln>
        </p:spPr>
      </p:sp>
      <p:sp>
        <p:nvSpPr>
          <p:cNvPr id="9" name="Text 7"/>
          <p:cNvSpPr txBox="1"/>
          <p:nvPr/>
        </p:nvSpPr>
        <p:spPr>
          <a:xfrm>
            <a:off x="960120" y="3739896"/>
            <a:ext cx="443484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Synergist: assists the agonist or cancels unwanted motion</a:t>
            </a:r>
            <a:endParaRPr lang="en-US" sz="1900" dirty="0"/>
          </a:p>
        </p:txBody>
      </p:sp>
      <p:sp>
        <p:nvSpPr>
          <p:cNvPr id="10" name="Shape 8"/>
          <p:cNvSpPr/>
          <p:nvPr/>
        </p:nvSpPr>
        <p:spPr>
          <a:xfrm>
            <a:off x="548640" y="4782312"/>
            <a:ext cx="182880" cy="182880"/>
          </a:xfrm>
          <a:prstGeom prst="ellipse">
            <a:avLst/>
          </a:prstGeom>
          <a:solidFill>
            <a:srgbClr val="2F7359"/>
          </a:solidFill>
          <a:ln w="12700">
            <a:solidFill>
              <a:srgbClr val="2F7359"/>
            </a:solidFill>
            <a:prstDash val="solid"/>
          </a:ln>
        </p:spPr>
      </p:sp>
      <p:sp>
        <p:nvSpPr>
          <p:cNvPr id="11" name="Text 9"/>
          <p:cNvSpPr txBox="1"/>
          <p:nvPr/>
        </p:nvSpPr>
        <p:spPr>
          <a:xfrm>
            <a:off x="960120" y="4672584"/>
            <a:ext cx="443484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Stabilizer: holds a nearby joint steady so force transfers</a:t>
            </a:r>
            <a:endParaRPr lang="en-US" sz="1900" dirty="0"/>
          </a:p>
        </p:txBody>
      </p:sp>
      <p:sp>
        <p:nvSpPr>
          <p:cNvPr id="12" name="Shape 10"/>
          <p:cNvSpPr/>
          <p:nvPr/>
        </p:nvSpPr>
        <p:spPr>
          <a:xfrm>
            <a:off x="5623560" y="1737360"/>
            <a:ext cx="6035040" cy="4389120"/>
          </a:xfrm>
          <a:prstGeom prst="roundRect">
            <a:avLst>
              <a:gd name="adj" fmla="val 2500"/>
            </a:avLst>
          </a:prstGeom>
          <a:solidFill>
            <a:srgbClr val="F9FBFA"/>
          </a:solidFill>
          <a:ln w="12700">
            <a:solidFill>
              <a:srgbClr val="C6D4CF"/>
            </a:solidFill>
            <a:prstDash val="solid"/>
          </a:ln>
        </p:spPr>
      </p:sp>
      <p:pic>
        <p:nvPicPr>
          <p:cNvPr id="13" name="Image 0" descr="Muscle roles in bending the elbow">    </p:cNvPr>
          <p:cNvPicPr>
            <a:picLocks noChangeAspect="1"/>
          </p:cNvPicPr>
          <p:nvPr/>
        </p:nvPicPr>
        <p:blipFill>
          <a:blip r:embed="rId1"/>
          <a:stretch>
            <a:fillRect/>
          </a:stretch>
        </p:blipFill>
        <p:spPr>
          <a:xfrm>
            <a:off x="5806440" y="1959102"/>
            <a:ext cx="5669280" cy="3543300"/>
          </a:xfrm>
          <a:prstGeom prst="rect">
            <a:avLst/>
          </a:prstGeom>
        </p:spPr>
      </p:pic>
      <p:sp>
        <p:nvSpPr>
          <p:cNvPr id="14" name="Text 11"/>
          <p:cNvSpPr txBox="1"/>
          <p:nvPr/>
        </p:nvSpPr>
        <p:spPr>
          <a:xfrm>
            <a:off x="5806440" y="5623560"/>
            <a:ext cx="566928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12  </a:t>
            </a:r>
            <a:pPr indent="0" marL="0">
              <a:buNone/>
            </a:pPr>
            <a:r>
              <a:rPr lang="en-US" sz="1100" dirty="0">
                <a:solidFill>
                  <a:srgbClr val="55707A"/>
                </a:solidFill>
                <a:latin typeface="Calibri" pitchFamily="34" charset="0"/>
                <a:ea typeface="Calibri" pitchFamily="34" charset="-122"/>
                <a:cs typeface="Calibri" pitchFamily="34" charset="-120"/>
              </a:rPr>
              <a:t>Muscle roles in bending the elbow</a:t>
            </a:r>
            <a:endParaRPr lang="en-US" sz="1100" dirty="0"/>
          </a:p>
        </p:txBody>
      </p:sp>
      <p:sp>
        <p:nvSpPr>
          <p:cNvPr id="15" name="Text 1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6" name="Text 1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4.3</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Roles at the knee in Chair</a:t>
            </a:r>
            <a:endParaRPr lang="en-US" sz="3000" dirty="0"/>
          </a:p>
        </p:txBody>
      </p:sp>
      <p:sp>
        <p:nvSpPr>
          <p:cNvPr id="4" name="Shape 2"/>
          <p:cNvSpPr/>
          <p:nvPr/>
        </p:nvSpPr>
        <p:spPr>
          <a:xfrm>
            <a:off x="548640" y="1783080"/>
            <a:ext cx="3505200" cy="4297680"/>
          </a:xfrm>
          <a:prstGeom prst="roundRect">
            <a:avLst>
              <a:gd name="adj" fmla="val 3130"/>
            </a:avLst>
          </a:prstGeom>
          <a:solidFill>
            <a:srgbClr val="F1EADA"/>
          </a:solidFill>
          <a:ln w="12700">
            <a:solidFill>
              <a:srgbClr val="F1EADA"/>
            </a:solidFill>
            <a:prstDash val="solid"/>
          </a:ln>
        </p:spPr>
      </p:sp>
      <p:sp>
        <p:nvSpPr>
          <p:cNvPr id="5" name="Text 3"/>
          <p:cNvSpPr txBox="1"/>
          <p:nvPr/>
        </p:nvSpPr>
        <p:spPr>
          <a:xfrm>
            <a:off x="822960" y="1965960"/>
            <a:ext cx="2956560" cy="640080"/>
          </a:xfrm>
          <a:prstGeom prst="rect">
            <a:avLst/>
          </a:prstGeom>
          <a:noFill/>
          <a:ln/>
        </p:spPr>
        <p:txBody>
          <a:bodyPr wrap="square" lIns="0" tIns="0" rIns="0" bIns="0" rtlCol="0" anchor="t">
            <a:normAutofit/>
          </a:bodyPr>
          <a:lstStyle/>
          <a:p>
            <a:pPr indent="0" marL="0">
              <a:buNone/>
            </a:pPr>
            <a:r>
              <a:rPr lang="en-US" sz="2200" b="1" dirty="0">
                <a:solidFill>
                  <a:srgbClr val="16303A"/>
                </a:solidFill>
                <a:latin typeface="Cambria" pitchFamily="34" charset="0"/>
                <a:ea typeface="Cambria" pitchFamily="34" charset="-122"/>
                <a:cs typeface="Cambria" pitchFamily="34" charset="-120"/>
              </a:rPr>
              <a:t>Agonist</a:t>
            </a:r>
            <a:endParaRPr lang="en-US" sz="2200" dirty="0"/>
          </a:p>
        </p:txBody>
      </p:sp>
      <p:sp>
        <p:nvSpPr>
          <p:cNvPr id="6" name="Text 4"/>
          <p:cNvSpPr txBox="1"/>
          <p:nvPr/>
        </p:nvSpPr>
        <p:spPr>
          <a:xfrm>
            <a:off x="822960" y="2697480"/>
            <a:ext cx="2956560" cy="320040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Quadriceps</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Control knee bending and straightening</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Work in every phase</a:t>
            </a:r>
            <a:endParaRPr lang="en-US" sz="1700" dirty="0"/>
          </a:p>
        </p:txBody>
      </p:sp>
      <p:sp>
        <p:nvSpPr>
          <p:cNvPr id="7" name="Shape 5"/>
          <p:cNvSpPr/>
          <p:nvPr/>
        </p:nvSpPr>
        <p:spPr>
          <a:xfrm>
            <a:off x="4328160" y="1783080"/>
            <a:ext cx="3505200" cy="4297680"/>
          </a:xfrm>
          <a:prstGeom prst="roundRect">
            <a:avLst>
              <a:gd name="adj" fmla="val 3130"/>
            </a:avLst>
          </a:prstGeom>
          <a:solidFill>
            <a:srgbClr val="D5E9DF"/>
          </a:solidFill>
          <a:ln w="12700">
            <a:solidFill>
              <a:srgbClr val="D5E9DF"/>
            </a:solidFill>
            <a:prstDash val="solid"/>
          </a:ln>
        </p:spPr>
      </p:sp>
      <p:sp>
        <p:nvSpPr>
          <p:cNvPr id="8" name="Text 6"/>
          <p:cNvSpPr txBox="1"/>
          <p:nvPr/>
        </p:nvSpPr>
        <p:spPr>
          <a:xfrm>
            <a:off x="4602480" y="1965960"/>
            <a:ext cx="2956560" cy="640080"/>
          </a:xfrm>
          <a:prstGeom prst="rect">
            <a:avLst/>
          </a:prstGeom>
          <a:noFill/>
          <a:ln/>
        </p:spPr>
        <p:txBody>
          <a:bodyPr wrap="square" lIns="0" tIns="0" rIns="0" bIns="0" rtlCol="0" anchor="t">
            <a:normAutofit/>
          </a:bodyPr>
          <a:lstStyle/>
          <a:p>
            <a:pPr indent="0" marL="0">
              <a:buNone/>
            </a:pPr>
            <a:r>
              <a:rPr lang="en-US" sz="2200" b="1" dirty="0">
                <a:solidFill>
                  <a:srgbClr val="16303A"/>
                </a:solidFill>
                <a:latin typeface="Cambria" pitchFamily="34" charset="0"/>
                <a:ea typeface="Cambria" pitchFamily="34" charset="-122"/>
                <a:cs typeface="Cambria" pitchFamily="34" charset="-120"/>
              </a:rPr>
              <a:t>Antagonist</a:t>
            </a:r>
            <a:endParaRPr lang="en-US" sz="2200" dirty="0"/>
          </a:p>
        </p:txBody>
      </p:sp>
      <p:sp>
        <p:nvSpPr>
          <p:cNvPr id="9" name="Text 7"/>
          <p:cNvSpPr txBox="1"/>
          <p:nvPr/>
        </p:nvSpPr>
        <p:spPr>
          <a:xfrm>
            <a:off x="4602480" y="2697480"/>
            <a:ext cx="2956560" cy="320040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Hamstrings</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Opposite action at the knee</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Mostly quiet, lengthening a little</a:t>
            </a:r>
            <a:endParaRPr lang="en-US" sz="1700" dirty="0"/>
          </a:p>
        </p:txBody>
      </p:sp>
      <p:sp>
        <p:nvSpPr>
          <p:cNvPr id="10" name="Shape 8"/>
          <p:cNvSpPr/>
          <p:nvPr/>
        </p:nvSpPr>
        <p:spPr>
          <a:xfrm>
            <a:off x="8107680" y="1783080"/>
            <a:ext cx="3505200" cy="4297680"/>
          </a:xfrm>
          <a:prstGeom prst="roundRect">
            <a:avLst>
              <a:gd name="adj" fmla="val 3130"/>
            </a:avLst>
          </a:prstGeom>
          <a:solidFill>
            <a:srgbClr val="F3D9DE"/>
          </a:solidFill>
          <a:ln w="12700">
            <a:solidFill>
              <a:srgbClr val="F3D9DE"/>
            </a:solidFill>
            <a:prstDash val="solid"/>
          </a:ln>
        </p:spPr>
      </p:sp>
      <p:sp>
        <p:nvSpPr>
          <p:cNvPr id="11" name="Text 9"/>
          <p:cNvSpPr txBox="1"/>
          <p:nvPr/>
        </p:nvSpPr>
        <p:spPr>
          <a:xfrm>
            <a:off x="8382000" y="1965960"/>
            <a:ext cx="2956560" cy="640080"/>
          </a:xfrm>
          <a:prstGeom prst="rect">
            <a:avLst/>
          </a:prstGeom>
          <a:noFill/>
          <a:ln/>
        </p:spPr>
        <p:txBody>
          <a:bodyPr wrap="square" lIns="0" tIns="0" rIns="0" bIns="0" rtlCol="0" anchor="t">
            <a:normAutofit/>
          </a:bodyPr>
          <a:lstStyle/>
          <a:p>
            <a:pPr indent="0" marL="0">
              <a:buNone/>
            </a:pPr>
            <a:r>
              <a:rPr lang="en-US" sz="2200" b="1" dirty="0">
                <a:solidFill>
                  <a:srgbClr val="16303A"/>
                </a:solidFill>
                <a:latin typeface="Cambria" pitchFamily="34" charset="0"/>
                <a:ea typeface="Cambria" pitchFamily="34" charset="-122"/>
                <a:cs typeface="Cambria" pitchFamily="34" charset="-120"/>
              </a:rPr>
              <a:t>Stabilizers</a:t>
            </a:r>
            <a:endParaRPr lang="en-US" sz="2200" dirty="0"/>
          </a:p>
        </p:txBody>
      </p:sp>
      <p:sp>
        <p:nvSpPr>
          <p:cNvPr id="12" name="Text 10"/>
          <p:cNvSpPr txBox="1"/>
          <p:nvPr/>
        </p:nvSpPr>
        <p:spPr>
          <a:xfrm>
            <a:off x="8382000" y="2697480"/>
            <a:ext cx="2956560" cy="320040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Gluteus medius and deep hip rotators</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Keep knees tracking over toes</a:t>
            </a:r>
            <a:endParaRPr lang="en-US" sz="1700" dirty="0"/>
          </a:p>
        </p:txBody>
      </p:sp>
      <p:sp>
        <p:nvSpPr>
          <p:cNvPr id="13" name="Text 11"/>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4" name="Text 12"/>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4.3</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Roles belong to the movement</a:t>
            </a:r>
            <a:endParaRPr lang="en-US" sz="3000" dirty="0"/>
          </a:p>
        </p:txBody>
      </p:sp>
      <p:sp>
        <p:nvSpPr>
          <p:cNvPr id="4" name="Shape 2"/>
          <p:cNvSpPr/>
          <p:nvPr/>
        </p:nvSpPr>
        <p:spPr>
          <a:xfrm>
            <a:off x="548640" y="1984248"/>
            <a:ext cx="182880" cy="182880"/>
          </a:xfrm>
          <a:prstGeom prst="ellipse">
            <a:avLst/>
          </a:prstGeom>
          <a:solidFill>
            <a:srgbClr val="B3304C"/>
          </a:solidFill>
          <a:ln w="12700">
            <a:solidFill>
              <a:srgbClr val="B3304C"/>
            </a:solidFill>
            <a:prstDash val="solid"/>
          </a:ln>
        </p:spPr>
      </p:sp>
      <p:sp>
        <p:nvSpPr>
          <p:cNvPr id="5" name="Text 3"/>
          <p:cNvSpPr txBox="1"/>
          <p:nvPr/>
        </p:nvSpPr>
        <p:spPr>
          <a:xfrm>
            <a:off x="960120" y="1874520"/>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The same muscle can be agonist in one pose, antagonist in another</a:t>
            </a:r>
            <a:endParaRPr lang="en-US" sz="1900" dirty="0"/>
          </a:p>
        </p:txBody>
      </p:sp>
      <p:sp>
        <p:nvSpPr>
          <p:cNvPr id="6" name="Shape 4"/>
          <p:cNvSpPr/>
          <p:nvPr/>
        </p:nvSpPr>
        <p:spPr>
          <a:xfrm>
            <a:off x="548640" y="2916936"/>
            <a:ext cx="182880" cy="182880"/>
          </a:xfrm>
          <a:prstGeom prst="ellipse">
            <a:avLst/>
          </a:prstGeom>
          <a:solidFill>
            <a:srgbClr val="2F7359"/>
          </a:solidFill>
          <a:ln w="12700">
            <a:solidFill>
              <a:srgbClr val="2F7359"/>
            </a:solidFill>
            <a:prstDash val="solid"/>
          </a:ln>
        </p:spPr>
      </p:sp>
      <p:sp>
        <p:nvSpPr>
          <p:cNvPr id="7" name="Text 5"/>
          <p:cNvSpPr txBox="1"/>
          <p:nvPr/>
        </p:nvSpPr>
        <p:spPr>
          <a:xfrm>
            <a:off x="960120" y="2807208"/>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Biceps: agonist for elbow bending, antagonist for straightening</a:t>
            </a:r>
            <a:endParaRPr lang="en-US" sz="1900" dirty="0"/>
          </a:p>
        </p:txBody>
      </p:sp>
      <p:sp>
        <p:nvSpPr>
          <p:cNvPr id="8" name="Shape 6"/>
          <p:cNvSpPr/>
          <p:nvPr/>
        </p:nvSpPr>
        <p:spPr>
          <a:xfrm>
            <a:off x="548640" y="3849624"/>
            <a:ext cx="182880" cy="182880"/>
          </a:xfrm>
          <a:prstGeom prst="ellipse">
            <a:avLst/>
          </a:prstGeom>
          <a:solidFill>
            <a:srgbClr val="B3304C"/>
          </a:solidFill>
          <a:ln w="12700">
            <a:solidFill>
              <a:srgbClr val="B3304C"/>
            </a:solidFill>
            <a:prstDash val="solid"/>
          </a:ln>
        </p:spPr>
      </p:sp>
      <p:sp>
        <p:nvSpPr>
          <p:cNvPr id="9" name="Text 7"/>
          <p:cNvSpPr txBox="1"/>
          <p:nvPr/>
        </p:nvSpPr>
        <p:spPr>
          <a:xfrm>
            <a:off x="960120" y="3739896"/>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Two-joint muscles can play different roles at each joint</a:t>
            </a:r>
            <a:endParaRPr lang="en-US" sz="1900" dirty="0"/>
          </a:p>
        </p:txBody>
      </p:sp>
      <p:sp>
        <p:nvSpPr>
          <p:cNvPr id="10" name="Shape 8"/>
          <p:cNvSpPr/>
          <p:nvPr/>
        </p:nvSpPr>
        <p:spPr>
          <a:xfrm>
            <a:off x="548640" y="4782312"/>
            <a:ext cx="182880" cy="182880"/>
          </a:xfrm>
          <a:prstGeom prst="ellipse">
            <a:avLst/>
          </a:prstGeom>
          <a:solidFill>
            <a:srgbClr val="2F7359"/>
          </a:solidFill>
          <a:ln w="12700">
            <a:solidFill>
              <a:srgbClr val="2F7359"/>
            </a:solidFill>
            <a:prstDash val="solid"/>
          </a:ln>
        </p:spPr>
      </p:sp>
      <p:sp>
        <p:nvSpPr>
          <p:cNvPr id="11" name="Text 9"/>
          <p:cNvSpPr txBox="1"/>
          <p:nvPr/>
        </p:nvSpPr>
        <p:spPr>
          <a:xfrm>
            <a:off x="960120" y="4672584"/>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Always name the joint and the action first</a:t>
            </a:r>
            <a:endParaRPr lang="en-US" sz="1900" dirty="0"/>
          </a:p>
        </p:txBody>
      </p:sp>
      <p:sp>
        <p:nvSpPr>
          <p:cNvPr id="12" name="Shape 10"/>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13" name="Image 0" descr="Warrior II front leg: quadriceps control the bent knee while hip muscles stabilize">    </p:cNvPr>
          <p:cNvPicPr>
            <a:picLocks noChangeAspect="1"/>
          </p:cNvPicPr>
          <p:nvPr/>
        </p:nvPicPr>
        <p:blipFill>
          <a:blip r:embed="rId1"/>
          <a:stretch>
            <a:fillRect/>
          </a:stretch>
        </p:blipFill>
        <p:spPr>
          <a:xfrm>
            <a:off x="7185731" y="1901952"/>
            <a:ext cx="4190858" cy="3657600"/>
          </a:xfrm>
          <a:prstGeom prst="rect">
            <a:avLst/>
          </a:prstGeom>
        </p:spPr>
      </p:pic>
      <p:sp>
        <p:nvSpPr>
          <p:cNvPr id="14" name="Text 11"/>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13  </a:t>
            </a:r>
            <a:pPr indent="0" marL="0">
              <a:buNone/>
            </a:pPr>
            <a:r>
              <a:rPr lang="en-US" sz="1100" dirty="0">
                <a:solidFill>
                  <a:srgbClr val="55707A"/>
                </a:solidFill>
                <a:latin typeface="Calibri" pitchFamily="34" charset="0"/>
                <a:ea typeface="Calibri" pitchFamily="34" charset="-122"/>
                <a:cs typeface="Calibri" pitchFamily="34" charset="-120"/>
              </a:rPr>
              <a:t>Warrior II front leg: quadriceps control the bent knee while hip muscles stabilize</a:t>
            </a:r>
            <a:endParaRPr lang="en-US" sz="1100" dirty="0"/>
          </a:p>
        </p:txBody>
      </p:sp>
      <p:sp>
        <p:nvSpPr>
          <p:cNvPr id="15" name="Text 1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6" name="Text 1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4.3</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Stabilizers: the quiet workers</a:t>
            </a:r>
            <a:endParaRPr lang="en-US" sz="3000" dirty="0"/>
          </a:p>
        </p:txBody>
      </p:sp>
      <p:sp>
        <p:nvSpPr>
          <p:cNvPr id="4" name="Shape 2"/>
          <p:cNvSpPr/>
          <p:nvPr/>
        </p:nvSpPr>
        <p:spPr>
          <a:xfrm>
            <a:off x="548640" y="1984248"/>
            <a:ext cx="182880" cy="182880"/>
          </a:xfrm>
          <a:prstGeom prst="ellipse">
            <a:avLst/>
          </a:prstGeom>
          <a:solidFill>
            <a:srgbClr val="B3304C"/>
          </a:solidFill>
          <a:ln w="12700">
            <a:solidFill>
              <a:srgbClr val="B3304C"/>
            </a:solidFill>
            <a:prstDash val="solid"/>
          </a:ln>
        </p:spPr>
      </p:sp>
      <p:sp>
        <p:nvSpPr>
          <p:cNvPr id="5" name="Text 3"/>
          <p:cNvSpPr txBox="1"/>
          <p:nvPr/>
        </p:nvSpPr>
        <p:spPr>
          <a:xfrm>
            <a:off x="960120" y="1874520"/>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In Down Dog, serratus anterior holds the shoulder blades on the ribs</a:t>
            </a:r>
            <a:endParaRPr lang="en-US" sz="1900" dirty="0"/>
          </a:p>
        </p:txBody>
      </p:sp>
      <p:sp>
        <p:nvSpPr>
          <p:cNvPr id="6" name="Shape 4"/>
          <p:cNvSpPr/>
          <p:nvPr/>
        </p:nvSpPr>
        <p:spPr>
          <a:xfrm>
            <a:off x="548640" y="2916936"/>
            <a:ext cx="182880" cy="182880"/>
          </a:xfrm>
          <a:prstGeom prst="ellipse">
            <a:avLst/>
          </a:prstGeom>
          <a:solidFill>
            <a:srgbClr val="2F7359"/>
          </a:solidFill>
          <a:ln w="12700">
            <a:solidFill>
              <a:srgbClr val="2F7359"/>
            </a:solidFill>
            <a:prstDash val="solid"/>
          </a:ln>
        </p:spPr>
      </p:sp>
      <p:sp>
        <p:nvSpPr>
          <p:cNvPr id="7" name="Text 5"/>
          <p:cNvSpPr txBox="1"/>
          <p:nvPr/>
        </p:nvSpPr>
        <p:spPr>
          <a:xfrm>
            <a:off x="960120" y="2807208"/>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The rotator cuff keeps the ball of the humerus centered</a:t>
            </a:r>
            <a:endParaRPr lang="en-US" sz="1900" dirty="0"/>
          </a:p>
        </p:txBody>
      </p:sp>
      <p:sp>
        <p:nvSpPr>
          <p:cNvPr id="8" name="Shape 6"/>
          <p:cNvSpPr/>
          <p:nvPr/>
        </p:nvSpPr>
        <p:spPr>
          <a:xfrm>
            <a:off x="548640" y="3849624"/>
            <a:ext cx="182880" cy="182880"/>
          </a:xfrm>
          <a:prstGeom prst="ellipse">
            <a:avLst/>
          </a:prstGeom>
          <a:solidFill>
            <a:srgbClr val="B3304C"/>
          </a:solidFill>
          <a:ln w="12700">
            <a:solidFill>
              <a:srgbClr val="B3304C"/>
            </a:solidFill>
            <a:prstDash val="solid"/>
          </a:ln>
        </p:spPr>
      </p:sp>
      <p:sp>
        <p:nvSpPr>
          <p:cNvPr id="9" name="Text 7"/>
          <p:cNvSpPr txBox="1"/>
          <p:nvPr/>
        </p:nvSpPr>
        <p:spPr>
          <a:xfrm>
            <a:off x="960120" y="3739896"/>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Deep abdominals stiffen the trunk before the limbs move</a:t>
            </a:r>
            <a:endParaRPr lang="en-US" sz="1900" dirty="0"/>
          </a:p>
        </p:txBody>
      </p:sp>
      <p:sp>
        <p:nvSpPr>
          <p:cNvPr id="10" name="Shape 8"/>
          <p:cNvSpPr/>
          <p:nvPr/>
        </p:nvSpPr>
        <p:spPr>
          <a:xfrm>
            <a:off x="548640" y="4782312"/>
            <a:ext cx="182880" cy="182880"/>
          </a:xfrm>
          <a:prstGeom prst="ellipse">
            <a:avLst/>
          </a:prstGeom>
          <a:solidFill>
            <a:srgbClr val="2F7359"/>
          </a:solidFill>
          <a:ln w="12700">
            <a:solidFill>
              <a:srgbClr val="2F7359"/>
            </a:solidFill>
            <a:prstDash val="solid"/>
          </a:ln>
        </p:spPr>
      </p:sp>
      <p:sp>
        <p:nvSpPr>
          <p:cNvPr id="11" name="Text 9"/>
          <p:cNvSpPr txBox="1"/>
          <p:nvPr/>
        </p:nvSpPr>
        <p:spPr>
          <a:xfrm>
            <a:off x="960120" y="4672584"/>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Weak stabilizers often show up as wobble or collapse</a:t>
            </a:r>
            <a:endParaRPr lang="en-US" sz="1900" dirty="0"/>
          </a:p>
        </p:txBody>
      </p:sp>
      <p:sp>
        <p:nvSpPr>
          <p:cNvPr id="12" name="Shape 10"/>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13" name="Image 0" descr="Down Dog: serratus anterior and rotator cuff stabilize the shoulder">    </p:cNvPr>
          <p:cNvPicPr>
            <a:picLocks noChangeAspect="1"/>
          </p:cNvPicPr>
          <p:nvPr/>
        </p:nvPicPr>
        <p:blipFill>
          <a:blip r:embed="rId1"/>
          <a:stretch>
            <a:fillRect/>
          </a:stretch>
        </p:blipFill>
        <p:spPr>
          <a:xfrm>
            <a:off x="7306620" y="1901952"/>
            <a:ext cx="3949080" cy="3657600"/>
          </a:xfrm>
          <a:prstGeom prst="rect">
            <a:avLst/>
          </a:prstGeom>
        </p:spPr>
      </p:pic>
      <p:sp>
        <p:nvSpPr>
          <p:cNvPr id="14" name="Text 11"/>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14  </a:t>
            </a:r>
            <a:pPr indent="0" marL="0">
              <a:buNone/>
            </a:pPr>
            <a:r>
              <a:rPr lang="en-US" sz="1100" dirty="0">
                <a:solidFill>
                  <a:srgbClr val="55707A"/>
                </a:solidFill>
                <a:latin typeface="Calibri" pitchFamily="34" charset="0"/>
                <a:ea typeface="Calibri" pitchFamily="34" charset="-122"/>
                <a:cs typeface="Calibri" pitchFamily="34" charset="-120"/>
              </a:rPr>
              <a:t>Down Dog: serratus anterior and rotator cuff stabilize the shoulder</a:t>
            </a:r>
            <a:endParaRPr lang="en-US" sz="1100" dirty="0"/>
          </a:p>
        </p:txBody>
      </p:sp>
      <p:sp>
        <p:nvSpPr>
          <p:cNvPr id="15" name="Text 1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6" name="Text 1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4.3  ·  FEEL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Feel it: agonist and antagonist at the knee</a:t>
            </a:r>
            <a:endParaRPr lang="en-US" sz="3000" dirty="0"/>
          </a:p>
        </p:txBody>
      </p:sp>
      <p:sp>
        <p:nvSpPr>
          <p:cNvPr id="4" name="Shape 2"/>
          <p:cNvSpPr/>
          <p:nvPr/>
        </p:nvSpPr>
        <p:spPr>
          <a:xfrm>
            <a:off x="548640" y="1828800"/>
            <a:ext cx="457200" cy="457200"/>
          </a:xfrm>
          <a:prstGeom prst="ellipse">
            <a:avLst/>
          </a:prstGeom>
          <a:solidFill>
            <a:srgbClr val="2F7359"/>
          </a:solidFill>
          <a:ln w="12700">
            <a:solidFill>
              <a:srgbClr val="2F7359"/>
            </a:solidFill>
            <a:prstDash val="solid"/>
          </a:ln>
        </p:spPr>
      </p:sp>
      <p:sp>
        <p:nvSpPr>
          <p:cNvPr id="5" name="Text 3"/>
          <p:cNvSpPr txBox="1"/>
          <p:nvPr/>
        </p:nvSpPr>
        <p:spPr>
          <a:xfrm>
            <a:off x="54864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6" name="Text 4"/>
          <p:cNvSpPr txBox="1"/>
          <p:nvPr/>
        </p:nvSpPr>
        <p:spPr>
          <a:xfrm>
            <a:off x="1234440" y="1783080"/>
            <a:ext cx="534924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Stand on one leg and hold the lifted knee with both hands</a:t>
            </a:r>
            <a:endParaRPr lang="en-US" sz="1800" dirty="0"/>
          </a:p>
        </p:txBody>
      </p:sp>
      <p:sp>
        <p:nvSpPr>
          <p:cNvPr id="7" name="Shape 5"/>
          <p:cNvSpPr/>
          <p:nvPr/>
        </p:nvSpPr>
        <p:spPr>
          <a:xfrm>
            <a:off x="548640" y="2743200"/>
            <a:ext cx="457200" cy="457200"/>
          </a:xfrm>
          <a:prstGeom prst="ellipse">
            <a:avLst/>
          </a:prstGeom>
          <a:solidFill>
            <a:srgbClr val="2F7359"/>
          </a:solidFill>
          <a:ln w="12700">
            <a:solidFill>
              <a:srgbClr val="2F7359"/>
            </a:solidFill>
            <a:prstDash val="solid"/>
          </a:ln>
        </p:spPr>
      </p:sp>
      <p:sp>
        <p:nvSpPr>
          <p:cNvPr id="8" name="Text 6"/>
          <p:cNvSpPr txBox="1"/>
          <p:nvPr/>
        </p:nvSpPr>
        <p:spPr>
          <a:xfrm>
            <a:off x="548640" y="27432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9" name="Text 7"/>
          <p:cNvSpPr txBox="1"/>
          <p:nvPr/>
        </p:nvSpPr>
        <p:spPr>
          <a:xfrm>
            <a:off x="1234440" y="2697480"/>
            <a:ext cx="534924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Straighten the standing knee firmly: feel the front of the thigh harden</a:t>
            </a:r>
            <a:endParaRPr lang="en-US" sz="1800" dirty="0"/>
          </a:p>
        </p:txBody>
      </p:sp>
      <p:sp>
        <p:nvSpPr>
          <p:cNvPr id="10" name="Shape 8"/>
          <p:cNvSpPr/>
          <p:nvPr/>
        </p:nvSpPr>
        <p:spPr>
          <a:xfrm>
            <a:off x="548640" y="3657600"/>
            <a:ext cx="457200" cy="457200"/>
          </a:xfrm>
          <a:prstGeom prst="ellipse">
            <a:avLst/>
          </a:prstGeom>
          <a:solidFill>
            <a:srgbClr val="2F7359"/>
          </a:solidFill>
          <a:ln w="12700">
            <a:solidFill>
              <a:srgbClr val="2F7359"/>
            </a:solidFill>
            <a:prstDash val="solid"/>
          </a:ln>
        </p:spPr>
      </p:sp>
      <p:sp>
        <p:nvSpPr>
          <p:cNvPr id="11" name="Text 9"/>
          <p:cNvSpPr txBox="1"/>
          <p:nvPr/>
        </p:nvSpPr>
        <p:spPr>
          <a:xfrm>
            <a:off x="548640" y="36576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2" name="Text 10"/>
          <p:cNvSpPr txBox="1"/>
          <p:nvPr/>
        </p:nvSpPr>
        <p:spPr>
          <a:xfrm>
            <a:off x="1234440" y="3611880"/>
            <a:ext cx="534924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Reach back and feel the hamstrings: softer, lengthening slightly</a:t>
            </a:r>
            <a:endParaRPr lang="en-US" sz="1800" dirty="0"/>
          </a:p>
        </p:txBody>
      </p:sp>
      <p:sp>
        <p:nvSpPr>
          <p:cNvPr id="13" name="Shape 11"/>
          <p:cNvSpPr/>
          <p:nvPr/>
        </p:nvSpPr>
        <p:spPr>
          <a:xfrm>
            <a:off x="548640" y="4572000"/>
            <a:ext cx="457200" cy="457200"/>
          </a:xfrm>
          <a:prstGeom prst="ellipse">
            <a:avLst/>
          </a:prstGeom>
          <a:solidFill>
            <a:srgbClr val="2F7359"/>
          </a:solidFill>
          <a:ln w="12700">
            <a:solidFill>
              <a:srgbClr val="2F7359"/>
            </a:solidFill>
            <a:prstDash val="solid"/>
          </a:ln>
        </p:spPr>
      </p:sp>
      <p:sp>
        <p:nvSpPr>
          <p:cNvPr id="14" name="Text 12"/>
          <p:cNvSpPr txBox="1"/>
          <p:nvPr/>
        </p:nvSpPr>
        <p:spPr>
          <a:xfrm>
            <a:off x="548640" y="45720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15" name="Text 13"/>
          <p:cNvSpPr txBox="1"/>
          <p:nvPr/>
        </p:nvSpPr>
        <p:spPr>
          <a:xfrm>
            <a:off x="1234440" y="4526280"/>
            <a:ext cx="534924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Now press the standing heel down as if to bend the knee: feel the roles swap</a:t>
            </a:r>
            <a:endParaRPr lang="en-US" sz="1800" dirty="0"/>
          </a:p>
        </p:txBody>
      </p:sp>
      <p:sp>
        <p:nvSpPr>
          <p:cNvPr id="16" name="Shape 14"/>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17" name="Image 0" descr="Feel the standing thigh: front and back">    </p:cNvPr>
          <p:cNvPicPr>
            <a:picLocks noChangeAspect="1"/>
          </p:cNvPicPr>
          <p:nvPr/>
        </p:nvPicPr>
        <p:blipFill>
          <a:blip r:embed="rId1"/>
          <a:stretch>
            <a:fillRect/>
          </a:stretch>
        </p:blipFill>
        <p:spPr>
          <a:xfrm>
            <a:off x="8247383" y="1901952"/>
            <a:ext cx="2067553" cy="3657600"/>
          </a:xfrm>
          <a:prstGeom prst="rect">
            <a:avLst/>
          </a:prstGeom>
        </p:spPr>
      </p:pic>
      <p:sp>
        <p:nvSpPr>
          <p:cNvPr id="18" name="Text 15"/>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15  </a:t>
            </a:r>
            <a:pPr indent="0" marL="0">
              <a:buNone/>
            </a:pPr>
            <a:r>
              <a:rPr lang="en-US" sz="1100" dirty="0">
                <a:solidFill>
                  <a:srgbClr val="55707A"/>
                </a:solidFill>
                <a:latin typeface="Calibri" pitchFamily="34" charset="0"/>
                <a:ea typeface="Calibri" pitchFamily="34" charset="-122"/>
                <a:cs typeface="Calibri" pitchFamily="34" charset="-120"/>
              </a:rPr>
              <a:t>Feel the standing thigh: front and back</a:t>
            </a:r>
            <a:endParaRPr lang="en-US" sz="1100" dirty="0"/>
          </a:p>
        </p:txBody>
      </p:sp>
      <p:sp>
        <p:nvSpPr>
          <p:cNvPr id="19" name="Text 16"/>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20" name="Text 17"/>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4.3  ·  CUE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Cue the job, not just the muscle</a:t>
            </a:r>
            <a:endParaRPr lang="en-US" sz="3000" dirty="0"/>
          </a:p>
        </p:txBody>
      </p:sp>
      <p:sp>
        <p:nvSpPr>
          <p:cNvPr id="4" name="Shape 2"/>
          <p:cNvSpPr/>
          <p:nvPr/>
        </p:nvSpPr>
        <p:spPr>
          <a:xfrm>
            <a:off x="548640" y="1783080"/>
            <a:ext cx="6035040" cy="2377440"/>
          </a:xfrm>
          <a:prstGeom prst="roundRect">
            <a:avLst>
              <a:gd name="adj" fmla="val 5385"/>
            </a:avLst>
          </a:prstGeom>
          <a:solidFill>
            <a:srgbClr val="16303A"/>
          </a:solidFill>
          <a:ln w="12700">
            <a:solidFill>
              <a:srgbClr val="16303A"/>
            </a:solidFill>
            <a:prstDash val="solid"/>
          </a:ln>
        </p:spPr>
      </p:sp>
      <p:sp>
        <p:nvSpPr>
          <p:cNvPr id="5" name="Text 3"/>
          <p:cNvSpPr txBox="1"/>
          <p:nvPr/>
        </p:nvSpPr>
        <p:spPr>
          <a:xfrm>
            <a:off x="868680" y="1920240"/>
            <a:ext cx="5394960" cy="2103120"/>
          </a:xfrm>
          <a:prstGeom prst="rect">
            <a:avLst/>
          </a:prstGeom>
          <a:noFill/>
          <a:ln/>
        </p:spPr>
        <p:txBody>
          <a:bodyPr wrap="square" lIns="0" tIns="0" rIns="0" bIns="0" rtlCol="0" anchor="ctr">
            <a:normAutofit/>
          </a:bodyPr>
          <a:lstStyle/>
          <a:p>
            <a:pPr indent="0" marL="0">
              <a:buNone/>
            </a:pPr>
            <a:r>
              <a:rPr lang="en-US" sz="2400" dirty="0">
                <a:solidFill>
                  <a:srgbClr val="FFFFFF"/>
                </a:solidFill>
                <a:latin typeface="Cambria" pitchFamily="34" charset="0"/>
                <a:ea typeface="Cambria" pitchFamily="34" charset="-122"/>
                <a:cs typeface="Cambria" pitchFamily="34" charset="-120"/>
              </a:rPr>
              <a:t>“Press the outer edge of the back foot down and draw the front knee toward the little-toe side of the foot.”</a:t>
            </a:r>
            <a:endParaRPr lang="en-US" sz="2400" dirty="0"/>
          </a:p>
        </p:txBody>
      </p:sp>
      <p:sp>
        <p:nvSpPr>
          <p:cNvPr id="6" name="Text 4"/>
          <p:cNvSpPr txBox="1"/>
          <p:nvPr/>
        </p:nvSpPr>
        <p:spPr>
          <a:xfrm>
            <a:off x="548640" y="4389120"/>
            <a:ext cx="6035040" cy="1554480"/>
          </a:xfrm>
          <a:prstGeom prst="rect">
            <a:avLst/>
          </a:prstGeom>
          <a:noFill/>
          <a:ln/>
        </p:spPr>
        <p:txBody>
          <a:bodyPr wrap="square" lIns="0" tIns="0" rIns="0" bIns="0" rtlCol="0" anchor="t">
            <a:normAutofit/>
          </a:bodyPr>
          <a:lstStyle/>
          <a:p>
            <a:pPr indent="0" marL="0">
              <a:buNone/>
            </a:pPr>
            <a:r>
              <a:rPr lang="en-US" sz="1800" b="1" dirty="0">
                <a:solidFill>
                  <a:srgbClr val="2F7359"/>
                </a:solidFill>
                <a:latin typeface="Calibri" pitchFamily="34" charset="0"/>
                <a:ea typeface="Calibri" pitchFamily="34" charset="-122"/>
                <a:cs typeface="Calibri" pitchFamily="34" charset="-120"/>
              </a:rPr>
              <a:t>Why it works  </a:t>
            </a:r>
            <a:pPr indent="0" marL="0">
              <a:buNone/>
            </a:pPr>
            <a:r>
              <a:rPr lang="en-US" sz="1800" dirty="0">
                <a:solidFill>
                  <a:srgbClr val="16303A"/>
                </a:solidFill>
                <a:latin typeface="Calibri" pitchFamily="34" charset="0"/>
                <a:ea typeface="Calibri" pitchFamily="34" charset="-122"/>
                <a:cs typeface="Calibri" pitchFamily="34" charset="-120"/>
              </a:rPr>
              <a:t>The gluteus medius and deep hip rotators stabilize the front leg in Warrior II, keeping the knee tracking over the ankle while the quadriceps hold the bend.</a:t>
            </a:r>
            <a:endParaRPr lang="en-US" sz="1800" dirty="0"/>
          </a:p>
        </p:txBody>
      </p:sp>
      <p:sp>
        <p:nvSpPr>
          <p:cNvPr id="7" name="Shape 5"/>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8" name="Image 0" descr="Warrior II: stabilizers keep the front knee over the ankle">    </p:cNvPr>
          <p:cNvPicPr>
            <a:picLocks noChangeAspect="1"/>
          </p:cNvPicPr>
          <p:nvPr/>
        </p:nvPicPr>
        <p:blipFill>
          <a:blip r:embed="rId1"/>
          <a:stretch>
            <a:fillRect/>
          </a:stretch>
        </p:blipFill>
        <p:spPr>
          <a:xfrm>
            <a:off x="7185731" y="1901952"/>
            <a:ext cx="4190858" cy="3657600"/>
          </a:xfrm>
          <a:prstGeom prst="rect">
            <a:avLst/>
          </a:prstGeom>
        </p:spPr>
      </p:pic>
      <p:sp>
        <p:nvSpPr>
          <p:cNvPr id="9" name="Text 6"/>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16  </a:t>
            </a:r>
            <a:pPr indent="0" marL="0">
              <a:buNone/>
            </a:pPr>
            <a:r>
              <a:rPr lang="en-US" sz="1100" dirty="0">
                <a:solidFill>
                  <a:srgbClr val="55707A"/>
                </a:solidFill>
                <a:latin typeface="Calibri" pitchFamily="34" charset="0"/>
                <a:ea typeface="Calibri" pitchFamily="34" charset="-122"/>
                <a:cs typeface="Calibri" pitchFamily="34" charset="-120"/>
              </a:rPr>
              <a:t>Warrior II: stabilizers keep the front knee over the ankle</a:t>
            </a:r>
            <a:endParaRPr lang="en-US" sz="1100" dirty="0"/>
          </a:p>
        </p:txBody>
      </p:sp>
      <p:sp>
        <p:nvSpPr>
          <p:cNvPr id="10" name="Text 7"/>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1" name="Text 8"/>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DF2E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4.3  ·  CHECK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In Chair, which muscle group is best described as the agonist at the knee?</a:t>
            </a:r>
            <a:endParaRPr lang="en-US" sz="3000" dirty="0"/>
          </a:p>
        </p:txBody>
      </p:sp>
      <p:sp>
        <p:nvSpPr>
          <p:cNvPr id="4" name="Shape 2"/>
          <p:cNvSpPr/>
          <p:nvPr/>
        </p:nvSpPr>
        <p:spPr>
          <a:xfrm>
            <a:off x="548640" y="2057400"/>
            <a:ext cx="7863840" cy="777240"/>
          </a:xfrm>
          <a:prstGeom prst="roundRect">
            <a:avLst>
              <a:gd name="adj" fmla="val 11765"/>
            </a:avLst>
          </a:prstGeom>
          <a:solidFill>
            <a:srgbClr val="FFFFFF"/>
          </a:solidFill>
          <a:ln w="12700">
            <a:solidFill>
              <a:srgbClr val="C6D4CF"/>
            </a:solidFill>
            <a:prstDash val="solid"/>
          </a:ln>
        </p:spPr>
      </p:sp>
      <p:sp>
        <p:nvSpPr>
          <p:cNvPr id="5" name="Shape 3"/>
          <p:cNvSpPr/>
          <p:nvPr/>
        </p:nvSpPr>
        <p:spPr>
          <a:xfrm>
            <a:off x="731520" y="2212848"/>
            <a:ext cx="457200" cy="457200"/>
          </a:xfrm>
          <a:prstGeom prst="ellipse">
            <a:avLst/>
          </a:prstGeom>
          <a:solidFill>
            <a:srgbClr val="16303A"/>
          </a:solidFill>
          <a:ln w="12700">
            <a:solidFill>
              <a:srgbClr val="16303A"/>
            </a:solidFill>
            <a:prstDash val="solid"/>
          </a:ln>
        </p:spPr>
      </p:sp>
      <p:sp>
        <p:nvSpPr>
          <p:cNvPr id="6" name="Text 4"/>
          <p:cNvSpPr txBox="1"/>
          <p:nvPr/>
        </p:nvSpPr>
        <p:spPr>
          <a:xfrm>
            <a:off x="731520" y="221284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A</a:t>
            </a:r>
            <a:endParaRPr lang="en-US" sz="1400" dirty="0"/>
          </a:p>
        </p:txBody>
      </p:sp>
      <p:sp>
        <p:nvSpPr>
          <p:cNvPr id="7" name="Text 5"/>
          <p:cNvSpPr txBox="1"/>
          <p:nvPr/>
        </p:nvSpPr>
        <p:spPr>
          <a:xfrm>
            <a:off x="1371600" y="2057400"/>
            <a:ext cx="6858000" cy="777240"/>
          </a:xfrm>
          <a:prstGeom prst="rect">
            <a:avLst/>
          </a:prstGeom>
          <a:noFill/>
          <a:ln/>
        </p:spPr>
        <p:txBody>
          <a:bodyPr wrap="square" lIns="0" tIns="0" rIns="0" bIns="0" rtlCol="0" anchor="ctr">
            <a:normAutofit/>
          </a:bodyPr>
          <a:lstStyle/>
          <a:p>
            <a:pPr indent="0" marL="0">
              <a:buNone/>
            </a:pPr>
            <a:r>
              <a:rPr lang="en-US" sz="1700" dirty="0">
                <a:solidFill>
                  <a:srgbClr val="16303A"/>
                </a:solidFill>
                <a:latin typeface="Calibri" pitchFamily="34" charset="0"/>
                <a:ea typeface="Calibri" pitchFamily="34" charset="-122"/>
                <a:cs typeface="Calibri" pitchFamily="34" charset="-120"/>
              </a:rPr>
              <a:t>Quadriceps</a:t>
            </a:r>
            <a:endParaRPr lang="en-US" sz="1700" dirty="0"/>
          </a:p>
        </p:txBody>
      </p:sp>
      <p:sp>
        <p:nvSpPr>
          <p:cNvPr id="8" name="Shape 6"/>
          <p:cNvSpPr/>
          <p:nvPr/>
        </p:nvSpPr>
        <p:spPr>
          <a:xfrm>
            <a:off x="548640" y="3017520"/>
            <a:ext cx="7863840" cy="777240"/>
          </a:xfrm>
          <a:prstGeom prst="roundRect">
            <a:avLst>
              <a:gd name="adj" fmla="val 11765"/>
            </a:avLst>
          </a:prstGeom>
          <a:solidFill>
            <a:srgbClr val="FFFFFF"/>
          </a:solidFill>
          <a:ln w="12700">
            <a:solidFill>
              <a:srgbClr val="C6D4CF"/>
            </a:solidFill>
            <a:prstDash val="solid"/>
          </a:ln>
        </p:spPr>
      </p:sp>
      <p:sp>
        <p:nvSpPr>
          <p:cNvPr id="9" name="Shape 7"/>
          <p:cNvSpPr/>
          <p:nvPr/>
        </p:nvSpPr>
        <p:spPr>
          <a:xfrm>
            <a:off x="731520" y="3172968"/>
            <a:ext cx="457200" cy="457200"/>
          </a:xfrm>
          <a:prstGeom prst="ellipse">
            <a:avLst/>
          </a:prstGeom>
          <a:solidFill>
            <a:srgbClr val="16303A"/>
          </a:solidFill>
          <a:ln w="12700">
            <a:solidFill>
              <a:srgbClr val="16303A"/>
            </a:solidFill>
            <a:prstDash val="solid"/>
          </a:ln>
        </p:spPr>
      </p:sp>
      <p:sp>
        <p:nvSpPr>
          <p:cNvPr id="10" name="Text 8"/>
          <p:cNvSpPr txBox="1"/>
          <p:nvPr/>
        </p:nvSpPr>
        <p:spPr>
          <a:xfrm>
            <a:off x="731520" y="317296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B</a:t>
            </a:r>
            <a:endParaRPr lang="en-US" sz="1400" dirty="0"/>
          </a:p>
        </p:txBody>
      </p:sp>
      <p:sp>
        <p:nvSpPr>
          <p:cNvPr id="11" name="Text 9"/>
          <p:cNvSpPr txBox="1"/>
          <p:nvPr/>
        </p:nvSpPr>
        <p:spPr>
          <a:xfrm>
            <a:off x="1371600" y="3017520"/>
            <a:ext cx="6858000" cy="777240"/>
          </a:xfrm>
          <a:prstGeom prst="rect">
            <a:avLst/>
          </a:prstGeom>
          <a:noFill/>
          <a:ln/>
        </p:spPr>
        <p:txBody>
          <a:bodyPr wrap="square" lIns="0" tIns="0" rIns="0" bIns="0" rtlCol="0" anchor="ctr">
            <a:normAutofit/>
          </a:bodyPr>
          <a:lstStyle/>
          <a:p>
            <a:pPr indent="0" marL="0">
              <a:buNone/>
            </a:pPr>
            <a:r>
              <a:rPr lang="en-US" sz="1700" dirty="0">
                <a:solidFill>
                  <a:srgbClr val="16303A"/>
                </a:solidFill>
                <a:latin typeface="Calibri" pitchFamily="34" charset="0"/>
                <a:ea typeface="Calibri" pitchFamily="34" charset="-122"/>
                <a:cs typeface="Calibri" pitchFamily="34" charset="-120"/>
              </a:rPr>
              <a:t>Hamstrings</a:t>
            </a:r>
            <a:endParaRPr lang="en-US" sz="1700" dirty="0"/>
          </a:p>
        </p:txBody>
      </p:sp>
      <p:sp>
        <p:nvSpPr>
          <p:cNvPr id="12" name="Shape 10"/>
          <p:cNvSpPr/>
          <p:nvPr/>
        </p:nvSpPr>
        <p:spPr>
          <a:xfrm>
            <a:off x="548640" y="3977640"/>
            <a:ext cx="7863840" cy="777240"/>
          </a:xfrm>
          <a:prstGeom prst="roundRect">
            <a:avLst>
              <a:gd name="adj" fmla="val 11765"/>
            </a:avLst>
          </a:prstGeom>
          <a:solidFill>
            <a:srgbClr val="FFFFFF"/>
          </a:solidFill>
          <a:ln w="12700">
            <a:solidFill>
              <a:srgbClr val="C6D4CF"/>
            </a:solidFill>
            <a:prstDash val="solid"/>
          </a:ln>
        </p:spPr>
      </p:sp>
      <p:sp>
        <p:nvSpPr>
          <p:cNvPr id="13" name="Shape 11"/>
          <p:cNvSpPr/>
          <p:nvPr/>
        </p:nvSpPr>
        <p:spPr>
          <a:xfrm>
            <a:off x="731520" y="4133088"/>
            <a:ext cx="457200" cy="457200"/>
          </a:xfrm>
          <a:prstGeom prst="ellipse">
            <a:avLst/>
          </a:prstGeom>
          <a:solidFill>
            <a:srgbClr val="16303A"/>
          </a:solidFill>
          <a:ln w="12700">
            <a:solidFill>
              <a:srgbClr val="16303A"/>
            </a:solidFill>
            <a:prstDash val="solid"/>
          </a:ln>
        </p:spPr>
      </p:sp>
      <p:sp>
        <p:nvSpPr>
          <p:cNvPr id="14" name="Text 12"/>
          <p:cNvSpPr txBox="1"/>
          <p:nvPr/>
        </p:nvSpPr>
        <p:spPr>
          <a:xfrm>
            <a:off x="731520" y="413308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C</a:t>
            </a:r>
            <a:endParaRPr lang="en-US" sz="1400" dirty="0"/>
          </a:p>
        </p:txBody>
      </p:sp>
      <p:sp>
        <p:nvSpPr>
          <p:cNvPr id="15" name="Text 13"/>
          <p:cNvSpPr txBox="1"/>
          <p:nvPr/>
        </p:nvSpPr>
        <p:spPr>
          <a:xfrm>
            <a:off x="1371600" y="3977640"/>
            <a:ext cx="6858000" cy="777240"/>
          </a:xfrm>
          <a:prstGeom prst="rect">
            <a:avLst/>
          </a:prstGeom>
          <a:noFill/>
          <a:ln/>
        </p:spPr>
        <p:txBody>
          <a:bodyPr wrap="square" lIns="0" tIns="0" rIns="0" bIns="0" rtlCol="0" anchor="ctr">
            <a:normAutofit/>
          </a:bodyPr>
          <a:lstStyle/>
          <a:p>
            <a:pPr indent="0" marL="0">
              <a:buNone/>
            </a:pPr>
            <a:r>
              <a:rPr lang="en-US" sz="1700" dirty="0">
                <a:solidFill>
                  <a:srgbClr val="16303A"/>
                </a:solidFill>
                <a:latin typeface="Calibri" pitchFamily="34" charset="0"/>
                <a:ea typeface="Calibri" pitchFamily="34" charset="-122"/>
                <a:cs typeface="Calibri" pitchFamily="34" charset="-120"/>
              </a:rPr>
              <a:t>Calf muscles</a:t>
            </a:r>
            <a:endParaRPr lang="en-US" sz="1700" dirty="0"/>
          </a:p>
        </p:txBody>
      </p:sp>
      <p:sp>
        <p:nvSpPr>
          <p:cNvPr id="16" name="Text 14"/>
          <p:cNvSpPr txBox="1"/>
          <p:nvPr/>
        </p:nvSpPr>
        <p:spPr>
          <a:xfrm>
            <a:off x="8778240" y="2194560"/>
            <a:ext cx="2834640" cy="1280160"/>
          </a:xfrm>
          <a:prstGeom prst="rect">
            <a:avLst/>
          </a:prstGeom>
          <a:noFill/>
          <a:ln/>
        </p:spPr>
        <p:txBody>
          <a:bodyPr wrap="square" lIns="0" tIns="0" rIns="0" bIns="0" rtlCol="0" anchor="ctr"/>
          <a:lstStyle/>
          <a:p>
            <a:pPr indent="0" marL="0">
              <a:buNone/>
            </a:pPr>
            <a:r>
              <a:rPr lang="en-US" sz="1800" i="1" dirty="0">
                <a:solidFill>
                  <a:srgbClr val="55707A"/>
                </a:solidFill>
                <a:latin typeface="Cambria" pitchFamily="34" charset="0"/>
                <a:ea typeface="Cambria" pitchFamily="34" charset="-122"/>
                <a:cs typeface="Cambria" pitchFamily="34" charset="-120"/>
              </a:rPr>
              <a:t>Pause the video and choose before you move on.</a:t>
            </a:r>
            <a:endParaRPr lang="en-US" sz="1800" dirty="0"/>
          </a:p>
        </p:txBody>
      </p:sp>
      <p:sp>
        <p:nvSpPr>
          <p:cNvPr id="17" name="Text 15"/>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8" name="Text 16"/>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4.3  ·  CHECK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Answer</a:t>
            </a:r>
            <a:endParaRPr lang="en-US" sz="3000" dirty="0"/>
          </a:p>
        </p:txBody>
      </p:sp>
      <p:sp>
        <p:nvSpPr>
          <p:cNvPr id="4" name="Shape 2"/>
          <p:cNvSpPr/>
          <p:nvPr/>
        </p:nvSpPr>
        <p:spPr>
          <a:xfrm>
            <a:off x="548640" y="1737360"/>
            <a:ext cx="11064240" cy="1097280"/>
          </a:xfrm>
          <a:prstGeom prst="roundRect">
            <a:avLst>
              <a:gd name="adj" fmla="val 10000"/>
            </a:avLst>
          </a:prstGeom>
          <a:solidFill>
            <a:srgbClr val="D5E9DF"/>
          </a:solidFill>
          <a:ln w="19050">
            <a:solidFill>
              <a:srgbClr val="2F7359"/>
            </a:solidFill>
            <a:prstDash val="solid"/>
          </a:ln>
        </p:spPr>
      </p:sp>
      <p:sp>
        <p:nvSpPr>
          <p:cNvPr id="5" name="Shape 3"/>
          <p:cNvSpPr/>
          <p:nvPr/>
        </p:nvSpPr>
        <p:spPr>
          <a:xfrm>
            <a:off x="777240" y="2011680"/>
            <a:ext cx="548640" cy="548640"/>
          </a:xfrm>
          <a:prstGeom prst="ellipse">
            <a:avLst/>
          </a:prstGeom>
          <a:solidFill>
            <a:srgbClr val="2F7359"/>
          </a:solidFill>
          <a:ln w="12700">
            <a:solidFill>
              <a:srgbClr val="2F7359"/>
            </a:solidFill>
            <a:prstDash val="solid"/>
          </a:ln>
        </p:spPr>
      </p:sp>
      <p:sp>
        <p:nvSpPr>
          <p:cNvPr id="6" name="Text 4"/>
          <p:cNvSpPr txBox="1"/>
          <p:nvPr/>
        </p:nvSpPr>
        <p:spPr>
          <a:xfrm>
            <a:off x="777240" y="2011680"/>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A</a:t>
            </a:r>
            <a:endParaRPr lang="en-US" sz="1400" dirty="0"/>
          </a:p>
        </p:txBody>
      </p:sp>
      <p:sp>
        <p:nvSpPr>
          <p:cNvPr id="7" name="Text 5"/>
          <p:cNvSpPr txBox="1"/>
          <p:nvPr/>
        </p:nvSpPr>
        <p:spPr>
          <a:xfrm>
            <a:off x="1554480" y="1737360"/>
            <a:ext cx="9875520" cy="1097280"/>
          </a:xfrm>
          <a:prstGeom prst="rect">
            <a:avLst/>
          </a:prstGeom>
          <a:noFill/>
          <a:ln/>
        </p:spPr>
        <p:txBody>
          <a:bodyPr wrap="square" lIns="0" tIns="0" rIns="0" bIns="0" rtlCol="0" anchor="ctr">
            <a:normAutofit/>
          </a:bodyPr>
          <a:lstStyle/>
          <a:p>
            <a:pPr indent="0" marL="0">
              <a:buNone/>
            </a:pPr>
            <a:r>
              <a:rPr lang="en-US" sz="2200" b="1" dirty="0">
                <a:solidFill>
                  <a:srgbClr val="16303A"/>
                </a:solidFill>
                <a:latin typeface="Cambria" pitchFamily="34" charset="0"/>
                <a:ea typeface="Cambria" pitchFamily="34" charset="-122"/>
                <a:cs typeface="Cambria" pitchFamily="34" charset="-120"/>
              </a:rPr>
              <a:t>Quadriceps</a:t>
            </a:r>
            <a:endParaRPr lang="en-US" sz="2200" dirty="0"/>
          </a:p>
        </p:txBody>
      </p:sp>
      <p:sp>
        <p:nvSpPr>
          <p:cNvPr id="8" name="Text 6"/>
          <p:cNvSpPr txBox="1"/>
          <p:nvPr/>
        </p:nvSpPr>
        <p:spPr>
          <a:xfrm>
            <a:off x="548640" y="3108960"/>
            <a:ext cx="11064240" cy="12801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The quadriceps control the knee against gravity in every phase of Chair, so they are the agonist; the hamstrings are the antagonist at the knee.</a:t>
            </a:r>
            <a:endParaRPr lang="en-US" sz="1800" dirty="0"/>
          </a:p>
        </p:txBody>
      </p:sp>
      <p:sp>
        <p:nvSpPr>
          <p:cNvPr id="9" name="Text 7"/>
          <p:cNvSpPr txBox="1"/>
          <p:nvPr/>
        </p:nvSpPr>
        <p:spPr>
          <a:xfrm>
            <a:off x="548640" y="4754880"/>
            <a:ext cx="11064240" cy="731520"/>
          </a:xfrm>
          <a:prstGeom prst="rect">
            <a:avLst/>
          </a:prstGeom>
          <a:noFill/>
          <a:ln/>
        </p:spPr>
        <p:txBody>
          <a:bodyPr wrap="square" lIns="0" tIns="0" rIns="0" bIns="0" rtlCol="0" anchor="t">
            <a:normAutofit/>
          </a:bodyPr>
          <a:lstStyle/>
          <a:p>
            <a:pPr indent="0" marL="0">
              <a:buNone/>
            </a:pPr>
            <a:r>
              <a:rPr lang="en-US" sz="1200" dirty="0">
                <a:solidFill>
                  <a:srgbClr val="55707A"/>
                </a:solidFill>
                <a:latin typeface="Calibri" pitchFamily="34" charset="0"/>
                <a:ea typeface="Calibri" pitchFamily="34" charset="-122"/>
                <a:cs typeface="Calibri" pitchFamily="34" charset="-120"/>
              </a:rPr>
              <a:t>Question: In Chair, which muscle group is best described as the agonist at the knee?</a:t>
            </a:r>
            <a:endParaRPr lang="en-US" sz="1200" dirty="0"/>
          </a:p>
        </p:txBody>
      </p:sp>
      <p:sp>
        <p:nvSpPr>
          <p:cNvPr id="10" name="Text 8"/>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1" name="Text 9"/>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6303A"/>
        </a:solidFill>
      </p:bgPr>
    </p:bg>
    <p:spTree>
      <p:nvGrpSpPr>
        <p:cNvPr id="1" name=""/>
        <p:cNvGrpSpPr/>
        <p:nvPr/>
      </p:nvGrpSpPr>
      <p:grpSpPr>
        <a:xfrm>
          <a:off x="0" y="0"/>
          <a:ext cx="0" cy="0"/>
          <a:chOff x="0" y="0"/>
          <a:chExt cx="0" cy="0"/>
        </a:xfrm>
      </p:grpSpPr>
      <p:sp>
        <p:nvSpPr>
          <p:cNvPr id="2" name="Shape 0"/>
          <p:cNvSpPr/>
          <p:nvPr/>
        </p:nvSpPr>
        <p:spPr>
          <a:xfrm>
            <a:off x="548640" y="1463040"/>
            <a:ext cx="1371600" cy="1371600"/>
          </a:xfrm>
          <a:prstGeom prst="ellipse">
            <a:avLst/>
          </a:prstGeom>
          <a:solidFill>
            <a:srgbClr val="B3304C"/>
          </a:solidFill>
          <a:ln w="12700">
            <a:solidFill>
              <a:srgbClr val="B3304C"/>
            </a:solidFill>
            <a:prstDash val="solid"/>
          </a:ln>
        </p:spPr>
      </p:sp>
      <p:sp>
        <p:nvSpPr>
          <p:cNvPr id="3" name="Text 1"/>
          <p:cNvSpPr txBox="1"/>
          <p:nvPr/>
        </p:nvSpPr>
        <p:spPr>
          <a:xfrm>
            <a:off x="548640" y="1463040"/>
            <a:ext cx="1371600" cy="137160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4.4</a:t>
            </a:r>
            <a:endParaRPr lang="en-US" sz="3000" dirty="0"/>
          </a:p>
        </p:txBody>
      </p:sp>
      <p:sp>
        <p:nvSpPr>
          <p:cNvPr id="4" name="Text 2"/>
          <p:cNvSpPr txBox="1"/>
          <p:nvPr/>
        </p:nvSpPr>
        <p:spPr>
          <a:xfrm>
            <a:off x="2286000" y="1508760"/>
            <a:ext cx="7315200" cy="320040"/>
          </a:xfrm>
          <a:prstGeom prst="rect">
            <a:avLst/>
          </a:prstGeom>
          <a:noFill/>
          <a:ln/>
        </p:spPr>
        <p:txBody>
          <a:bodyPr wrap="square" lIns="0" tIns="0" rIns="0" bIns="0" rtlCol="0" anchor="ctr"/>
          <a:lstStyle/>
          <a:p>
            <a:pPr indent="0" marL="0">
              <a:buNone/>
            </a:pPr>
            <a:r>
              <a:rPr lang="en-US" sz="1300" b="1" spc="300" kern="0" dirty="0">
                <a:solidFill>
                  <a:srgbClr val="CBB78C"/>
                </a:solidFill>
                <a:latin typeface="Calibri" pitchFamily="34" charset="0"/>
                <a:ea typeface="Calibri" pitchFamily="34" charset="-122"/>
                <a:cs typeface="Calibri" pitchFamily="34" charset="-120"/>
              </a:rPr>
              <a:t>LESSON 4.4  ·  35 MIN</a:t>
            </a:r>
            <a:endParaRPr lang="en-US" sz="1300" dirty="0"/>
          </a:p>
        </p:txBody>
      </p:sp>
      <p:sp>
        <p:nvSpPr>
          <p:cNvPr id="5" name="Text 3"/>
          <p:cNvSpPr txBox="1"/>
          <p:nvPr/>
        </p:nvSpPr>
        <p:spPr>
          <a:xfrm>
            <a:off x="2286000" y="1874520"/>
            <a:ext cx="9052560" cy="1463040"/>
          </a:xfrm>
          <a:prstGeom prst="rect">
            <a:avLst/>
          </a:prstGeom>
          <a:noFill/>
          <a:ln/>
        </p:spPr>
        <p:txBody>
          <a:bodyPr wrap="square" lIns="0" tIns="0" rIns="0" bIns="0" rtlCol="0" anchor="t">
            <a:normAutofit/>
          </a:bodyPr>
          <a:lstStyle/>
          <a:p>
            <a:pPr indent="0" marL="0">
              <a:buNone/>
            </a:pPr>
            <a:r>
              <a:rPr lang="en-US" sz="3600" b="1" dirty="0">
                <a:solidFill>
                  <a:srgbClr val="FFFFFF"/>
                </a:solidFill>
                <a:latin typeface="Cambria" pitchFamily="34" charset="0"/>
                <a:ea typeface="Cambria" pitchFamily="34" charset="-122"/>
                <a:cs typeface="Cambria" pitchFamily="34" charset="-120"/>
              </a:rPr>
              <a:t>Reciprocal inhibition, the stretch reflex and the Golgi tendon organ</a:t>
            </a:r>
            <a:endParaRPr lang="en-US" sz="3600" dirty="0"/>
          </a:p>
        </p:txBody>
      </p:sp>
      <p:sp>
        <p:nvSpPr>
          <p:cNvPr id="6" name="Shape 4"/>
          <p:cNvSpPr/>
          <p:nvPr/>
        </p:nvSpPr>
        <p:spPr>
          <a:xfrm>
            <a:off x="2286000" y="3931920"/>
            <a:ext cx="1965960" cy="566928"/>
          </a:xfrm>
          <a:prstGeom prst="roundRect">
            <a:avLst>
              <a:gd name="adj" fmla="val 48387"/>
            </a:avLst>
          </a:prstGeom>
          <a:solidFill>
            <a:srgbClr val="22414D"/>
          </a:solidFill>
          <a:ln w="12700">
            <a:solidFill>
              <a:srgbClr val="3B5A66"/>
            </a:solidFill>
            <a:prstDash val="solid"/>
          </a:ln>
        </p:spPr>
      </p:sp>
      <p:sp>
        <p:nvSpPr>
          <p:cNvPr id="7" name="Text 5"/>
          <p:cNvSpPr txBox="1"/>
          <p:nvPr/>
        </p:nvSpPr>
        <p:spPr>
          <a:xfrm>
            <a:off x="228600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See it</a:t>
            </a:r>
            <a:endParaRPr lang="en-US" sz="1400" dirty="0"/>
          </a:p>
        </p:txBody>
      </p:sp>
      <p:sp>
        <p:nvSpPr>
          <p:cNvPr id="8" name="Shape 6"/>
          <p:cNvSpPr/>
          <p:nvPr/>
        </p:nvSpPr>
        <p:spPr>
          <a:xfrm>
            <a:off x="4434840" y="3931920"/>
            <a:ext cx="1965960" cy="566928"/>
          </a:xfrm>
          <a:prstGeom prst="roundRect">
            <a:avLst>
              <a:gd name="adj" fmla="val 48387"/>
            </a:avLst>
          </a:prstGeom>
          <a:solidFill>
            <a:srgbClr val="22414D"/>
          </a:solidFill>
          <a:ln w="12700">
            <a:solidFill>
              <a:srgbClr val="3B5A66"/>
            </a:solidFill>
            <a:prstDash val="solid"/>
          </a:ln>
        </p:spPr>
      </p:sp>
      <p:sp>
        <p:nvSpPr>
          <p:cNvPr id="9" name="Text 7"/>
          <p:cNvSpPr txBox="1"/>
          <p:nvPr/>
        </p:nvSpPr>
        <p:spPr>
          <a:xfrm>
            <a:off x="443484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Feel it</a:t>
            </a:r>
            <a:endParaRPr lang="en-US" sz="1400" dirty="0"/>
          </a:p>
        </p:txBody>
      </p:sp>
      <p:sp>
        <p:nvSpPr>
          <p:cNvPr id="10" name="Shape 8"/>
          <p:cNvSpPr/>
          <p:nvPr/>
        </p:nvSpPr>
        <p:spPr>
          <a:xfrm>
            <a:off x="6583680" y="3931920"/>
            <a:ext cx="1965960" cy="566928"/>
          </a:xfrm>
          <a:prstGeom prst="roundRect">
            <a:avLst>
              <a:gd name="adj" fmla="val 48387"/>
            </a:avLst>
          </a:prstGeom>
          <a:solidFill>
            <a:srgbClr val="22414D"/>
          </a:solidFill>
          <a:ln w="12700">
            <a:solidFill>
              <a:srgbClr val="3B5A66"/>
            </a:solidFill>
            <a:prstDash val="solid"/>
          </a:ln>
        </p:spPr>
      </p:sp>
      <p:sp>
        <p:nvSpPr>
          <p:cNvPr id="11" name="Text 9"/>
          <p:cNvSpPr txBox="1"/>
          <p:nvPr/>
        </p:nvSpPr>
        <p:spPr>
          <a:xfrm>
            <a:off x="658368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Cue it</a:t>
            </a:r>
            <a:endParaRPr lang="en-US" sz="1400" dirty="0"/>
          </a:p>
        </p:txBody>
      </p:sp>
      <p:sp>
        <p:nvSpPr>
          <p:cNvPr id="12" name="Shape 10"/>
          <p:cNvSpPr/>
          <p:nvPr/>
        </p:nvSpPr>
        <p:spPr>
          <a:xfrm>
            <a:off x="8732520" y="3931920"/>
            <a:ext cx="1965960" cy="566928"/>
          </a:xfrm>
          <a:prstGeom prst="roundRect">
            <a:avLst>
              <a:gd name="adj" fmla="val 48387"/>
            </a:avLst>
          </a:prstGeom>
          <a:solidFill>
            <a:srgbClr val="22414D"/>
          </a:solidFill>
          <a:ln w="12700">
            <a:solidFill>
              <a:srgbClr val="3B5A66"/>
            </a:solidFill>
            <a:prstDash val="solid"/>
          </a:ln>
        </p:spPr>
      </p:sp>
      <p:sp>
        <p:nvSpPr>
          <p:cNvPr id="13" name="Text 11"/>
          <p:cNvSpPr txBox="1"/>
          <p:nvPr/>
        </p:nvSpPr>
        <p:spPr>
          <a:xfrm>
            <a:off x="873252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Check it</a:t>
            </a:r>
            <a:endParaRPr lang="en-US" sz="1400" dirty="0"/>
          </a:p>
        </p:txBody>
      </p:sp>
      <p:sp>
        <p:nvSpPr>
          <p:cNvPr id="14" name="Text 1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A9BFC6"/>
                </a:solidFill>
                <a:latin typeface="Calibri" pitchFamily="34" charset="0"/>
                <a:ea typeface="Calibri" pitchFamily="34" charset="-122"/>
                <a:cs typeface="Calibri" pitchFamily="34" charset="-120"/>
              </a:rPr>
              <a:t>Anatomy on the Mat  ·  Dr. Akash Garg, D.C.</a:t>
            </a:r>
            <a:endParaRPr lang="en-US" sz="900" dirty="0"/>
          </a:p>
        </p:txBody>
      </p:sp>
      <p:sp>
        <p:nvSpPr>
          <p:cNvPr id="15" name="Text 1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A9BFC6"/>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4.4</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Two sensors inside every muscle</a:t>
            </a:r>
            <a:endParaRPr lang="en-US" sz="3000" dirty="0"/>
          </a:p>
        </p:txBody>
      </p:sp>
      <p:sp>
        <p:nvSpPr>
          <p:cNvPr id="4" name="Shape 2"/>
          <p:cNvSpPr/>
          <p:nvPr/>
        </p:nvSpPr>
        <p:spPr>
          <a:xfrm>
            <a:off x="548640" y="1984248"/>
            <a:ext cx="182880" cy="182880"/>
          </a:xfrm>
          <a:prstGeom prst="ellipse">
            <a:avLst/>
          </a:prstGeom>
          <a:solidFill>
            <a:srgbClr val="B3304C"/>
          </a:solidFill>
          <a:ln w="12700">
            <a:solidFill>
              <a:srgbClr val="B3304C"/>
            </a:solidFill>
            <a:prstDash val="solid"/>
          </a:ln>
        </p:spPr>
      </p:sp>
      <p:sp>
        <p:nvSpPr>
          <p:cNvPr id="5" name="Text 3"/>
          <p:cNvSpPr txBox="1"/>
          <p:nvPr/>
        </p:nvSpPr>
        <p:spPr>
          <a:xfrm>
            <a:off x="960120" y="1874520"/>
            <a:ext cx="443484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Muscle spindles lie among the fibers and sense length and speed</a:t>
            </a:r>
            <a:endParaRPr lang="en-US" sz="1900" dirty="0"/>
          </a:p>
        </p:txBody>
      </p:sp>
      <p:sp>
        <p:nvSpPr>
          <p:cNvPr id="6" name="Shape 4"/>
          <p:cNvSpPr/>
          <p:nvPr/>
        </p:nvSpPr>
        <p:spPr>
          <a:xfrm>
            <a:off x="548640" y="2916936"/>
            <a:ext cx="182880" cy="182880"/>
          </a:xfrm>
          <a:prstGeom prst="ellipse">
            <a:avLst/>
          </a:prstGeom>
          <a:solidFill>
            <a:srgbClr val="2F7359"/>
          </a:solidFill>
          <a:ln w="12700">
            <a:solidFill>
              <a:srgbClr val="2F7359"/>
            </a:solidFill>
            <a:prstDash val="solid"/>
          </a:ln>
        </p:spPr>
      </p:sp>
      <p:sp>
        <p:nvSpPr>
          <p:cNvPr id="7" name="Text 5"/>
          <p:cNvSpPr txBox="1"/>
          <p:nvPr/>
        </p:nvSpPr>
        <p:spPr>
          <a:xfrm>
            <a:off x="960120" y="2807208"/>
            <a:ext cx="443484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Golgi tendon organs sit where muscle meets tendon and sense tension</a:t>
            </a:r>
            <a:endParaRPr lang="en-US" sz="1900" dirty="0"/>
          </a:p>
        </p:txBody>
      </p:sp>
      <p:sp>
        <p:nvSpPr>
          <p:cNvPr id="8" name="Shape 6"/>
          <p:cNvSpPr/>
          <p:nvPr/>
        </p:nvSpPr>
        <p:spPr>
          <a:xfrm>
            <a:off x="548640" y="3849624"/>
            <a:ext cx="182880" cy="182880"/>
          </a:xfrm>
          <a:prstGeom prst="ellipse">
            <a:avLst/>
          </a:prstGeom>
          <a:solidFill>
            <a:srgbClr val="B3304C"/>
          </a:solidFill>
          <a:ln w="12700">
            <a:solidFill>
              <a:srgbClr val="B3304C"/>
            </a:solidFill>
            <a:prstDash val="solid"/>
          </a:ln>
        </p:spPr>
      </p:sp>
      <p:sp>
        <p:nvSpPr>
          <p:cNvPr id="9" name="Text 7"/>
          <p:cNvSpPr txBox="1"/>
          <p:nvPr/>
        </p:nvSpPr>
        <p:spPr>
          <a:xfrm>
            <a:off x="960120" y="3739896"/>
            <a:ext cx="443484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Both send signals to the spinal cord, many below awareness</a:t>
            </a:r>
            <a:endParaRPr lang="en-US" sz="1900" dirty="0"/>
          </a:p>
        </p:txBody>
      </p:sp>
      <p:sp>
        <p:nvSpPr>
          <p:cNvPr id="10" name="Shape 8"/>
          <p:cNvSpPr/>
          <p:nvPr/>
        </p:nvSpPr>
        <p:spPr>
          <a:xfrm>
            <a:off x="548640" y="4782312"/>
            <a:ext cx="182880" cy="182880"/>
          </a:xfrm>
          <a:prstGeom prst="ellipse">
            <a:avLst/>
          </a:prstGeom>
          <a:solidFill>
            <a:srgbClr val="2F7359"/>
          </a:solidFill>
          <a:ln w="12700">
            <a:solidFill>
              <a:srgbClr val="2F7359"/>
            </a:solidFill>
            <a:prstDash val="solid"/>
          </a:ln>
        </p:spPr>
      </p:sp>
      <p:sp>
        <p:nvSpPr>
          <p:cNvPr id="11" name="Text 9"/>
          <p:cNvSpPr txBox="1"/>
          <p:nvPr/>
        </p:nvSpPr>
        <p:spPr>
          <a:xfrm>
            <a:off x="960120" y="4672584"/>
            <a:ext cx="443484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They underlie reflexes and your sense of body position</a:t>
            </a:r>
            <a:endParaRPr lang="en-US" sz="1900" dirty="0"/>
          </a:p>
        </p:txBody>
      </p:sp>
      <p:sp>
        <p:nvSpPr>
          <p:cNvPr id="12" name="Shape 10"/>
          <p:cNvSpPr/>
          <p:nvPr/>
        </p:nvSpPr>
        <p:spPr>
          <a:xfrm>
            <a:off x="5623560" y="1737360"/>
            <a:ext cx="6035040" cy="4389120"/>
          </a:xfrm>
          <a:prstGeom prst="roundRect">
            <a:avLst>
              <a:gd name="adj" fmla="val 2500"/>
            </a:avLst>
          </a:prstGeom>
          <a:solidFill>
            <a:srgbClr val="F9FBFA"/>
          </a:solidFill>
          <a:ln w="12700">
            <a:solidFill>
              <a:srgbClr val="C6D4CF"/>
            </a:solidFill>
            <a:prstDash val="solid"/>
          </a:ln>
        </p:spPr>
      </p:sp>
      <p:pic>
        <p:nvPicPr>
          <p:cNvPr id="13" name="Image 0" descr="Spindle, stretch reflex, reciprocal inhibition and the Golgi tendon organ">    </p:cNvPr>
          <p:cNvPicPr>
            <a:picLocks noChangeAspect="1"/>
          </p:cNvPicPr>
          <p:nvPr/>
        </p:nvPicPr>
        <p:blipFill>
          <a:blip r:embed="rId1"/>
          <a:stretch>
            <a:fillRect/>
          </a:stretch>
        </p:blipFill>
        <p:spPr>
          <a:xfrm>
            <a:off x="5806440" y="1959102"/>
            <a:ext cx="5669280" cy="3543300"/>
          </a:xfrm>
          <a:prstGeom prst="rect">
            <a:avLst/>
          </a:prstGeom>
        </p:spPr>
      </p:pic>
      <p:sp>
        <p:nvSpPr>
          <p:cNvPr id="14" name="Text 11"/>
          <p:cNvSpPr txBox="1"/>
          <p:nvPr/>
        </p:nvSpPr>
        <p:spPr>
          <a:xfrm>
            <a:off x="5806440" y="5623560"/>
            <a:ext cx="566928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17  </a:t>
            </a:r>
            <a:pPr indent="0" marL="0">
              <a:buNone/>
            </a:pPr>
            <a:r>
              <a:rPr lang="en-US" sz="1100" dirty="0">
                <a:solidFill>
                  <a:srgbClr val="55707A"/>
                </a:solidFill>
                <a:latin typeface="Calibri" pitchFamily="34" charset="0"/>
                <a:ea typeface="Calibri" pitchFamily="34" charset="-122"/>
                <a:cs typeface="Calibri" pitchFamily="34" charset="-120"/>
              </a:rPr>
              <a:t>Spindle, stretch reflex, reciprocal inhibition and the Golgi tendon organ</a:t>
            </a:r>
            <a:endParaRPr lang="en-US" sz="1100" dirty="0"/>
          </a:p>
        </p:txBody>
      </p:sp>
      <p:sp>
        <p:nvSpPr>
          <p:cNvPr id="15" name="Text 1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6" name="Text 1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4.4</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Muscle spindle versus Golgi tendon organ</a:t>
            </a:r>
            <a:endParaRPr lang="en-US" sz="3000" dirty="0"/>
          </a:p>
        </p:txBody>
      </p:sp>
      <p:sp>
        <p:nvSpPr>
          <p:cNvPr id="4" name="Shape 2"/>
          <p:cNvSpPr/>
          <p:nvPr/>
        </p:nvSpPr>
        <p:spPr>
          <a:xfrm>
            <a:off x="548640" y="1783080"/>
            <a:ext cx="5394960" cy="4297680"/>
          </a:xfrm>
          <a:prstGeom prst="roundRect">
            <a:avLst>
              <a:gd name="adj" fmla="val 2553"/>
            </a:avLst>
          </a:prstGeom>
          <a:solidFill>
            <a:srgbClr val="F1EADA"/>
          </a:solidFill>
          <a:ln w="12700">
            <a:solidFill>
              <a:srgbClr val="F1EADA"/>
            </a:solidFill>
            <a:prstDash val="solid"/>
          </a:ln>
        </p:spPr>
      </p:sp>
      <p:sp>
        <p:nvSpPr>
          <p:cNvPr id="5" name="Text 3"/>
          <p:cNvSpPr txBox="1"/>
          <p:nvPr/>
        </p:nvSpPr>
        <p:spPr>
          <a:xfrm>
            <a:off x="822960" y="1965960"/>
            <a:ext cx="4846320" cy="640080"/>
          </a:xfrm>
          <a:prstGeom prst="rect">
            <a:avLst/>
          </a:prstGeom>
          <a:noFill/>
          <a:ln/>
        </p:spPr>
        <p:txBody>
          <a:bodyPr wrap="square" lIns="0" tIns="0" rIns="0" bIns="0" rtlCol="0" anchor="t">
            <a:normAutofit/>
          </a:bodyPr>
          <a:lstStyle/>
          <a:p>
            <a:pPr indent="0" marL="0">
              <a:buNone/>
            </a:pPr>
            <a:r>
              <a:rPr lang="en-US" sz="2200" b="1" dirty="0">
                <a:solidFill>
                  <a:srgbClr val="16303A"/>
                </a:solidFill>
                <a:latin typeface="Cambria" pitchFamily="34" charset="0"/>
                <a:ea typeface="Cambria" pitchFamily="34" charset="-122"/>
                <a:cs typeface="Cambria" pitchFamily="34" charset="-120"/>
              </a:rPr>
              <a:t>Muscle spindle</a:t>
            </a:r>
            <a:endParaRPr lang="en-US" sz="2200" dirty="0"/>
          </a:p>
        </p:txBody>
      </p:sp>
      <p:sp>
        <p:nvSpPr>
          <p:cNvPr id="6" name="Text 4"/>
          <p:cNvSpPr txBox="1"/>
          <p:nvPr/>
        </p:nvSpPr>
        <p:spPr>
          <a:xfrm>
            <a:off x="822960" y="2697480"/>
            <a:ext cx="4846320" cy="320040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In the muscle belly, parallel to fibers</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Senses length and speed of stretch</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Ia nerve: excites the same muscle</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Drives the stretch reflex</a:t>
            </a:r>
            <a:endParaRPr lang="en-US" sz="1700" dirty="0"/>
          </a:p>
        </p:txBody>
      </p:sp>
      <p:sp>
        <p:nvSpPr>
          <p:cNvPr id="7" name="Shape 5"/>
          <p:cNvSpPr/>
          <p:nvPr/>
        </p:nvSpPr>
        <p:spPr>
          <a:xfrm>
            <a:off x="6217920" y="1783080"/>
            <a:ext cx="5394960" cy="4297680"/>
          </a:xfrm>
          <a:prstGeom prst="roundRect">
            <a:avLst>
              <a:gd name="adj" fmla="val 2553"/>
            </a:avLst>
          </a:prstGeom>
          <a:solidFill>
            <a:srgbClr val="D5E9DF"/>
          </a:solidFill>
          <a:ln w="12700">
            <a:solidFill>
              <a:srgbClr val="D5E9DF"/>
            </a:solidFill>
            <a:prstDash val="solid"/>
          </a:ln>
        </p:spPr>
      </p:sp>
      <p:sp>
        <p:nvSpPr>
          <p:cNvPr id="8" name="Text 6"/>
          <p:cNvSpPr txBox="1"/>
          <p:nvPr/>
        </p:nvSpPr>
        <p:spPr>
          <a:xfrm>
            <a:off x="6492240" y="1965960"/>
            <a:ext cx="4846320" cy="640080"/>
          </a:xfrm>
          <a:prstGeom prst="rect">
            <a:avLst/>
          </a:prstGeom>
          <a:noFill/>
          <a:ln/>
        </p:spPr>
        <p:txBody>
          <a:bodyPr wrap="square" lIns="0" tIns="0" rIns="0" bIns="0" rtlCol="0" anchor="t">
            <a:normAutofit/>
          </a:bodyPr>
          <a:lstStyle/>
          <a:p>
            <a:pPr indent="0" marL="0">
              <a:buNone/>
            </a:pPr>
            <a:r>
              <a:rPr lang="en-US" sz="2200" b="1" dirty="0">
                <a:solidFill>
                  <a:srgbClr val="16303A"/>
                </a:solidFill>
                <a:latin typeface="Cambria" pitchFamily="34" charset="0"/>
                <a:ea typeface="Cambria" pitchFamily="34" charset="-122"/>
                <a:cs typeface="Cambria" pitchFamily="34" charset="-120"/>
              </a:rPr>
              <a:t>Golgi tendon organ</a:t>
            </a:r>
            <a:endParaRPr lang="en-US" sz="2200" dirty="0"/>
          </a:p>
        </p:txBody>
      </p:sp>
      <p:sp>
        <p:nvSpPr>
          <p:cNvPr id="9" name="Text 7"/>
          <p:cNvSpPr txBox="1"/>
          <p:nvPr/>
        </p:nvSpPr>
        <p:spPr>
          <a:xfrm>
            <a:off x="6492240" y="2697480"/>
            <a:ext cx="4846320" cy="320040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At the muscle-tendon junction</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Senses tension, mainly from contraction</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Ib nerve: inhibits the same muscle</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Constant force feedback</a:t>
            </a:r>
            <a:endParaRPr lang="en-US" sz="1700" dirty="0"/>
          </a:p>
        </p:txBody>
      </p:sp>
      <p:sp>
        <p:nvSpPr>
          <p:cNvPr id="10" name="Text 8"/>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1" name="Text 9"/>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4.4  ·  CUE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The stretch reflex: why we do not bounce</a:t>
            </a:r>
            <a:endParaRPr lang="en-US" sz="3000" dirty="0"/>
          </a:p>
        </p:txBody>
      </p:sp>
      <p:sp>
        <p:nvSpPr>
          <p:cNvPr id="4" name="Shape 2"/>
          <p:cNvSpPr/>
          <p:nvPr/>
        </p:nvSpPr>
        <p:spPr>
          <a:xfrm>
            <a:off x="548640" y="1783080"/>
            <a:ext cx="6035040" cy="2377440"/>
          </a:xfrm>
          <a:prstGeom prst="roundRect">
            <a:avLst>
              <a:gd name="adj" fmla="val 5385"/>
            </a:avLst>
          </a:prstGeom>
          <a:solidFill>
            <a:srgbClr val="16303A"/>
          </a:solidFill>
          <a:ln w="12700">
            <a:solidFill>
              <a:srgbClr val="16303A"/>
            </a:solidFill>
            <a:prstDash val="solid"/>
          </a:ln>
        </p:spPr>
      </p:sp>
      <p:sp>
        <p:nvSpPr>
          <p:cNvPr id="5" name="Text 3"/>
          <p:cNvSpPr txBox="1"/>
          <p:nvPr/>
        </p:nvSpPr>
        <p:spPr>
          <a:xfrm>
            <a:off x="868680" y="1920240"/>
            <a:ext cx="5394960" cy="2103120"/>
          </a:xfrm>
          <a:prstGeom prst="rect">
            <a:avLst/>
          </a:prstGeom>
          <a:noFill/>
          <a:ln/>
        </p:spPr>
        <p:txBody>
          <a:bodyPr wrap="square" lIns="0" tIns="0" rIns="0" bIns="0" rtlCol="0" anchor="ctr">
            <a:normAutofit/>
          </a:bodyPr>
          <a:lstStyle/>
          <a:p>
            <a:pPr indent="0" marL="0">
              <a:buNone/>
            </a:pPr>
            <a:r>
              <a:rPr lang="en-US" sz="2400" dirty="0">
                <a:solidFill>
                  <a:srgbClr val="FFFFFF"/>
                </a:solidFill>
                <a:latin typeface="Cambria" pitchFamily="34" charset="0"/>
                <a:ea typeface="Cambria" pitchFamily="34" charset="-122"/>
                <a:cs typeface="Cambria" pitchFamily="34" charset="-120"/>
              </a:rPr>
              <a:t>“Ease into the fold slowly, stop at the first clear stretch and breathe there. No bouncing.”</a:t>
            </a:r>
            <a:endParaRPr lang="en-US" sz="2400" dirty="0"/>
          </a:p>
        </p:txBody>
      </p:sp>
      <p:sp>
        <p:nvSpPr>
          <p:cNvPr id="6" name="Text 4"/>
          <p:cNvSpPr txBox="1"/>
          <p:nvPr/>
        </p:nvSpPr>
        <p:spPr>
          <a:xfrm>
            <a:off x="548640" y="4389120"/>
            <a:ext cx="6035040" cy="1554480"/>
          </a:xfrm>
          <a:prstGeom prst="rect">
            <a:avLst/>
          </a:prstGeom>
          <a:noFill/>
          <a:ln/>
        </p:spPr>
        <p:txBody>
          <a:bodyPr wrap="square" lIns="0" tIns="0" rIns="0" bIns="0" rtlCol="0" anchor="t">
            <a:normAutofit/>
          </a:bodyPr>
          <a:lstStyle/>
          <a:p>
            <a:pPr indent="0" marL="0">
              <a:buNone/>
            </a:pPr>
            <a:r>
              <a:rPr lang="en-US" sz="1800" b="1" dirty="0">
                <a:solidFill>
                  <a:srgbClr val="2F7359"/>
                </a:solidFill>
                <a:latin typeface="Calibri" pitchFamily="34" charset="0"/>
                <a:ea typeface="Calibri" pitchFamily="34" charset="-122"/>
                <a:cs typeface="Calibri" pitchFamily="34" charset="-120"/>
              </a:rPr>
              <a:t>Why it works  </a:t>
            </a:r>
            <a:pPr indent="0" marL="0">
              <a:buNone/>
            </a:pPr>
            <a:r>
              <a:rPr lang="en-US" sz="1800" dirty="0">
                <a:solidFill>
                  <a:srgbClr val="16303A"/>
                </a:solidFill>
                <a:latin typeface="Calibri" pitchFamily="34" charset="0"/>
                <a:ea typeface="Calibri" pitchFamily="34" charset="-122"/>
                <a:cs typeface="Calibri" pitchFamily="34" charset="-120"/>
              </a:rPr>
              <a:t>A fast stretch fires muscle spindles, which reflexly contract the same muscle. Slow entry keeps that reflex quiet and gives the nervous system time to settle.</a:t>
            </a:r>
            <a:endParaRPr lang="en-US" sz="1800" dirty="0"/>
          </a:p>
        </p:txBody>
      </p:sp>
      <p:sp>
        <p:nvSpPr>
          <p:cNvPr id="7" name="Shape 5"/>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8" name="Image 0" descr="Triangle: enter slowly so the front hamstrings are not triggered to resist">    </p:cNvPr>
          <p:cNvPicPr>
            <a:picLocks noChangeAspect="1"/>
          </p:cNvPicPr>
          <p:nvPr/>
        </p:nvPicPr>
        <p:blipFill>
          <a:blip r:embed="rId1"/>
          <a:stretch>
            <a:fillRect/>
          </a:stretch>
        </p:blipFill>
        <p:spPr>
          <a:xfrm>
            <a:off x="7769673" y="1901952"/>
            <a:ext cx="3022974" cy="3657600"/>
          </a:xfrm>
          <a:prstGeom prst="rect">
            <a:avLst/>
          </a:prstGeom>
        </p:spPr>
      </p:pic>
      <p:sp>
        <p:nvSpPr>
          <p:cNvPr id="9" name="Text 6"/>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18  </a:t>
            </a:r>
            <a:pPr indent="0" marL="0">
              <a:buNone/>
            </a:pPr>
            <a:r>
              <a:rPr lang="en-US" sz="1100" dirty="0">
                <a:solidFill>
                  <a:srgbClr val="55707A"/>
                </a:solidFill>
                <a:latin typeface="Calibri" pitchFamily="34" charset="0"/>
                <a:ea typeface="Calibri" pitchFamily="34" charset="-122"/>
                <a:cs typeface="Calibri" pitchFamily="34" charset="-120"/>
              </a:rPr>
              <a:t>Triangle: enter slowly so the front hamstrings are not triggered to resist</a:t>
            </a:r>
            <a:endParaRPr lang="en-US" sz="1100" dirty="0"/>
          </a:p>
        </p:txBody>
      </p:sp>
      <p:sp>
        <p:nvSpPr>
          <p:cNvPr id="10" name="Text 7"/>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1" name="Text 8"/>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4.4</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Reciprocal inhibition</a:t>
            </a:r>
            <a:endParaRPr lang="en-US" sz="3000" dirty="0"/>
          </a:p>
        </p:txBody>
      </p:sp>
      <p:sp>
        <p:nvSpPr>
          <p:cNvPr id="4" name="Shape 2"/>
          <p:cNvSpPr/>
          <p:nvPr/>
        </p:nvSpPr>
        <p:spPr>
          <a:xfrm>
            <a:off x="548640" y="1984248"/>
            <a:ext cx="182880" cy="182880"/>
          </a:xfrm>
          <a:prstGeom prst="ellipse">
            <a:avLst/>
          </a:prstGeom>
          <a:solidFill>
            <a:srgbClr val="B3304C"/>
          </a:solidFill>
          <a:ln w="12700">
            <a:solidFill>
              <a:srgbClr val="B3304C"/>
            </a:solidFill>
            <a:prstDash val="solid"/>
          </a:ln>
        </p:spPr>
      </p:sp>
      <p:sp>
        <p:nvSpPr>
          <p:cNvPr id="5" name="Text 3"/>
          <p:cNvSpPr txBox="1"/>
          <p:nvPr/>
        </p:nvSpPr>
        <p:spPr>
          <a:xfrm>
            <a:off x="960120" y="1874520"/>
            <a:ext cx="443484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When a muscle contracts, its antagonist's motor neurons are damped</a:t>
            </a:r>
            <a:endParaRPr lang="en-US" sz="1900" dirty="0"/>
          </a:p>
        </p:txBody>
      </p:sp>
      <p:sp>
        <p:nvSpPr>
          <p:cNvPr id="6" name="Shape 4"/>
          <p:cNvSpPr/>
          <p:nvPr/>
        </p:nvSpPr>
        <p:spPr>
          <a:xfrm>
            <a:off x="548640" y="2916936"/>
            <a:ext cx="182880" cy="182880"/>
          </a:xfrm>
          <a:prstGeom prst="ellipse">
            <a:avLst/>
          </a:prstGeom>
          <a:solidFill>
            <a:srgbClr val="2F7359"/>
          </a:solidFill>
          <a:ln w="12700">
            <a:solidFill>
              <a:srgbClr val="2F7359"/>
            </a:solidFill>
            <a:prstDash val="solid"/>
          </a:ln>
        </p:spPr>
      </p:sp>
      <p:sp>
        <p:nvSpPr>
          <p:cNvPr id="7" name="Text 5"/>
          <p:cNvSpPr txBox="1"/>
          <p:nvPr/>
        </p:nvSpPr>
        <p:spPr>
          <a:xfrm>
            <a:off x="960120" y="2807208"/>
            <a:ext cx="443484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The same Ia signal excites one muscle and inhibits its opposite</a:t>
            </a:r>
            <a:endParaRPr lang="en-US" sz="1900" dirty="0"/>
          </a:p>
        </p:txBody>
      </p:sp>
      <p:sp>
        <p:nvSpPr>
          <p:cNvPr id="8" name="Shape 6"/>
          <p:cNvSpPr/>
          <p:nvPr/>
        </p:nvSpPr>
        <p:spPr>
          <a:xfrm>
            <a:off x="548640" y="3849624"/>
            <a:ext cx="182880" cy="182880"/>
          </a:xfrm>
          <a:prstGeom prst="ellipse">
            <a:avLst/>
          </a:prstGeom>
          <a:solidFill>
            <a:srgbClr val="B3304C"/>
          </a:solidFill>
          <a:ln w="12700">
            <a:solidFill>
              <a:srgbClr val="B3304C"/>
            </a:solidFill>
            <a:prstDash val="solid"/>
          </a:ln>
        </p:spPr>
      </p:sp>
      <p:sp>
        <p:nvSpPr>
          <p:cNvPr id="9" name="Text 7"/>
          <p:cNvSpPr txBox="1"/>
          <p:nvPr/>
        </p:nvSpPr>
        <p:spPr>
          <a:xfrm>
            <a:off x="960120" y="3739896"/>
            <a:ext cx="443484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Lets opposing muscles avoid fighting each other</a:t>
            </a:r>
            <a:endParaRPr lang="en-US" sz="1900" dirty="0"/>
          </a:p>
        </p:txBody>
      </p:sp>
      <p:sp>
        <p:nvSpPr>
          <p:cNvPr id="10" name="Shape 8"/>
          <p:cNvSpPr/>
          <p:nvPr/>
        </p:nvSpPr>
        <p:spPr>
          <a:xfrm>
            <a:off x="548640" y="4782312"/>
            <a:ext cx="182880" cy="182880"/>
          </a:xfrm>
          <a:prstGeom prst="ellipse">
            <a:avLst/>
          </a:prstGeom>
          <a:solidFill>
            <a:srgbClr val="2F7359"/>
          </a:solidFill>
          <a:ln w="12700">
            <a:solidFill>
              <a:srgbClr val="2F7359"/>
            </a:solidFill>
            <a:prstDash val="solid"/>
          </a:ln>
        </p:spPr>
      </p:sp>
      <p:sp>
        <p:nvSpPr>
          <p:cNvPr id="11" name="Text 9"/>
          <p:cNvSpPr txBox="1"/>
          <p:nvPr/>
        </p:nvSpPr>
        <p:spPr>
          <a:xfrm>
            <a:off x="960120" y="4672584"/>
            <a:ext cx="443484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In slow stretches its extra benefit is probably small</a:t>
            </a:r>
            <a:endParaRPr lang="en-US" sz="1900" dirty="0"/>
          </a:p>
        </p:txBody>
      </p:sp>
      <p:sp>
        <p:nvSpPr>
          <p:cNvPr id="12" name="Shape 10"/>
          <p:cNvSpPr/>
          <p:nvPr/>
        </p:nvSpPr>
        <p:spPr>
          <a:xfrm>
            <a:off x="5623560" y="1737360"/>
            <a:ext cx="6035040" cy="4389120"/>
          </a:xfrm>
          <a:prstGeom prst="roundRect">
            <a:avLst>
              <a:gd name="adj" fmla="val 2500"/>
            </a:avLst>
          </a:prstGeom>
          <a:solidFill>
            <a:srgbClr val="F9FBFA"/>
          </a:solidFill>
          <a:ln w="12700">
            <a:solidFill>
              <a:srgbClr val="C6D4CF"/>
            </a:solidFill>
            <a:prstDash val="solid"/>
          </a:ln>
        </p:spPr>
      </p:sp>
      <p:pic>
        <p:nvPicPr>
          <p:cNvPr id="13" name="Image 0" descr="The Ia signal excites one muscle and damps its opposite">    </p:cNvPr>
          <p:cNvPicPr>
            <a:picLocks noChangeAspect="1"/>
          </p:cNvPicPr>
          <p:nvPr/>
        </p:nvPicPr>
        <p:blipFill>
          <a:blip r:embed="rId1"/>
          <a:stretch>
            <a:fillRect/>
          </a:stretch>
        </p:blipFill>
        <p:spPr>
          <a:xfrm>
            <a:off x="5806440" y="1959102"/>
            <a:ext cx="5669280" cy="3543300"/>
          </a:xfrm>
          <a:prstGeom prst="rect">
            <a:avLst/>
          </a:prstGeom>
        </p:spPr>
      </p:pic>
      <p:sp>
        <p:nvSpPr>
          <p:cNvPr id="14" name="Text 11"/>
          <p:cNvSpPr txBox="1"/>
          <p:nvPr/>
        </p:nvSpPr>
        <p:spPr>
          <a:xfrm>
            <a:off x="5806440" y="5623560"/>
            <a:ext cx="566928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19  </a:t>
            </a:r>
            <a:pPr indent="0" marL="0">
              <a:buNone/>
            </a:pPr>
            <a:r>
              <a:rPr lang="en-US" sz="1100" dirty="0">
                <a:solidFill>
                  <a:srgbClr val="55707A"/>
                </a:solidFill>
                <a:latin typeface="Calibri" pitchFamily="34" charset="0"/>
                <a:ea typeface="Calibri" pitchFamily="34" charset="-122"/>
                <a:cs typeface="Calibri" pitchFamily="34" charset="-120"/>
              </a:rPr>
              <a:t>The Ia signal excites one muscle and damps its opposite</a:t>
            </a:r>
            <a:endParaRPr lang="en-US" sz="1100" dirty="0"/>
          </a:p>
        </p:txBody>
      </p:sp>
      <p:sp>
        <p:nvSpPr>
          <p:cNvPr id="15" name="Text 1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6" name="Text 1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4.4</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The GTO and PNF: what the research actually says</a:t>
            </a:r>
            <a:endParaRPr lang="en-US" sz="3000" dirty="0"/>
          </a:p>
        </p:txBody>
      </p:sp>
      <p:sp>
        <p:nvSpPr>
          <p:cNvPr id="4" name="Shape 2"/>
          <p:cNvSpPr/>
          <p:nvPr/>
        </p:nvSpPr>
        <p:spPr>
          <a:xfrm>
            <a:off x="548640" y="1984248"/>
            <a:ext cx="182880" cy="182880"/>
          </a:xfrm>
          <a:prstGeom prst="ellipse">
            <a:avLst/>
          </a:prstGeom>
          <a:solidFill>
            <a:srgbClr val="B3304C"/>
          </a:solidFill>
          <a:ln w="12700">
            <a:solidFill>
              <a:srgbClr val="B3304C"/>
            </a:solidFill>
            <a:prstDash val="solid"/>
          </a:ln>
        </p:spPr>
      </p:sp>
      <p:sp>
        <p:nvSpPr>
          <p:cNvPr id="5" name="Text 3"/>
          <p:cNvSpPr txBox="1"/>
          <p:nvPr/>
        </p:nvSpPr>
        <p:spPr>
          <a:xfrm>
            <a:off x="960120" y="1874520"/>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PNF: contract the stretched muscle, relax, then stretch further</a:t>
            </a:r>
            <a:endParaRPr lang="en-US" sz="1900" dirty="0"/>
          </a:p>
        </p:txBody>
      </p:sp>
      <p:sp>
        <p:nvSpPr>
          <p:cNvPr id="6" name="Shape 4"/>
          <p:cNvSpPr/>
          <p:nvPr/>
        </p:nvSpPr>
        <p:spPr>
          <a:xfrm>
            <a:off x="548640" y="2916936"/>
            <a:ext cx="182880" cy="182880"/>
          </a:xfrm>
          <a:prstGeom prst="ellipse">
            <a:avLst/>
          </a:prstGeom>
          <a:solidFill>
            <a:srgbClr val="2F7359"/>
          </a:solidFill>
          <a:ln w="12700">
            <a:solidFill>
              <a:srgbClr val="2F7359"/>
            </a:solidFill>
            <a:prstDash val="solid"/>
          </a:ln>
        </p:spPr>
      </p:sp>
      <p:sp>
        <p:nvSpPr>
          <p:cNvPr id="7" name="Text 5"/>
          <p:cNvSpPr txBox="1"/>
          <p:nvPr/>
        </p:nvSpPr>
        <p:spPr>
          <a:xfrm>
            <a:off x="960120" y="2807208"/>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It reliably gives short-term range gains</a:t>
            </a:r>
            <a:endParaRPr lang="en-US" sz="1900" dirty="0"/>
          </a:p>
        </p:txBody>
      </p:sp>
      <p:sp>
        <p:nvSpPr>
          <p:cNvPr id="8" name="Shape 6"/>
          <p:cNvSpPr/>
          <p:nvPr/>
        </p:nvSpPr>
        <p:spPr>
          <a:xfrm>
            <a:off x="548640" y="3849624"/>
            <a:ext cx="182880" cy="182880"/>
          </a:xfrm>
          <a:prstGeom prst="ellipse">
            <a:avLst/>
          </a:prstGeom>
          <a:solidFill>
            <a:srgbClr val="B3304C"/>
          </a:solidFill>
          <a:ln w="12700">
            <a:solidFill>
              <a:srgbClr val="B3304C"/>
            </a:solidFill>
            <a:prstDash val="solid"/>
          </a:ln>
        </p:spPr>
      </p:sp>
      <p:sp>
        <p:nvSpPr>
          <p:cNvPr id="9" name="Text 7"/>
          <p:cNvSpPr txBox="1"/>
          <p:nvPr/>
        </p:nvSpPr>
        <p:spPr>
          <a:xfrm>
            <a:off x="960120" y="3739896"/>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The classic explanation, GTO autogenic inhibition, is questioned</a:t>
            </a:r>
            <a:endParaRPr lang="en-US" sz="1900" dirty="0"/>
          </a:p>
        </p:txBody>
      </p:sp>
      <p:sp>
        <p:nvSpPr>
          <p:cNvPr id="10" name="Shape 8"/>
          <p:cNvSpPr/>
          <p:nvPr/>
        </p:nvSpPr>
        <p:spPr>
          <a:xfrm>
            <a:off x="548640" y="4782312"/>
            <a:ext cx="182880" cy="182880"/>
          </a:xfrm>
          <a:prstGeom prst="ellipse">
            <a:avLst/>
          </a:prstGeom>
          <a:solidFill>
            <a:srgbClr val="2F7359"/>
          </a:solidFill>
          <a:ln w="12700">
            <a:solidFill>
              <a:srgbClr val="2F7359"/>
            </a:solidFill>
            <a:prstDash val="solid"/>
          </a:ln>
        </p:spPr>
      </p:sp>
      <p:sp>
        <p:nvSpPr>
          <p:cNvPr id="11" name="Text 9"/>
          <p:cNvSpPr txBox="1"/>
          <p:nvPr/>
        </p:nvSpPr>
        <p:spPr>
          <a:xfrm>
            <a:off x="960120" y="4672584"/>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Most evidence points to increased tolerance of the stretch</a:t>
            </a:r>
            <a:endParaRPr lang="en-US" sz="1900" dirty="0"/>
          </a:p>
        </p:txBody>
      </p:sp>
      <p:sp>
        <p:nvSpPr>
          <p:cNvPr id="12" name="Shape 10"/>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13" name="Image 0" descr="Contract-relax in a seated fold: effective, but not for the reason often taught">    </p:cNvPr>
          <p:cNvPicPr>
            <a:picLocks noChangeAspect="1"/>
          </p:cNvPicPr>
          <p:nvPr/>
        </p:nvPicPr>
        <p:blipFill>
          <a:blip r:embed="rId1"/>
          <a:stretch>
            <a:fillRect/>
          </a:stretch>
        </p:blipFill>
        <p:spPr>
          <a:xfrm>
            <a:off x="7147560" y="1901952"/>
            <a:ext cx="4267200" cy="3657600"/>
          </a:xfrm>
          <a:prstGeom prst="rect">
            <a:avLst/>
          </a:prstGeom>
        </p:spPr>
      </p:pic>
      <p:sp>
        <p:nvSpPr>
          <p:cNvPr id="14" name="Text 11"/>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20  </a:t>
            </a:r>
            <a:pPr indent="0" marL="0">
              <a:buNone/>
            </a:pPr>
            <a:r>
              <a:rPr lang="en-US" sz="1100" dirty="0">
                <a:solidFill>
                  <a:srgbClr val="55707A"/>
                </a:solidFill>
                <a:latin typeface="Calibri" pitchFamily="34" charset="0"/>
                <a:ea typeface="Calibri" pitchFamily="34" charset="-122"/>
                <a:cs typeface="Calibri" pitchFamily="34" charset="-120"/>
              </a:rPr>
              <a:t>Contract-relax in a seated fold: effective, but not for the reason often taught</a:t>
            </a:r>
            <a:endParaRPr lang="en-US" sz="1100" dirty="0"/>
          </a:p>
        </p:txBody>
      </p:sp>
      <p:sp>
        <p:nvSpPr>
          <p:cNvPr id="15" name="Text 1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6" name="Text 1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4.4  ·  FEEL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Feel it: contract-relax in a seated fold</a:t>
            </a:r>
            <a:endParaRPr lang="en-US" sz="3000" dirty="0"/>
          </a:p>
        </p:txBody>
      </p:sp>
      <p:sp>
        <p:nvSpPr>
          <p:cNvPr id="4" name="Shape 2"/>
          <p:cNvSpPr/>
          <p:nvPr/>
        </p:nvSpPr>
        <p:spPr>
          <a:xfrm>
            <a:off x="548640" y="1828800"/>
            <a:ext cx="457200" cy="457200"/>
          </a:xfrm>
          <a:prstGeom prst="ellipse">
            <a:avLst/>
          </a:prstGeom>
          <a:solidFill>
            <a:srgbClr val="2F7359"/>
          </a:solidFill>
          <a:ln w="12700">
            <a:solidFill>
              <a:srgbClr val="2F7359"/>
            </a:solidFill>
            <a:prstDash val="solid"/>
          </a:ln>
        </p:spPr>
      </p:sp>
      <p:sp>
        <p:nvSpPr>
          <p:cNvPr id="5" name="Text 3"/>
          <p:cNvSpPr txBox="1"/>
          <p:nvPr/>
        </p:nvSpPr>
        <p:spPr>
          <a:xfrm>
            <a:off x="54864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6" name="Text 4"/>
          <p:cNvSpPr txBox="1"/>
          <p:nvPr/>
        </p:nvSpPr>
        <p:spPr>
          <a:xfrm>
            <a:off x="1234440" y="1783080"/>
            <a:ext cx="534924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Sit in a forward fold, knees bent as needed, to a mild stretch</a:t>
            </a:r>
            <a:endParaRPr lang="en-US" sz="1800" dirty="0"/>
          </a:p>
        </p:txBody>
      </p:sp>
      <p:sp>
        <p:nvSpPr>
          <p:cNvPr id="7" name="Shape 5"/>
          <p:cNvSpPr/>
          <p:nvPr/>
        </p:nvSpPr>
        <p:spPr>
          <a:xfrm>
            <a:off x="548640" y="2743200"/>
            <a:ext cx="457200" cy="457200"/>
          </a:xfrm>
          <a:prstGeom prst="ellipse">
            <a:avLst/>
          </a:prstGeom>
          <a:solidFill>
            <a:srgbClr val="2F7359"/>
          </a:solidFill>
          <a:ln w="12700">
            <a:solidFill>
              <a:srgbClr val="2F7359"/>
            </a:solidFill>
            <a:prstDash val="solid"/>
          </a:ln>
        </p:spPr>
      </p:sp>
      <p:sp>
        <p:nvSpPr>
          <p:cNvPr id="8" name="Text 6"/>
          <p:cNvSpPr txBox="1"/>
          <p:nvPr/>
        </p:nvSpPr>
        <p:spPr>
          <a:xfrm>
            <a:off x="548640" y="27432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9" name="Text 7"/>
          <p:cNvSpPr txBox="1"/>
          <p:nvPr/>
        </p:nvSpPr>
        <p:spPr>
          <a:xfrm>
            <a:off x="1234440" y="2697480"/>
            <a:ext cx="534924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Press the heels down into the floor for five seconds, about a third effort</a:t>
            </a:r>
            <a:endParaRPr lang="en-US" sz="1800" dirty="0"/>
          </a:p>
        </p:txBody>
      </p:sp>
      <p:sp>
        <p:nvSpPr>
          <p:cNvPr id="10" name="Shape 8"/>
          <p:cNvSpPr/>
          <p:nvPr/>
        </p:nvSpPr>
        <p:spPr>
          <a:xfrm>
            <a:off x="548640" y="3657600"/>
            <a:ext cx="457200" cy="457200"/>
          </a:xfrm>
          <a:prstGeom prst="ellipse">
            <a:avLst/>
          </a:prstGeom>
          <a:solidFill>
            <a:srgbClr val="2F7359"/>
          </a:solidFill>
          <a:ln w="12700">
            <a:solidFill>
              <a:srgbClr val="2F7359"/>
            </a:solidFill>
            <a:prstDash val="solid"/>
          </a:ln>
        </p:spPr>
      </p:sp>
      <p:sp>
        <p:nvSpPr>
          <p:cNvPr id="11" name="Text 9"/>
          <p:cNvSpPr txBox="1"/>
          <p:nvPr/>
        </p:nvSpPr>
        <p:spPr>
          <a:xfrm>
            <a:off x="548640" y="36576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2" name="Text 10"/>
          <p:cNvSpPr txBox="1"/>
          <p:nvPr/>
        </p:nvSpPr>
        <p:spPr>
          <a:xfrm>
            <a:off x="1234440" y="3611880"/>
            <a:ext cx="534924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Relax completely and take one slow exhale</a:t>
            </a:r>
            <a:endParaRPr lang="en-US" sz="1800" dirty="0"/>
          </a:p>
        </p:txBody>
      </p:sp>
      <p:sp>
        <p:nvSpPr>
          <p:cNvPr id="13" name="Shape 11"/>
          <p:cNvSpPr/>
          <p:nvPr/>
        </p:nvSpPr>
        <p:spPr>
          <a:xfrm>
            <a:off x="548640" y="4572000"/>
            <a:ext cx="457200" cy="457200"/>
          </a:xfrm>
          <a:prstGeom prst="ellipse">
            <a:avLst/>
          </a:prstGeom>
          <a:solidFill>
            <a:srgbClr val="2F7359"/>
          </a:solidFill>
          <a:ln w="12700">
            <a:solidFill>
              <a:srgbClr val="2F7359"/>
            </a:solidFill>
            <a:prstDash val="solid"/>
          </a:ln>
        </p:spPr>
      </p:sp>
      <p:sp>
        <p:nvSpPr>
          <p:cNvPr id="14" name="Text 12"/>
          <p:cNvSpPr txBox="1"/>
          <p:nvPr/>
        </p:nvSpPr>
        <p:spPr>
          <a:xfrm>
            <a:off x="548640" y="45720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15" name="Text 13"/>
          <p:cNvSpPr txBox="1"/>
          <p:nvPr/>
        </p:nvSpPr>
        <p:spPr>
          <a:xfrm>
            <a:off x="1234440" y="4526280"/>
            <a:ext cx="534924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Fold a little further on the exhale; notice whether the stretch feels less intense</a:t>
            </a:r>
            <a:endParaRPr lang="en-US" sz="1800" dirty="0"/>
          </a:p>
        </p:txBody>
      </p:sp>
      <p:sp>
        <p:nvSpPr>
          <p:cNvPr id="16" name="Shape 14"/>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17" name="Image 0" descr="Heels press down, relax, then fold a little further">    </p:cNvPr>
          <p:cNvPicPr>
            <a:picLocks noChangeAspect="1"/>
          </p:cNvPicPr>
          <p:nvPr/>
        </p:nvPicPr>
        <p:blipFill>
          <a:blip r:embed="rId1"/>
          <a:stretch>
            <a:fillRect/>
          </a:stretch>
        </p:blipFill>
        <p:spPr>
          <a:xfrm>
            <a:off x="7147560" y="1901952"/>
            <a:ext cx="4267200" cy="3657600"/>
          </a:xfrm>
          <a:prstGeom prst="rect">
            <a:avLst/>
          </a:prstGeom>
        </p:spPr>
      </p:pic>
      <p:sp>
        <p:nvSpPr>
          <p:cNvPr id="18" name="Text 15"/>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21  </a:t>
            </a:r>
            <a:pPr indent="0" marL="0">
              <a:buNone/>
            </a:pPr>
            <a:r>
              <a:rPr lang="en-US" sz="1100" dirty="0">
                <a:solidFill>
                  <a:srgbClr val="55707A"/>
                </a:solidFill>
                <a:latin typeface="Calibri" pitchFamily="34" charset="0"/>
                <a:ea typeface="Calibri" pitchFamily="34" charset="-122"/>
                <a:cs typeface="Calibri" pitchFamily="34" charset="-120"/>
              </a:rPr>
              <a:t>Heels press down, relax, then fold a little further</a:t>
            </a:r>
            <a:endParaRPr lang="en-US" sz="1100" dirty="0"/>
          </a:p>
        </p:txBody>
      </p:sp>
      <p:sp>
        <p:nvSpPr>
          <p:cNvPr id="19" name="Text 16"/>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20" name="Text 17"/>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EDF2E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4.4  ·  CHECK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Which statement about PNF contract-relax stretching best fits current evidence?</a:t>
            </a:r>
            <a:endParaRPr lang="en-US" sz="3000" dirty="0"/>
          </a:p>
        </p:txBody>
      </p:sp>
      <p:sp>
        <p:nvSpPr>
          <p:cNvPr id="4" name="Shape 2"/>
          <p:cNvSpPr/>
          <p:nvPr/>
        </p:nvSpPr>
        <p:spPr>
          <a:xfrm>
            <a:off x="548640" y="2057400"/>
            <a:ext cx="7863840" cy="777240"/>
          </a:xfrm>
          <a:prstGeom prst="roundRect">
            <a:avLst>
              <a:gd name="adj" fmla="val 11765"/>
            </a:avLst>
          </a:prstGeom>
          <a:solidFill>
            <a:srgbClr val="FFFFFF"/>
          </a:solidFill>
          <a:ln w="12700">
            <a:solidFill>
              <a:srgbClr val="C6D4CF"/>
            </a:solidFill>
            <a:prstDash val="solid"/>
          </a:ln>
        </p:spPr>
      </p:sp>
      <p:sp>
        <p:nvSpPr>
          <p:cNvPr id="5" name="Shape 3"/>
          <p:cNvSpPr/>
          <p:nvPr/>
        </p:nvSpPr>
        <p:spPr>
          <a:xfrm>
            <a:off x="731520" y="2212848"/>
            <a:ext cx="457200" cy="457200"/>
          </a:xfrm>
          <a:prstGeom prst="ellipse">
            <a:avLst/>
          </a:prstGeom>
          <a:solidFill>
            <a:srgbClr val="16303A"/>
          </a:solidFill>
          <a:ln w="12700">
            <a:solidFill>
              <a:srgbClr val="16303A"/>
            </a:solidFill>
            <a:prstDash val="solid"/>
          </a:ln>
        </p:spPr>
      </p:sp>
      <p:sp>
        <p:nvSpPr>
          <p:cNvPr id="6" name="Text 4"/>
          <p:cNvSpPr txBox="1"/>
          <p:nvPr/>
        </p:nvSpPr>
        <p:spPr>
          <a:xfrm>
            <a:off x="731520" y="221284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A</a:t>
            </a:r>
            <a:endParaRPr lang="en-US" sz="1400" dirty="0"/>
          </a:p>
        </p:txBody>
      </p:sp>
      <p:sp>
        <p:nvSpPr>
          <p:cNvPr id="7" name="Text 5"/>
          <p:cNvSpPr txBox="1"/>
          <p:nvPr/>
        </p:nvSpPr>
        <p:spPr>
          <a:xfrm>
            <a:off x="1371600" y="2057400"/>
            <a:ext cx="6858000" cy="777240"/>
          </a:xfrm>
          <a:prstGeom prst="rect">
            <a:avLst/>
          </a:prstGeom>
          <a:noFill/>
          <a:ln/>
        </p:spPr>
        <p:txBody>
          <a:bodyPr wrap="square" lIns="0" tIns="0" rIns="0" bIns="0" rtlCol="0" anchor="ctr">
            <a:normAutofit/>
          </a:bodyPr>
          <a:lstStyle/>
          <a:p>
            <a:pPr indent="0" marL="0">
              <a:buNone/>
            </a:pPr>
            <a:r>
              <a:rPr lang="en-US" sz="1700" dirty="0">
                <a:solidFill>
                  <a:srgbClr val="16303A"/>
                </a:solidFill>
                <a:latin typeface="Calibri" pitchFamily="34" charset="0"/>
                <a:ea typeface="Calibri" pitchFamily="34" charset="-122"/>
                <a:cs typeface="Calibri" pitchFamily="34" charset="-120"/>
              </a:rPr>
              <a:t>It works because the Golgi tendon organ switches the muscle off for several minutes</a:t>
            </a:r>
            <a:endParaRPr lang="en-US" sz="1700" dirty="0"/>
          </a:p>
        </p:txBody>
      </p:sp>
      <p:sp>
        <p:nvSpPr>
          <p:cNvPr id="8" name="Shape 6"/>
          <p:cNvSpPr/>
          <p:nvPr/>
        </p:nvSpPr>
        <p:spPr>
          <a:xfrm>
            <a:off x="548640" y="3017520"/>
            <a:ext cx="7863840" cy="777240"/>
          </a:xfrm>
          <a:prstGeom prst="roundRect">
            <a:avLst>
              <a:gd name="adj" fmla="val 11765"/>
            </a:avLst>
          </a:prstGeom>
          <a:solidFill>
            <a:srgbClr val="FFFFFF"/>
          </a:solidFill>
          <a:ln w="12700">
            <a:solidFill>
              <a:srgbClr val="C6D4CF"/>
            </a:solidFill>
            <a:prstDash val="solid"/>
          </a:ln>
        </p:spPr>
      </p:sp>
      <p:sp>
        <p:nvSpPr>
          <p:cNvPr id="9" name="Shape 7"/>
          <p:cNvSpPr/>
          <p:nvPr/>
        </p:nvSpPr>
        <p:spPr>
          <a:xfrm>
            <a:off x="731520" y="3172968"/>
            <a:ext cx="457200" cy="457200"/>
          </a:xfrm>
          <a:prstGeom prst="ellipse">
            <a:avLst/>
          </a:prstGeom>
          <a:solidFill>
            <a:srgbClr val="16303A"/>
          </a:solidFill>
          <a:ln w="12700">
            <a:solidFill>
              <a:srgbClr val="16303A"/>
            </a:solidFill>
            <a:prstDash val="solid"/>
          </a:ln>
        </p:spPr>
      </p:sp>
      <p:sp>
        <p:nvSpPr>
          <p:cNvPr id="10" name="Text 8"/>
          <p:cNvSpPr txBox="1"/>
          <p:nvPr/>
        </p:nvSpPr>
        <p:spPr>
          <a:xfrm>
            <a:off x="731520" y="317296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B</a:t>
            </a:r>
            <a:endParaRPr lang="en-US" sz="1400" dirty="0"/>
          </a:p>
        </p:txBody>
      </p:sp>
      <p:sp>
        <p:nvSpPr>
          <p:cNvPr id="11" name="Text 9"/>
          <p:cNvSpPr txBox="1"/>
          <p:nvPr/>
        </p:nvSpPr>
        <p:spPr>
          <a:xfrm>
            <a:off x="1371600" y="3017520"/>
            <a:ext cx="6858000" cy="777240"/>
          </a:xfrm>
          <a:prstGeom prst="rect">
            <a:avLst/>
          </a:prstGeom>
          <a:noFill/>
          <a:ln/>
        </p:spPr>
        <p:txBody>
          <a:bodyPr wrap="square" lIns="0" tIns="0" rIns="0" bIns="0" rtlCol="0" anchor="ctr">
            <a:normAutofit/>
          </a:bodyPr>
          <a:lstStyle/>
          <a:p>
            <a:pPr indent="0" marL="0">
              <a:buNone/>
            </a:pPr>
            <a:r>
              <a:rPr lang="en-US" sz="1700" dirty="0">
                <a:solidFill>
                  <a:srgbClr val="16303A"/>
                </a:solidFill>
                <a:latin typeface="Calibri" pitchFamily="34" charset="0"/>
                <a:ea typeface="Calibri" pitchFamily="34" charset="-122"/>
                <a:cs typeface="Calibri" pitchFamily="34" charset="-120"/>
              </a:rPr>
              <a:t>It improves short-term range mainly by increasing tolerance to the stretch</a:t>
            </a:r>
            <a:endParaRPr lang="en-US" sz="1700" dirty="0"/>
          </a:p>
        </p:txBody>
      </p:sp>
      <p:sp>
        <p:nvSpPr>
          <p:cNvPr id="12" name="Shape 10"/>
          <p:cNvSpPr/>
          <p:nvPr/>
        </p:nvSpPr>
        <p:spPr>
          <a:xfrm>
            <a:off x="548640" y="3977640"/>
            <a:ext cx="7863840" cy="777240"/>
          </a:xfrm>
          <a:prstGeom prst="roundRect">
            <a:avLst>
              <a:gd name="adj" fmla="val 11765"/>
            </a:avLst>
          </a:prstGeom>
          <a:solidFill>
            <a:srgbClr val="FFFFFF"/>
          </a:solidFill>
          <a:ln w="12700">
            <a:solidFill>
              <a:srgbClr val="C6D4CF"/>
            </a:solidFill>
            <a:prstDash val="solid"/>
          </a:ln>
        </p:spPr>
      </p:sp>
      <p:sp>
        <p:nvSpPr>
          <p:cNvPr id="13" name="Shape 11"/>
          <p:cNvSpPr/>
          <p:nvPr/>
        </p:nvSpPr>
        <p:spPr>
          <a:xfrm>
            <a:off x="731520" y="4133088"/>
            <a:ext cx="457200" cy="457200"/>
          </a:xfrm>
          <a:prstGeom prst="ellipse">
            <a:avLst/>
          </a:prstGeom>
          <a:solidFill>
            <a:srgbClr val="16303A"/>
          </a:solidFill>
          <a:ln w="12700">
            <a:solidFill>
              <a:srgbClr val="16303A"/>
            </a:solidFill>
            <a:prstDash val="solid"/>
          </a:ln>
        </p:spPr>
      </p:sp>
      <p:sp>
        <p:nvSpPr>
          <p:cNvPr id="14" name="Text 12"/>
          <p:cNvSpPr txBox="1"/>
          <p:nvPr/>
        </p:nvSpPr>
        <p:spPr>
          <a:xfrm>
            <a:off x="731520" y="413308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C</a:t>
            </a:r>
            <a:endParaRPr lang="en-US" sz="1400" dirty="0"/>
          </a:p>
        </p:txBody>
      </p:sp>
      <p:sp>
        <p:nvSpPr>
          <p:cNvPr id="15" name="Text 13"/>
          <p:cNvSpPr txBox="1"/>
          <p:nvPr/>
        </p:nvSpPr>
        <p:spPr>
          <a:xfrm>
            <a:off x="1371600" y="3977640"/>
            <a:ext cx="6858000" cy="777240"/>
          </a:xfrm>
          <a:prstGeom prst="rect">
            <a:avLst/>
          </a:prstGeom>
          <a:noFill/>
          <a:ln/>
        </p:spPr>
        <p:txBody>
          <a:bodyPr wrap="square" lIns="0" tIns="0" rIns="0" bIns="0" rtlCol="0" anchor="ctr">
            <a:normAutofit/>
          </a:bodyPr>
          <a:lstStyle/>
          <a:p>
            <a:pPr indent="0" marL="0">
              <a:buNone/>
            </a:pPr>
            <a:r>
              <a:rPr lang="en-US" sz="1700" dirty="0">
                <a:solidFill>
                  <a:srgbClr val="16303A"/>
                </a:solidFill>
                <a:latin typeface="Calibri" pitchFamily="34" charset="0"/>
                <a:ea typeface="Calibri" pitchFamily="34" charset="-122"/>
                <a:cs typeface="Calibri" pitchFamily="34" charset="-120"/>
              </a:rPr>
              <a:t>It does not change range of motion at all</a:t>
            </a:r>
            <a:endParaRPr lang="en-US" sz="1700" dirty="0"/>
          </a:p>
        </p:txBody>
      </p:sp>
      <p:sp>
        <p:nvSpPr>
          <p:cNvPr id="16" name="Text 14"/>
          <p:cNvSpPr txBox="1"/>
          <p:nvPr/>
        </p:nvSpPr>
        <p:spPr>
          <a:xfrm>
            <a:off x="8778240" y="2194560"/>
            <a:ext cx="2834640" cy="1280160"/>
          </a:xfrm>
          <a:prstGeom prst="rect">
            <a:avLst/>
          </a:prstGeom>
          <a:noFill/>
          <a:ln/>
        </p:spPr>
        <p:txBody>
          <a:bodyPr wrap="square" lIns="0" tIns="0" rIns="0" bIns="0" rtlCol="0" anchor="ctr"/>
          <a:lstStyle/>
          <a:p>
            <a:pPr indent="0" marL="0">
              <a:buNone/>
            </a:pPr>
            <a:r>
              <a:rPr lang="en-US" sz="1800" i="1" dirty="0">
                <a:solidFill>
                  <a:srgbClr val="55707A"/>
                </a:solidFill>
                <a:latin typeface="Cambria" pitchFamily="34" charset="0"/>
                <a:ea typeface="Cambria" pitchFamily="34" charset="-122"/>
                <a:cs typeface="Cambria" pitchFamily="34" charset="-120"/>
              </a:rPr>
              <a:t>Pause the video and choose before you move on.</a:t>
            </a:r>
            <a:endParaRPr lang="en-US" sz="1800" dirty="0"/>
          </a:p>
        </p:txBody>
      </p:sp>
      <p:sp>
        <p:nvSpPr>
          <p:cNvPr id="17" name="Text 15"/>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8" name="Text 16"/>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4.4  ·  CHECK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Answer</a:t>
            </a:r>
            <a:endParaRPr lang="en-US" sz="3000" dirty="0"/>
          </a:p>
        </p:txBody>
      </p:sp>
      <p:sp>
        <p:nvSpPr>
          <p:cNvPr id="4" name="Shape 2"/>
          <p:cNvSpPr/>
          <p:nvPr/>
        </p:nvSpPr>
        <p:spPr>
          <a:xfrm>
            <a:off x="548640" y="1737360"/>
            <a:ext cx="11064240" cy="1097280"/>
          </a:xfrm>
          <a:prstGeom prst="roundRect">
            <a:avLst>
              <a:gd name="adj" fmla="val 10000"/>
            </a:avLst>
          </a:prstGeom>
          <a:solidFill>
            <a:srgbClr val="D5E9DF"/>
          </a:solidFill>
          <a:ln w="19050">
            <a:solidFill>
              <a:srgbClr val="2F7359"/>
            </a:solidFill>
            <a:prstDash val="solid"/>
          </a:ln>
        </p:spPr>
      </p:sp>
      <p:sp>
        <p:nvSpPr>
          <p:cNvPr id="5" name="Shape 3"/>
          <p:cNvSpPr/>
          <p:nvPr/>
        </p:nvSpPr>
        <p:spPr>
          <a:xfrm>
            <a:off x="777240" y="2011680"/>
            <a:ext cx="548640" cy="548640"/>
          </a:xfrm>
          <a:prstGeom prst="ellipse">
            <a:avLst/>
          </a:prstGeom>
          <a:solidFill>
            <a:srgbClr val="2F7359"/>
          </a:solidFill>
          <a:ln w="12700">
            <a:solidFill>
              <a:srgbClr val="2F7359"/>
            </a:solidFill>
            <a:prstDash val="solid"/>
          </a:ln>
        </p:spPr>
      </p:sp>
      <p:sp>
        <p:nvSpPr>
          <p:cNvPr id="6" name="Text 4"/>
          <p:cNvSpPr txBox="1"/>
          <p:nvPr/>
        </p:nvSpPr>
        <p:spPr>
          <a:xfrm>
            <a:off x="777240" y="2011680"/>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B</a:t>
            </a:r>
            <a:endParaRPr lang="en-US" sz="1400" dirty="0"/>
          </a:p>
        </p:txBody>
      </p:sp>
      <p:sp>
        <p:nvSpPr>
          <p:cNvPr id="7" name="Text 5"/>
          <p:cNvSpPr txBox="1"/>
          <p:nvPr/>
        </p:nvSpPr>
        <p:spPr>
          <a:xfrm>
            <a:off x="1554480" y="1737360"/>
            <a:ext cx="9875520" cy="1097280"/>
          </a:xfrm>
          <a:prstGeom prst="rect">
            <a:avLst/>
          </a:prstGeom>
          <a:noFill/>
          <a:ln/>
        </p:spPr>
        <p:txBody>
          <a:bodyPr wrap="square" lIns="0" tIns="0" rIns="0" bIns="0" rtlCol="0" anchor="ctr">
            <a:normAutofit/>
          </a:bodyPr>
          <a:lstStyle/>
          <a:p>
            <a:pPr indent="0" marL="0">
              <a:buNone/>
            </a:pPr>
            <a:r>
              <a:rPr lang="en-US" sz="2200" b="1" dirty="0">
                <a:solidFill>
                  <a:srgbClr val="16303A"/>
                </a:solidFill>
                <a:latin typeface="Cambria" pitchFamily="34" charset="0"/>
                <a:ea typeface="Cambria" pitchFamily="34" charset="-122"/>
                <a:cs typeface="Cambria" pitchFamily="34" charset="-120"/>
              </a:rPr>
              <a:t>It improves short-term range mainly by increasing tolerance to the stretch</a:t>
            </a:r>
            <a:endParaRPr lang="en-US" sz="2200" dirty="0"/>
          </a:p>
        </p:txBody>
      </p:sp>
      <p:sp>
        <p:nvSpPr>
          <p:cNvPr id="8" name="Text 6"/>
          <p:cNvSpPr txBox="1"/>
          <p:nvPr/>
        </p:nvSpPr>
        <p:spPr>
          <a:xfrm>
            <a:off x="548640" y="3108960"/>
            <a:ext cx="11064240" cy="12801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PNF reliably improves short-term range, but the GTO inhibition explanation is questioned; increased stretch tolerance is the leading explanation.</a:t>
            </a:r>
            <a:endParaRPr lang="en-US" sz="1800" dirty="0"/>
          </a:p>
        </p:txBody>
      </p:sp>
      <p:sp>
        <p:nvSpPr>
          <p:cNvPr id="9" name="Text 7"/>
          <p:cNvSpPr txBox="1"/>
          <p:nvPr/>
        </p:nvSpPr>
        <p:spPr>
          <a:xfrm>
            <a:off x="548640" y="4754880"/>
            <a:ext cx="11064240" cy="731520"/>
          </a:xfrm>
          <a:prstGeom prst="rect">
            <a:avLst/>
          </a:prstGeom>
          <a:noFill/>
          <a:ln/>
        </p:spPr>
        <p:txBody>
          <a:bodyPr wrap="square" lIns="0" tIns="0" rIns="0" bIns="0" rtlCol="0" anchor="t">
            <a:normAutofit/>
          </a:bodyPr>
          <a:lstStyle/>
          <a:p>
            <a:pPr indent="0" marL="0">
              <a:buNone/>
            </a:pPr>
            <a:r>
              <a:rPr lang="en-US" sz="1200" dirty="0">
                <a:solidFill>
                  <a:srgbClr val="55707A"/>
                </a:solidFill>
                <a:latin typeface="Calibri" pitchFamily="34" charset="0"/>
                <a:ea typeface="Calibri" pitchFamily="34" charset="-122"/>
                <a:cs typeface="Calibri" pitchFamily="34" charset="-120"/>
              </a:rPr>
              <a:t>Question: Which statement about PNF contract-relax stretching best fits current evidence?</a:t>
            </a:r>
            <a:endParaRPr lang="en-US" sz="1200" dirty="0"/>
          </a:p>
        </p:txBody>
      </p:sp>
      <p:sp>
        <p:nvSpPr>
          <p:cNvPr id="10" name="Text 8"/>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1" name="Text 9"/>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6303A"/>
        </a:solidFill>
      </p:bgPr>
    </p:bg>
    <p:spTree>
      <p:nvGrpSpPr>
        <p:cNvPr id="1" name=""/>
        <p:cNvGrpSpPr/>
        <p:nvPr/>
      </p:nvGrpSpPr>
      <p:grpSpPr>
        <a:xfrm>
          <a:off x="0" y="0"/>
          <a:ext cx="0" cy="0"/>
          <a:chOff x="0" y="0"/>
          <a:chExt cx="0" cy="0"/>
        </a:xfrm>
      </p:grpSpPr>
      <p:sp>
        <p:nvSpPr>
          <p:cNvPr id="2" name="Shape 0"/>
          <p:cNvSpPr/>
          <p:nvPr/>
        </p:nvSpPr>
        <p:spPr>
          <a:xfrm>
            <a:off x="548640" y="1463040"/>
            <a:ext cx="1371600" cy="1371600"/>
          </a:xfrm>
          <a:prstGeom prst="ellipse">
            <a:avLst/>
          </a:prstGeom>
          <a:solidFill>
            <a:srgbClr val="B3304C"/>
          </a:solidFill>
          <a:ln w="12700">
            <a:solidFill>
              <a:srgbClr val="B3304C"/>
            </a:solidFill>
            <a:prstDash val="solid"/>
          </a:ln>
        </p:spPr>
      </p:sp>
      <p:sp>
        <p:nvSpPr>
          <p:cNvPr id="3" name="Text 1"/>
          <p:cNvSpPr txBox="1"/>
          <p:nvPr/>
        </p:nvSpPr>
        <p:spPr>
          <a:xfrm>
            <a:off x="548640" y="1463040"/>
            <a:ext cx="1371600" cy="137160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4.5</a:t>
            </a:r>
            <a:endParaRPr lang="en-US" sz="3000" dirty="0"/>
          </a:p>
        </p:txBody>
      </p:sp>
      <p:sp>
        <p:nvSpPr>
          <p:cNvPr id="4" name="Text 2"/>
          <p:cNvSpPr txBox="1"/>
          <p:nvPr/>
        </p:nvSpPr>
        <p:spPr>
          <a:xfrm>
            <a:off x="2286000" y="1508760"/>
            <a:ext cx="7315200" cy="320040"/>
          </a:xfrm>
          <a:prstGeom prst="rect">
            <a:avLst/>
          </a:prstGeom>
          <a:noFill/>
          <a:ln/>
        </p:spPr>
        <p:txBody>
          <a:bodyPr wrap="square" lIns="0" tIns="0" rIns="0" bIns="0" rtlCol="0" anchor="ctr"/>
          <a:lstStyle/>
          <a:p>
            <a:pPr indent="0" marL="0">
              <a:buNone/>
            </a:pPr>
            <a:r>
              <a:rPr lang="en-US" sz="1300" b="1" spc="300" kern="0" dirty="0">
                <a:solidFill>
                  <a:srgbClr val="CBB78C"/>
                </a:solidFill>
                <a:latin typeface="Calibri" pitchFamily="34" charset="0"/>
                <a:ea typeface="Calibri" pitchFamily="34" charset="-122"/>
                <a:cs typeface="Calibri" pitchFamily="34" charset="-120"/>
              </a:rPr>
              <a:t>LESSON 4.5  ·  25 MIN</a:t>
            </a:r>
            <a:endParaRPr lang="en-US" sz="1300" dirty="0"/>
          </a:p>
        </p:txBody>
      </p:sp>
      <p:sp>
        <p:nvSpPr>
          <p:cNvPr id="5" name="Text 3"/>
          <p:cNvSpPr txBox="1"/>
          <p:nvPr/>
        </p:nvSpPr>
        <p:spPr>
          <a:xfrm>
            <a:off x="2286000" y="1874520"/>
            <a:ext cx="9052560" cy="1463040"/>
          </a:xfrm>
          <a:prstGeom prst="rect">
            <a:avLst/>
          </a:prstGeom>
          <a:noFill/>
          <a:ln/>
        </p:spPr>
        <p:txBody>
          <a:bodyPr wrap="square" lIns="0" tIns="0" rIns="0" bIns="0" rtlCol="0" anchor="t">
            <a:normAutofit/>
          </a:bodyPr>
          <a:lstStyle/>
          <a:p>
            <a:pPr indent="0" marL="0">
              <a:buNone/>
            </a:pPr>
            <a:r>
              <a:rPr lang="en-US" sz="3600" b="1" dirty="0">
                <a:solidFill>
                  <a:srgbClr val="FFFFFF"/>
                </a:solidFill>
                <a:latin typeface="Cambria" pitchFamily="34" charset="0"/>
                <a:ea typeface="Cambria" pitchFamily="34" charset="-122"/>
                <a:cs typeface="Cambria" pitchFamily="34" charset="-120"/>
              </a:rPr>
              <a:t>What flexibility is: nervous system tolerance and tissue length</a:t>
            </a:r>
            <a:endParaRPr lang="en-US" sz="3600" dirty="0"/>
          </a:p>
        </p:txBody>
      </p:sp>
      <p:sp>
        <p:nvSpPr>
          <p:cNvPr id="6" name="Shape 4"/>
          <p:cNvSpPr/>
          <p:nvPr/>
        </p:nvSpPr>
        <p:spPr>
          <a:xfrm>
            <a:off x="2286000" y="3931920"/>
            <a:ext cx="1965960" cy="566928"/>
          </a:xfrm>
          <a:prstGeom prst="roundRect">
            <a:avLst>
              <a:gd name="adj" fmla="val 48387"/>
            </a:avLst>
          </a:prstGeom>
          <a:solidFill>
            <a:srgbClr val="22414D"/>
          </a:solidFill>
          <a:ln w="12700">
            <a:solidFill>
              <a:srgbClr val="3B5A66"/>
            </a:solidFill>
            <a:prstDash val="solid"/>
          </a:ln>
        </p:spPr>
      </p:sp>
      <p:sp>
        <p:nvSpPr>
          <p:cNvPr id="7" name="Text 5"/>
          <p:cNvSpPr txBox="1"/>
          <p:nvPr/>
        </p:nvSpPr>
        <p:spPr>
          <a:xfrm>
            <a:off x="228600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See it</a:t>
            </a:r>
            <a:endParaRPr lang="en-US" sz="1400" dirty="0"/>
          </a:p>
        </p:txBody>
      </p:sp>
      <p:sp>
        <p:nvSpPr>
          <p:cNvPr id="8" name="Shape 6"/>
          <p:cNvSpPr/>
          <p:nvPr/>
        </p:nvSpPr>
        <p:spPr>
          <a:xfrm>
            <a:off x="4434840" y="3931920"/>
            <a:ext cx="1965960" cy="566928"/>
          </a:xfrm>
          <a:prstGeom prst="roundRect">
            <a:avLst>
              <a:gd name="adj" fmla="val 48387"/>
            </a:avLst>
          </a:prstGeom>
          <a:solidFill>
            <a:srgbClr val="22414D"/>
          </a:solidFill>
          <a:ln w="12700">
            <a:solidFill>
              <a:srgbClr val="3B5A66"/>
            </a:solidFill>
            <a:prstDash val="solid"/>
          </a:ln>
        </p:spPr>
      </p:sp>
      <p:sp>
        <p:nvSpPr>
          <p:cNvPr id="9" name="Text 7"/>
          <p:cNvSpPr txBox="1"/>
          <p:nvPr/>
        </p:nvSpPr>
        <p:spPr>
          <a:xfrm>
            <a:off x="443484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Feel it</a:t>
            </a:r>
            <a:endParaRPr lang="en-US" sz="1400" dirty="0"/>
          </a:p>
        </p:txBody>
      </p:sp>
      <p:sp>
        <p:nvSpPr>
          <p:cNvPr id="10" name="Shape 8"/>
          <p:cNvSpPr/>
          <p:nvPr/>
        </p:nvSpPr>
        <p:spPr>
          <a:xfrm>
            <a:off x="6583680" y="3931920"/>
            <a:ext cx="1965960" cy="566928"/>
          </a:xfrm>
          <a:prstGeom prst="roundRect">
            <a:avLst>
              <a:gd name="adj" fmla="val 48387"/>
            </a:avLst>
          </a:prstGeom>
          <a:solidFill>
            <a:srgbClr val="22414D"/>
          </a:solidFill>
          <a:ln w="12700">
            <a:solidFill>
              <a:srgbClr val="3B5A66"/>
            </a:solidFill>
            <a:prstDash val="solid"/>
          </a:ln>
        </p:spPr>
      </p:sp>
      <p:sp>
        <p:nvSpPr>
          <p:cNvPr id="11" name="Text 9"/>
          <p:cNvSpPr txBox="1"/>
          <p:nvPr/>
        </p:nvSpPr>
        <p:spPr>
          <a:xfrm>
            <a:off x="658368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Cue it</a:t>
            </a:r>
            <a:endParaRPr lang="en-US" sz="1400" dirty="0"/>
          </a:p>
        </p:txBody>
      </p:sp>
      <p:sp>
        <p:nvSpPr>
          <p:cNvPr id="12" name="Shape 10"/>
          <p:cNvSpPr/>
          <p:nvPr/>
        </p:nvSpPr>
        <p:spPr>
          <a:xfrm>
            <a:off x="8732520" y="3931920"/>
            <a:ext cx="1965960" cy="566928"/>
          </a:xfrm>
          <a:prstGeom prst="roundRect">
            <a:avLst>
              <a:gd name="adj" fmla="val 48387"/>
            </a:avLst>
          </a:prstGeom>
          <a:solidFill>
            <a:srgbClr val="22414D"/>
          </a:solidFill>
          <a:ln w="12700">
            <a:solidFill>
              <a:srgbClr val="3B5A66"/>
            </a:solidFill>
            <a:prstDash val="solid"/>
          </a:ln>
        </p:spPr>
      </p:sp>
      <p:sp>
        <p:nvSpPr>
          <p:cNvPr id="13" name="Text 11"/>
          <p:cNvSpPr txBox="1"/>
          <p:nvPr/>
        </p:nvSpPr>
        <p:spPr>
          <a:xfrm>
            <a:off x="873252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Check it</a:t>
            </a:r>
            <a:endParaRPr lang="en-US" sz="1400" dirty="0"/>
          </a:p>
        </p:txBody>
      </p:sp>
      <p:sp>
        <p:nvSpPr>
          <p:cNvPr id="14" name="Text 1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A9BFC6"/>
                </a:solidFill>
                <a:latin typeface="Calibri" pitchFamily="34" charset="0"/>
                <a:ea typeface="Calibri" pitchFamily="34" charset="-122"/>
                <a:cs typeface="Calibri" pitchFamily="34" charset="-120"/>
              </a:rPr>
              <a:t>Anatomy on the Mat  ·  Dr. Akash Garg, D.C.</a:t>
            </a:r>
            <a:endParaRPr lang="en-US" sz="900" dirty="0"/>
          </a:p>
        </p:txBody>
      </p:sp>
      <p:sp>
        <p:nvSpPr>
          <p:cNvPr id="15" name="Text 1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A9BFC6"/>
                </a:solidFill>
                <a:latin typeface="Calibri" pitchFamily="34" charset="0"/>
                <a:ea typeface="Calibri" pitchFamily="34" charset="-122"/>
                <a:cs typeface="Calibr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4.5</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Flexibility has two ingredients</a:t>
            </a:r>
            <a:endParaRPr lang="en-US" sz="3000" dirty="0"/>
          </a:p>
        </p:txBody>
      </p:sp>
      <p:sp>
        <p:nvSpPr>
          <p:cNvPr id="4" name="Shape 2"/>
          <p:cNvSpPr/>
          <p:nvPr/>
        </p:nvSpPr>
        <p:spPr>
          <a:xfrm>
            <a:off x="548640" y="1984248"/>
            <a:ext cx="182880" cy="182880"/>
          </a:xfrm>
          <a:prstGeom prst="ellipse">
            <a:avLst/>
          </a:prstGeom>
          <a:solidFill>
            <a:srgbClr val="B3304C"/>
          </a:solidFill>
          <a:ln w="12700">
            <a:solidFill>
              <a:srgbClr val="B3304C"/>
            </a:solidFill>
            <a:prstDash val="solid"/>
          </a:ln>
        </p:spPr>
      </p:sp>
      <p:sp>
        <p:nvSpPr>
          <p:cNvPr id="5" name="Text 3"/>
          <p:cNvSpPr txBox="1"/>
          <p:nvPr/>
        </p:nvSpPr>
        <p:spPr>
          <a:xfrm>
            <a:off x="960120" y="1874520"/>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Tissue: how long and stiff the muscle-tendon unit and other tissues are</a:t>
            </a:r>
            <a:endParaRPr lang="en-US" sz="1900" dirty="0"/>
          </a:p>
        </p:txBody>
      </p:sp>
      <p:sp>
        <p:nvSpPr>
          <p:cNvPr id="6" name="Shape 4"/>
          <p:cNvSpPr/>
          <p:nvPr/>
        </p:nvSpPr>
        <p:spPr>
          <a:xfrm>
            <a:off x="548640" y="2916936"/>
            <a:ext cx="182880" cy="182880"/>
          </a:xfrm>
          <a:prstGeom prst="ellipse">
            <a:avLst/>
          </a:prstGeom>
          <a:solidFill>
            <a:srgbClr val="2F7359"/>
          </a:solidFill>
          <a:ln w="12700">
            <a:solidFill>
              <a:srgbClr val="2F7359"/>
            </a:solidFill>
            <a:prstDash val="solid"/>
          </a:ln>
        </p:spPr>
      </p:sp>
      <p:sp>
        <p:nvSpPr>
          <p:cNvPr id="7" name="Text 5"/>
          <p:cNvSpPr txBox="1"/>
          <p:nvPr/>
        </p:nvSpPr>
        <p:spPr>
          <a:xfrm>
            <a:off x="960120" y="2807208"/>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Nervous system: how much stretch sensation you allow</a:t>
            </a:r>
            <a:endParaRPr lang="en-US" sz="1900" dirty="0"/>
          </a:p>
        </p:txBody>
      </p:sp>
      <p:sp>
        <p:nvSpPr>
          <p:cNvPr id="8" name="Shape 6"/>
          <p:cNvSpPr/>
          <p:nvPr/>
        </p:nvSpPr>
        <p:spPr>
          <a:xfrm>
            <a:off x="548640" y="3849624"/>
            <a:ext cx="182880" cy="182880"/>
          </a:xfrm>
          <a:prstGeom prst="ellipse">
            <a:avLst/>
          </a:prstGeom>
          <a:solidFill>
            <a:srgbClr val="B3304C"/>
          </a:solidFill>
          <a:ln w="12700">
            <a:solidFill>
              <a:srgbClr val="B3304C"/>
            </a:solidFill>
            <a:prstDash val="solid"/>
          </a:ln>
        </p:spPr>
      </p:sp>
      <p:sp>
        <p:nvSpPr>
          <p:cNvPr id="9" name="Text 7"/>
          <p:cNvSpPr txBox="1"/>
          <p:nvPr/>
        </p:nvSpPr>
        <p:spPr>
          <a:xfrm>
            <a:off x="960120" y="3739896"/>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The end of range is usually set by sensation, not by tissue tearing</a:t>
            </a:r>
            <a:endParaRPr lang="en-US" sz="1900" dirty="0"/>
          </a:p>
        </p:txBody>
      </p:sp>
      <p:sp>
        <p:nvSpPr>
          <p:cNvPr id="10" name="Shape 8"/>
          <p:cNvSpPr/>
          <p:nvPr/>
        </p:nvSpPr>
        <p:spPr>
          <a:xfrm>
            <a:off x="548640" y="4782312"/>
            <a:ext cx="182880" cy="182880"/>
          </a:xfrm>
          <a:prstGeom prst="ellipse">
            <a:avLst/>
          </a:prstGeom>
          <a:solidFill>
            <a:srgbClr val="2F7359"/>
          </a:solidFill>
          <a:ln w="12700">
            <a:solidFill>
              <a:srgbClr val="2F7359"/>
            </a:solidFill>
            <a:prstDash val="solid"/>
          </a:ln>
        </p:spPr>
      </p:sp>
      <p:sp>
        <p:nvSpPr>
          <p:cNvPr id="11" name="Text 9"/>
          <p:cNvSpPr txBox="1"/>
          <p:nvPr/>
        </p:nvSpPr>
        <p:spPr>
          <a:xfrm>
            <a:off x="960120" y="4672584"/>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Range often increases under general anesthesia</a:t>
            </a:r>
            <a:endParaRPr lang="en-US" sz="1900" dirty="0"/>
          </a:p>
        </p:txBody>
      </p:sp>
      <p:sp>
        <p:nvSpPr>
          <p:cNvPr id="12" name="Shape 10"/>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13" name="Image 0" descr="Down Dog range reflects both tissue and tolerance">    </p:cNvPr>
          <p:cNvPicPr>
            <a:picLocks noChangeAspect="1"/>
          </p:cNvPicPr>
          <p:nvPr/>
        </p:nvPicPr>
        <p:blipFill>
          <a:blip r:embed="rId1"/>
          <a:stretch>
            <a:fillRect/>
          </a:stretch>
        </p:blipFill>
        <p:spPr>
          <a:xfrm>
            <a:off x="7306620" y="1901952"/>
            <a:ext cx="3949080" cy="3657600"/>
          </a:xfrm>
          <a:prstGeom prst="rect">
            <a:avLst/>
          </a:prstGeom>
        </p:spPr>
      </p:pic>
      <p:sp>
        <p:nvSpPr>
          <p:cNvPr id="14" name="Text 11"/>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22  </a:t>
            </a:r>
            <a:pPr indent="0" marL="0">
              <a:buNone/>
            </a:pPr>
            <a:r>
              <a:rPr lang="en-US" sz="1100" dirty="0">
                <a:solidFill>
                  <a:srgbClr val="55707A"/>
                </a:solidFill>
                <a:latin typeface="Calibri" pitchFamily="34" charset="0"/>
                <a:ea typeface="Calibri" pitchFamily="34" charset="-122"/>
                <a:cs typeface="Calibri" pitchFamily="34" charset="-120"/>
              </a:rPr>
              <a:t>Down Dog range reflects both tissue and tolerance</a:t>
            </a:r>
            <a:endParaRPr lang="en-US" sz="1100" dirty="0"/>
          </a:p>
        </p:txBody>
      </p:sp>
      <p:sp>
        <p:nvSpPr>
          <p:cNvPr id="15" name="Text 1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6" name="Text 1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4.5</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The sensory theory of stretching</a:t>
            </a:r>
            <a:endParaRPr lang="en-US" sz="3000" dirty="0"/>
          </a:p>
        </p:txBody>
      </p:sp>
      <p:sp>
        <p:nvSpPr>
          <p:cNvPr id="4" name="Shape 2"/>
          <p:cNvSpPr/>
          <p:nvPr/>
        </p:nvSpPr>
        <p:spPr>
          <a:xfrm>
            <a:off x="548640" y="1984248"/>
            <a:ext cx="182880" cy="182880"/>
          </a:xfrm>
          <a:prstGeom prst="ellipse">
            <a:avLst/>
          </a:prstGeom>
          <a:solidFill>
            <a:srgbClr val="B3304C"/>
          </a:solidFill>
          <a:ln w="12700">
            <a:solidFill>
              <a:srgbClr val="B3304C"/>
            </a:solidFill>
            <a:prstDash val="solid"/>
          </a:ln>
        </p:spPr>
      </p:sp>
      <p:sp>
        <p:nvSpPr>
          <p:cNvPr id="5" name="Text 3"/>
          <p:cNvSpPr txBox="1"/>
          <p:nvPr/>
        </p:nvSpPr>
        <p:spPr>
          <a:xfrm>
            <a:off x="960120" y="1874520"/>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After a stretching session, range goes up quickly</a:t>
            </a:r>
            <a:endParaRPr lang="en-US" sz="1900" dirty="0"/>
          </a:p>
        </p:txBody>
      </p:sp>
      <p:sp>
        <p:nvSpPr>
          <p:cNvPr id="6" name="Shape 4"/>
          <p:cNvSpPr/>
          <p:nvPr/>
        </p:nvSpPr>
        <p:spPr>
          <a:xfrm>
            <a:off x="548640" y="2916936"/>
            <a:ext cx="182880" cy="182880"/>
          </a:xfrm>
          <a:prstGeom prst="ellipse">
            <a:avLst/>
          </a:prstGeom>
          <a:solidFill>
            <a:srgbClr val="2F7359"/>
          </a:solidFill>
          <a:ln w="12700">
            <a:solidFill>
              <a:srgbClr val="2F7359"/>
            </a:solidFill>
            <a:prstDash val="solid"/>
          </a:ln>
        </p:spPr>
      </p:sp>
      <p:sp>
        <p:nvSpPr>
          <p:cNvPr id="7" name="Text 5"/>
          <p:cNvSpPr txBox="1"/>
          <p:nvPr/>
        </p:nvSpPr>
        <p:spPr>
          <a:xfrm>
            <a:off x="960120" y="2807208"/>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Muscle stiffness changes little in the short term</a:t>
            </a:r>
            <a:endParaRPr lang="en-US" sz="1900" dirty="0"/>
          </a:p>
        </p:txBody>
      </p:sp>
      <p:sp>
        <p:nvSpPr>
          <p:cNvPr id="8" name="Shape 6"/>
          <p:cNvSpPr/>
          <p:nvPr/>
        </p:nvSpPr>
        <p:spPr>
          <a:xfrm>
            <a:off x="548640" y="3849624"/>
            <a:ext cx="182880" cy="182880"/>
          </a:xfrm>
          <a:prstGeom prst="ellipse">
            <a:avLst/>
          </a:prstGeom>
          <a:solidFill>
            <a:srgbClr val="B3304C"/>
          </a:solidFill>
          <a:ln w="12700">
            <a:solidFill>
              <a:srgbClr val="B3304C"/>
            </a:solidFill>
            <a:prstDash val="solid"/>
          </a:ln>
        </p:spPr>
      </p:sp>
      <p:sp>
        <p:nvSpPr>
          <p:cNvPr id="9" name="Text 7"/>
          <p:cNvSpPr txBox="1"/>
          <p:nvPr/>
        </p:nvSpPr>
        <p:spPr>
          <a:xfrm>
            <a:off x="960120" y="3739896"/>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What changes most: tolerance of the stretch sensation</a:t>
            </a:r>
            <a:endParaRPr lang="en-US" sz="1900" dirty="0"/>
          </a:p>
        </p:txBody>
      </p:sp>
      <p:sp>
        <p:nvSpPr>
          <p:cNvPr id="10" name="Shape 8"/>
          <p:cNvSpPr/>
          <p:nvPr/>
        </p:nvSpPr>
        <p:spPr>
          <a:xfrm>
            <a:off x="548640" y="4782312"/>
            <a:ext cx="182880" cy="182880"/>
          </a:xfrm>
          <a:prstGeom prst="ellipse">
            <a:avLst/>
          </a:prstGeom>
          <a:solidFill>
            <a:srgbClr val="2F7359"/>
          </a:solidFill>
          <a:ln w="12700">
            <a:solidFill>
              <a:srgbClr val="2F7359"/>
            </a:solidFill>
            <a:prstDash val="solid"/>
          </a:ln>
        </p:spPr>
      </p:sp>
      <p:sp>
        <p:nvSpPr>
          <p:cNvPr id="11" name="Text 9"/>
          <p:cNvSpPr txBox="1"/>
          <p:nvPr/>
        </p:nvSpPr>
        <p:spPr>
          <a:xfrm>
            <a:off x="960120" y="4672584"/>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This stretch tolerance model is the mainstream view</a:t>
            </a:r>
            <a:endParaRPr lang="en-US" sz="1900" dirty="0"/>
          </a:p>
        </p:txBody>
      </p:sp>
      <p:sp>
        <p:nvSpPr>
          <p:cNvPr id="12" name="Shape 10"/>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13" name="Image 0" descr="Folding further after a few breaths: tolerance, not a longer muscle">    </p:cNvPr>
          <p:cNvPicPr>
            <a:picLocks noChangeAspect="1"/>
          </p:cNvPicPr>
          <p:nvPr/>
        </p:nvPicPr>
        <p:blipFill>
          <a:blip r:embed="rId1"/>
          <a:stretch>
            <a:fillRect/>
          </a:stretch>
        </p:blipFill>
        <p:spPr>
          <a:xfrm>
            <a:off x="7147560" y="1901952"/>
            <a:ext cx="4267200" cy="3657600"/>
          </a:xfrm>
          <a:prstGeom prst="rect">
            <a:avLst/>
          </a:prstGeom>
        </p:spPr>
      </p:pic>
      <p:sp>
        <p:nvSpPr>
          <p:cNvPr id="14" name="Text 11"/>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23  </a:t>
            </a:r>
            <a:pPr indent="0" marL="0">
              <a:buNone/>
            </a:pPr>
            <a:r>
              <a:rPr lang="en-US" sz="1100" dirty="0">
                <a:solidFill>
                  <a:srgbClr val="55707A"/>
                </a:solidFill>
                <a:latin typeface="Calibri" pitchFamily="34" charset="0"/>
                <a:ea typeface="Calibri" pitchFamily="34" charset="-122"/>
                <a:cs typeface="Calibri" pitchFamily="34" charset="-120"/>
              </a:rPr>
              <a:t>Folding further after a few breaths: tolerance, not a longer muscle</a:t>
            </a:r>
            <a:endParaRPr lang="en-US" sz="1100" dirty="0"/>
          </a:p>
        </p:txBody>
      </p:sp>
      <p:sp>
        <p:nvSpPr>
          <p:cNvPr id="15" name="Text 1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6" name="Text 1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4.5</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Short term versus long term</a:t>
            </a:r>
            <a:endParaRPr lang="en-US" sz="3000" dirty="0"/>
          </a:p>
        </p:txBody>
      </p:sp>
      <p:sp>
        <p:nvSpPr>
          <p:cNvPr id="4" name="Shape 2"/>
          <p:cNvSpPr/>
          <p:nvPr/>
        </p:nvSpPr>
        <p:spPr>
          <a:xfrm>
            <a:off x="548640" y="1783080"/>
            <a:ext cx="5394960" cy="4297680"/>
          </a:xfrm>
          <a:prstGeom prst="roundRect">
            <a:avLst>
              <a:gd name="adj" fmla="val 2553"/>
            </a:avLst>
          </a:prstGeom>
          <a:solidFill>
            <a:srgbClr val="F1EADA"/>
          </a:solidFill>
          <a:ln w="12700">
            <a:solidFill>
              <a:srgbClr val="F1EADA"/>
            </a:solidFill>
            <a:prstDash val="solid"/>
          </a:ln>
        </p:spPr>
      </p:sp>
      <p:sp>
        <p:nvSpPr>
          <p:cNvPr id="5" name="Text 3"/>
          <p:cNvSpPr txBox="1"/>
          <p:nvPr/>
        </p:nvSpPr>
        <p:spPr>
          <a:xfrm>
            <a:off x="822960" y="1965960"/>
            <a:ext cx="4846320" cy="640080"/>
          </a:xfrm>
          <a:prstGeom prst="rect">
            <a:avLst/>
          </a:prstGeom>
          <a:noFill/>
          <a:ln/>
        </p:spPr>
        <p:txBody>
          <a:bodyPr wrap="square" lIns="0" tIns="0" rIns="0" bIns="0" rtlCol="0" anchor="t">
            <a:normAutofit/>
          </a:bodyPr>
          <a:lstStyle/>
          <a:p>
            <a:pPr indent="0" marL="0">
              <a:buNone/>
            </a:pPr>
            <a:r>
              <a:rPr lang="en-US" sz="2200" b="1" dirty="0">
                <a:solidFill>
                  <a:srgbClr val="16303A"/>
                </a:solidFill>
                <a:latin typeface="Cambria" pitchFamily="34" charset="0"/>
                <a:ea typeface="Cambria" pitchFamily="34" charset="-122"/>
                <a:cs typeface="Cambria" pitchFamily="34" charset="-120"/>
              </a:rPr>
              <a:t>Within one session</a:t>
            </a:r>
            <a:endParaRPr lang="en-US" sz="2200" dirty="0"/>
          </a:p>
        </p:txBody>
      </p:sp>
      <p:sp>
        <p:nvSpPr>
          <p:cNvPr id="6" name="Text 4"/>
          <p:cNvSpPr txBox="1"/>
          <p:nvPr/>
        </p:nvSpPr>
        <p:spPr>
          <a:xfrm>
            <a:off x="822960" y="2697480"/>
            <a:ext cx="4846320" cy="320040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Range increases within minutes</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Mainly increased stretch tolerance</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Tissue stiffness changes little</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Fades within hours</a:t>
            </a:r>
            <a:endParaRPr lang="en-US" sz="1700" dirty="0"/>
          </a:p>
        </p:txBody>
      </p:sp>
      <p:sp>
        <p:nvSpPr>
          <p:cNvPr id="7" name="Shape 5"/>
          <p:cNvSpPr/>
          <p:nvPr/>
        </p:nvSpPr>
        <p:spPr>
          <a:xfrm>
            <a:off x="6217920" y="1783080"/>
            <a:ext cx="5394960" cy="4297680"/>
          </a:xfrm>
          <a:prstGeom prst="roundRect">
            <a:avLst>
              <a:gd name="adj" fmla="val 2553"/>
            </a:avLst>
          </a:prstGeom>
          <a:solidFill>
            <a:srgbClr val="D5E9DF"/>
          </a:solidFill>
          <a:ln w="12700">
            <a:solidFill>
              <a:srgbClr val="D5E9DF"/>
            </a:solidFill>
            <a:prstDash val="solid"/>
          </a:ln>
        </p:spPr>
      </p:sp>
      <p:sp>
        <p:nvSpPr>
          <p:cNvPr id="8" name="Text 6"/>
          <p:cNvSpPr txBox="1"/>
          <p:nvPr/>
        </p:nvSpPr>
        <p:spPr>
          <a:xfrm>
            <a:off x="6492240" y="1965960"/>
            <a:ext cx="4846320" cy="640080"/>
          </a:xfrm>
          <a:prstGeom prst="rect">
            <a:avLst/>
          </a:prstGeom>
          <a:noFill/>
          <a:ln/>
        </p:spPr>
        <p:txBody>
          <a:bodyPr wrap="square" lIns="0" tIns="0" rIns="0" bIns="0" rtlCol="0" anchor="t">
            <a:normAutofit/>
          </a:bodyPr>
          <a:lstStyle/>
          <a:p>
            <a:pPr indent="0" marL="0">
              <a:buNone/>
            </a:pPr>
            <a:r>
              <a:rPr lang="en-US" sz="2200" b="1" dirty="0">
                <a:solidFill>
                  <a:srgbClr val="16303A"/>
                </a:solidFill>
                <a:latin typeface="Cambria" pitchFamily="34" charset="0"/>
                <a:ea typeface="Cambria" pitchFamily="34" charset="-122"/>
                <a:cs typeface="Cambria" pitchFamily="34" charset="-120"/>
              </a:rPr>
              <a:t>Weeks of regular practice</a:t>
            </a:r>
            <a:endParaRPr lang="en-US" sz="2200" dirty="0"/>
          </a:p>
        </p:txBody>
      </p:sp>
      <p:sp>
        <p:nvSpPr>
          <p:cNvPr id="9" name="Text 7"/>
          <p:cNvSpPr txBox="1"/>
          <p:nvPr/>
        </p:nvSpPr>
        <p:spPr>
          <a:xfrm>
            <a:off x="6492240" y="2697480"/>
            <a:ext cx="4846320" cy="320040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Range increases steadily</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Tolerance still a large part</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Some tissue changes, evidence mixed</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Maintained only with continued practice</a:t>
            </a:r>
            <a:endParaRPr lang="en-US" sz="1700" dirty="0"/>
          </a:p>
        </p:txBody>
      </p:sp>
      <p:sp>
        <p:nvSpPr>
          <p:cNvPr id="10" name="Text 8"/>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1" name="Text 9"/>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4.5</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Not every limit is a tight muscle</a:t>
            </a:r>
            <a:endParaRPr lang="en-US" sz="3000" dirty="0"/>
          </a:p>
        </p:txBody>
      </p:sp>
      <p:sp>
        <p:nvSpPr>
          <p:cNvPr id="4" name="Shape 2"/>
          <p:cNvSpPr/>
          <p:nvPr/>
        </p:nvSpPr>
        <p:spPr>
          <a:xfrm>
            <a:off x="548640" y="1984248"/>
            <a:ext cx="182880" cy="182880"/>
          </a:xfrm>
          <a:prstGeom prst="ellipse">
            <a:avLst/>
          </a:prstGeom>
          <a:solidFill>
            <a:srgbClr val="B3304C"/>
          </a:solidFill>
          <a:ln w="12700">
            <a:solidFill>
              <a:srgbClr val="B3304C"/>
            </a:solidFill>
            <a:prstDash val="solid"/>
          </a:ln>
        </p:spPr>
      </p:sp>
      <p:sp>
        <p:nvSpPr>
          <p:cNvPr id="5" name="Text 3"/>
          <p:cNvSpPr txBox="1"/>
          <p:nvPr/>
        </p:nvSpPr>
        <p:spPr>
          <a:xfrm>
            <a:off x="960120" y="1874520"/>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Bone shape: hip sockets and thigh bones vary a lot</a:t>
            </a:r>
            <a:endParaRPr lang="en-US" sz="1900" dirty="0"/>
          </a:p>
        </p:txBody>
      </p:sp>
      <p:sp>
        <p:nvSpPr>
          <p:cNvPr id="6" name="Shape 4"/>
          <p:cNvSpPr/>
          <p:nvPr/>
        </p:nvSpPr>
        <p:spPr>
          <a:xfrm>
            <a:off x="548640" y="2916936"/>
            <a:ext cx="182880" cy="182880"/>
          </a:xfrm>
          <a:prstGeom prst="ellipse">
            <a:avLst/>
          </a:prstGeom>
          <a:solidFill>
            <a:srgbClr val="2F7359"/>
          </a:solidFill>
          <a:ln w="12700">
            <a:solidFill>
              <a:srgbClr val="2F7359"/>
            </a:solidFill>
            <a:prstDash val="solid"/>
          </a:ln>
        </p:spPr>
      </p:sp>
      <p:sp>
        <p:nvSpPr>
          <p:cNvPr id="7" name="Text 5"/>
          <p:cNvSpPr txBox="1"/>
          <p:nvPr/>
        </p:nvSpPr>
        <p:spPr>
          <a:xfrm>
            <a:off x="960120" y="2807208"/>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Compression: tissue meeting tissue, as in Child's pose</a:t>
            </a:r>
            <a:endParaRPr lang="en-US" sz="1900" dirty="0"/>
          </a:p>
        </p:txBody>
      </p:sp>
      <p:sp>
        <p:nvSpPr>
          <p:cNvPr id="8" name="Shape 6"/>
          <p:cNvSpPr/>
          <p:nvPr/>
        </p:nvSpPr>
        <p:spPr>
          <a:xfrm>
            <a:off x="548640" y="3849624"/>
            <a:ext cx="182880" cy="182880"/>
          </a:xfrm>
          <a:prstGeom prst="ellipse">
            <a:avLst/>
          </a:prstGeom>
          <a:solidFill>
            <a:srgbClr val="B3304C"/>
          </a:solidFill>
          <a:ln w="12700">
            <a:solidFill>
              <a:srgbClr val="B3304C"/>
            </a:solidFill>
            <a:prstDash val="solid"/>
          </a:ln>
        </p:spPr>
      </p:sp>
      <p:sp>
        <p:nvSpPr>
          <p:cNvPr id="9" name="Text 7"/>
          <p:cNvSpPr txBox="1"/>
          <p:nvPr/>
        </p:nvSpPr>
        <p:spPr>
          <a:xfrm>
            <a:off x="960120" y="3739896"/>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Joint capsule, ligaments and nerves can also limit range</a:t>
            </a:r>
            <a:endParaRPr lang="en-US" sz="1900" dirty="0"/>
          </a:p>
        </p:txBody>
      </p:sp>
      <p:sp>
        <p:nvSpPr>
          <p:cNvPr id="10" name="Shape 8"/>
          <p:cNvSpPr/>
          <p:nvPr/>
        </p:nvSpPr>
        <p:spPr>
          <a:xfrm>
            <a:off x="548640" y="4782312"/>
            <a:ext cx="182880" cy="182880"/>
          </a:xfrm>
          <a:prstGeom prst="ellipse">
            <a:avLst/>
          </a:prstGeom>
          <a:solidFill>
            <a:srgbClr val="2F7359"/>
          </a:solidFill>
          <a:ln w="12700">
            <a:solidFill>
              <a:srgbClr val="2F7359"/>
            </a:solidFill>
            <a:prstDash val="solid"/>
          </a:ln>
        </p:spPr>
      </p:sp>
      <p:sp>
        <p:nvSpPr>
          <p:cNvPr id="11" name="Text 9"/>
          <p:cNvSpPr txBox="1"/>
          <p:nvPr/>
        </p:nvSpPr>
        <p:spPr>
          <a:xfrm>
            <a:off x="960120" y="4672584"/>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A hard stop with a pinching feeling is not a stretch</a:t>
            </a:r>
            <a:endParaRPr lang="en-US" sz="1900" dirty="0"/>
          </a:p>
        </p:txBody>
      </p:sp>
      <p:sp>
        <p:nvSpPr>
          <p:cNvPr id="12" name="Shape 10"/>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13" name="Image 0" descr="Hip shape varies between people and sets some limits in Warrior II">    </p:cNvPr>
          <p:cNvPicPr>
            <a:picLocks noChangeAspect="1"/>
          </p:cNvPicPr>
          <p:nvPr/>
        </p:nvPicPr>
        <p:blipFill>
          <a:blip r:embed="rId1"/>
          <a:stretch>
            <a:fillRect/>
          </a:stretch>
        </p:blipFill>
        <p:spPr>
          <a:xfrm>
            <a:off x="7185731" y="1901952"/>
            <a:ext cx="4190858" cy="3657600"/>
          </a:xfrm>
          <a:prstGeom prst="rect">
            <a:avLst/>
          </a:prstGeom>
        </p:spPr>
      </p:pic>
      <p:sp>
        <p:nvSpPr>
          <p:cNvPr id="14" name="Text 11"/>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24  </a:t>
            </a:r>
            <a:pPr indent="0" marL="0">
              <a:buNone/>
            </a:pPr>
            <a:r>
              <a:rPr lang="en-US" sz="1100" dirty="0">
                <a:solidFill>
                  <a:srgbClr val="55707A"/>
                </a:solidFill>
                <a:latin typeface="Calibri" pitchFamily="34" charset="0"/>
                <a:ea typeface="Calibri" pitchFamily="34" charset="-122"/>
                <a:cs typeface="Calibri" pitchFamily="34" charset="-120"/>
              </a:rPr>
              <a:t>Hip shape varies between people and sets some limits in Warrior II</a:t>
            </a:r>
            <a:endParaRPr lang="en-US" sz="1100" dirty="0"/>
          </a:p>
        </p:txBody>
      </p:sp>
      <p:sp>
        <p:nvSpPr>
          <p:cNvPr id="15" name="Text 1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6" name="Text 1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4.5  ·  CUE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Strength at the end of range</a:t>
            </a:r>
            <a:endParaRPr lang="en-US" sz="3000" dirty="0"/>
          </a:p>
        </p:txBody>
      </p:sp>
      <p:sp>
        <p:nvSpPr>
          <p:cNvPr id="4" name="Shape 2"/>
          <p:cNvSpPr/>
          <p:nvPr/>
        </p:nvSpPr>
        <p:spPr>
          <a:xfrm>
            <a:off x="548640" y="1783080"/>
            <a:ext cx="6035040" cy="2377440"/>
          </a:xfrm>
          <a:prstGeom prst="roundRect">
            <a:avLst>
              <a:gd name="adj" fmla="val 5385"/>
            </a:avLst>
          </a:prstGeom>
          <a:solidFill>
            <a:srgbClr val="16303A"/>
          </a:solidFill>
          <a:ln w="12700">
            <a:solidFill>
              <a:srgbClr val="16303A"/>
            </a:solidFill>
            <a:prstDash val="solid"/>
          </a:ln>
        </p:spPr>
      </p:sp>
      <p:sp>
        <p:nvSpPr>
          <p:cNvPr id="5" name="Text 3"/>
          <p:cNvSpPr txBox="1"/>
          <p:nvPr/>
        </p:nvSpPr>
        <p:spPr>
          <a:xfrm>
            <a:off x="868680" y="1920240"/>
            <a:ext cx="5394960" cy="2103120"/>
          </a:xfrm>
          <a:prstGeom prst="rect">
            <a:avLst/>
          </a:prstGeom>
          <a:noFill/>
          <a:ln/>
        </p:spPr>
        <p:txBody>
          <a:bodyPr wrap="square" lIns="0" tIns="0" rIns="0" bIns="0" rtlCol="0" anchor="ctr">
            <a:normAutofit/>
          </a:bodyPr>
          <a:lstStyle/>
          <a:p>
            <a:pPr indent="0" marL="0">
              <a:buNone/>
            </a:pPr>
            <a:r>
              <a:rPr lang="en-US" sz="2400" dirty="0">
                <a:solidFill>
                  <a:srgbClr val="FFFFFF"/>
                </a:solidFill>
                <a:latin typeface="Cambria" pitchFamily="34" charset="0"/>
                <a:ea typeface="Cambria" pitchFamily="34" charset="-122"/>
                <a:cs typeface="Cambria" pitchFamily="34" charset="-120"/>
              </a:rPr>
              <a:t>“Keep a micro-bend in the front knee, press the big-toe mound down and make the pose strong before you make it deep.”</a:t>
            </a:r>
            <a:endParaRPr lang="en-US" sz="2400" dirty="0"/>
          </a:p>
        </p:txBody>
      </p:sp>
      <p:sp>
        <p:nvSpPr>
          <p:cNvPr id="6" name="Text 4"/>
          <p:cNvSpPr txBox="1"/>
          <p:nvPr/>
        </p:nvSpPr>
        <p:spPr>
          <a:xfrm>
            <a:off x="548640" y="4389120"/>
            <a:ext cx="6035040" cy="1554480"/>
          </a:xfrm>
          <a:prstGeom prst="rect">
            <a:avLst/>
          </a:prstGeom>
          <a:noFill/>
          <a:ln/>
        </p:spPr>
        <p:txBody>
          <a:bodyPr wrap="square" lIns="0" tIns="0" rIns="0" bIns="0" rtlCol="0" anchor="t">
            <a:normAutofit/>
          </a:bodyPr>
          <a:lstStyle/>
          <a:p>
            <a:pPr indent="0" marL="0">
              <a:buNone/>
            </a:pPr>
            <a:r>
              <a:rPr lang="en-US" sz="1800" b="1" dirty="0">
                <a:solidFill>
                  <a:srgbClr val="2F7359"/>
                </a:solidFill>
                <a:latin typeface="Calibri" pitchFamily="34" charset="0"/>
                <a:ea typeface="Calibri" pitchFamily="34" charset="-122"/>
                <a:cs typeface="Calibri" pitchFamily="34" charset="-120"/>
              </a:rPr>
              <a:t>Why it works  </a:t>
            </a:r>
            <a:pPr indent="0" marL="0">
              <a:buNone/>
            </a:pPr>
            <a:r>
              <a:rPr lang="en-US" sz="1800" dirty="0">
                <a:solidFill>
                  <a:srgbClr val="16303A"/>
                </a:solidFill>
                <a:latin typeface="Calibri" pitchFamily="34" charset="0"/>
                <a:ea typeface="Calibri" pitchFamily="34" charset="-122"/>
                <a:cs typeface="Calibri" pitchFamily="34" charset="-120"/>
              </a:rPr>
              <a:t>Flexible and hypermobile students often rest on ligaments at end range. Active muscle control at that range builds usable, stable flexibility.</a:t>
            </a:r>
            <a:endParaRPr lang="en-US" sz="1800" dirty="0"/>
          </a:p>
        </p:txBody>
      </p:sp>
      <p:sp>
        <p:nvSpPr>
          <p:cNvPr id="7" name="Shape 5"/>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8" name="Image 0" descr="Triangle: avoid locking the front knee into hyperextension">    </p:cNvPr>
          <p:cNvPicPr>
            <a:picLocks noChangeAspect="1"/>
          </p:cNvPicPr>
          <p:nvPr/>
        </p:nvPicPr>
        <p:blipFill>
          <a:blip r:embed="rId1"/>
          <a:stretch>
            <a:fillRect/>
          </a:stretch>
        </p:blipFill>
        <p:spPr>
          <a:xfrm>
            <a:off x="7769673" y="1901952"/>
            <a:ext cx="3022974" cy="3657600"/>
          </a:xfrm>
          <a:prstGeom prst="rect">
            <a:avLst/>
          </a:prstGeom>
        </p:spPr>
      </p:pic>
      <p:sp>
        <p:nvSpPr>
          <p:cNvPr id="9" name="Text 6"/>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25  </a:t>
            </a:r>
            <a:pPr indent="0" marL="0">
              <a:buNone/>
            </a:pPr>
            <a:r>
              <a:rPr lang="en-US" sz="1100" dirty="0">
                <a:solidFill>
                  <a:srgbClr val="55707A"/>
                </a:solidFill>
                <a:latin typeface="Calibri" pitchFamily="34" charset="0"/>
                <a:ea typeface="Calibri" pitchFamily="34" charset="-122"/>
                <a:cs typeface="Calibri" pitchFamily="34" charset="-120"/>
              </a:rPr>
              <a:t>Triangle: avoid locking the front knee into hyperextension</a:t>
            </a:r>
            <a:endParaRPr lang="en-US" sz="1100" dirty="0"/>
          </a:p>
        </p:txBody>
      </p:sp>
      <p:sp>
        <p:nvSpPr>
          <p:cNvPr id="10" name="Text 7"/>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1" name="Text 8"/>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4.5  ·  FEEL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Feel it: watch tolerance change</a:t>
            </a:r>
            <a:endParaRPr lang="en-US" sz="3000" dirty="0"/>
          </a:p>
        </p:txBody>
      </p:sp>
      <p:sp>
        <p:nvSpPr>
          <p:cNvPr id="4" name="Shape 2"/>
          <p:cNvSpPr/>
          <p:nvPr/>
        </p:nvSpPr>
        <p:spPr>
          <a:xfrm>
            <a:off x="548640" y="1828800"/>
            <a:ext cx="457200" cy="457200"/>
          </a:xfrm>
          <a:prstGeom prst="ellipse">
            <a:avLst/>
          </a:prstGeom>
          <a:solidFill>
            <a:srgbClr val="2F7359"/>
          </a:solidFill>
          <a:ln w="12700">
            <a:solidFill>
              <a:srgbClr val="2F7359"/>
            </a:solidFill>
            <a:prstDash val="solid"/>
          </a:ln>
        </p:spPr>
      </p:sp>
      <p:sp>
        <p:nvSpPr>
          <p:cNvPr id="5" name="Text 3"/>
          <p:cNvSpPr txBox="1"/>
          <p:nvPr/>
        </p:nvSpPr>
        <p:spPr>
          <a:xfrm>
            <a:off x="54864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6" name="Text 4"/>
          <p:cNvSpPr txBox="1"/>
          <p:nvPr/>
        </p:nvSpPr>
        <p:spPr>
          <a:xfrm>
            <a:off x="1234440" y="1783080"/>
            <a:ext cx="534924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Fold forward to the first clear stretch; note where your hands reach</a:t>
            </a:r>
            <a:endParaRPr lang="en-US" sz="1800" dirty="0"/>
          </a:p>
        </p:txBody>
      </p:sp>
      <p:sp>
        <p:nvSpPr>
          <p:cNvPr id="7" name="Shape 5"/>
          <p:cNvSpPr/>
          <p:nvPr/>
        </p:nvSpPr>
        <p:spPr>
          <a:xfrm>
            <a:off x="548640" y="2743200"/>
            <a:ext cx="457200" cy="457200"/>
          </a:xfrm>
          <a:prstGeom prst="ellipse">
            <a:avLst/>
          </a:prstGeom>
          <a:solidFill>
            <a:srgbClr val="2F7359"/>
          </a:solidFill>
          <a:ln w="12700">
            <a:solidFill>
              <a:srgbClr val="2F7359"/>
            </a:solidFill>
            <a:prstDash val="solid"/>
          </a:ln>
        </p:spPr>
      </p:sp>
      <p:sp>
        <p:nvSpPr>
          <p:cNvPr id="8" name="Text 6"/>
          <p:cNvSpPr txBox="1"/>
          <p:nvPr/>
        </p:nvSpPr>
        <p:spPr>
          <a:xfrm>
            <a:off x="548640" y="27432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9" name="Text 7"/>
          <p:cNvSpPr txBox="1"/>
          <p:nvPr/>
        </p:nvSpPr>
        <p:spPr>
          <a:xfrm>
            <a:off x="1234440" y="2697480"/>
            <a:ext cx="534924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Rate the intensity from 0 to 10 and breathe slowly for about a minute</a:t>
            </a:r>
            <a:endParaRPr lang="en-US" sz="1800" dirty="0"/>
          </a:p>
        </p:txBody>
      </p:sp>
      <p:sp>
        <p:nvSpPr>
          <p:cNvPr id="10" name="Shape 8"/>
          <p:cNvSpPr/>
          <p:nvPr/>
        </p:nvSpPr>
        <p:spPr>
          <a:xfrm>
            <a:off x="548640" y="3657600"/>
            <a:ext cx="457200" cy="457200"/>
          </a:xfrm>
          <a:prstGeom prst="ellipse">
            <a:avLst/>
          </a:prstGeom>
          <a:solidFill>
            <a:srgbClr val="2F7359"/>
          </a:solidFill>
          <a:ln w="12700">
            <a:solidFill>
              <a:srgbClr val="2F7359"/>
            </a:solidFill>
            <a:prstDash val="solid"/>
          </a:ln>
        </p:spPr>
      </p:sp>
      <p:sp>
        <p:nvSpPr>
          <p:cNvPr id="11" name="Text 9"/>
          <p:cNvSpPr txBox="1"/>
          <p:nvPr/>
        </p:nvSpPr>
        <p:spPr>
          <a:xfrm>
            <a:off x="548640" y="36576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2" name="Text 10"/>
          <p:cNvSpPr txBox="1"/>
          <p:nvPr/>
        </p:nvSpPr>
        <p:spPr>
          <a:xfrm>
            <a:off x="1234440" y="3611880"/>
            <a:ext cx="534924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At the same depth, rate the intensity again</a:t>
            </a:r>
            <a:endParaRPr lang="en-US" sz="1800" dirty="0"/>
          </a:p>
        </p:txBody>
      </p:sp>
      <p:sp>
        <p:nvSpPr>
          <p:cNvPr id="13" name="Shape 11"/>
          <p:cNvSpPr/>
          <p:nvPr/>
        </p:nvSpPr>
        <p:spPr>
          <a:xfrm>
            <a:off x="548640" y="4572000"/>
            <a:ext cx="457200" cy="457200"/>
          </a:xfrm>
          <a:prstGeom prst="ellipse">
            <a:avLst/>
          </a:prstGeom>
          <a:solidFill>
            <a:srgbClr val="2F7359"/>
          </a:solidFill>
          <a:ln w="12700">
            <a:solidFill>
              <a:srgbClr val="2F7359"/>
            </a:solidFill>
            <a:prstDash val="solid"/>
          </a:ln>
        </p:spPr>
      </p:sp>
      <p:sp>
        <p:nvSpPr>
          <p:cNvPr id="14" name="Text 12"/>
          <p:cNvSpPr txBox="1"/>
          <p:nvPr/>
        </p:nvSpPr>
        <p:spPr>
          <a:xfrm>
            <a:off x="548640" y="45720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15" name="Text 13"/>
          <p:cNvSpPr txBox="1"/>
          <p:nvPr/>
        </p:nvSpPr>
        <p:spPr>
          <a:xfrm>
            <a:off x="1234440" y="4526280"/>
            <a:ext cx="534924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Then fold to a new point that feels like your first rating</a:t>
            </a:r>
            <a:endParaRPr lang="en-US" sz="1800" dirty="0"/>
          </a:p>
        </p:txBody>
      </p:sp>
      <p:sp>
        <p:nvSpPr>
          <p:cNvPr id="16" name="Shape 14"/>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17" name="Image 0" descr="Same depth, lower intensity: tolerance changing">    </p:cNvPr>
          <p:cNvPicPr>
            <a:picLocks noChangeAspect="1"/>
          </p:cNvPicPr>
          <p:nvPr/>
        </p:nvPicPr>
        <p:blipFill>
          <a:blip r:embed="rId1"/>
          <a:stretch>
            <a:fillRect/>
          </a:stretch>
        </p:blipFill>
        <p:spPr>
          <a:xfrm>
            <a:off x="7147560" y="1901952"/>
            <a:ext cx="4267200" cy="3657600"/>
          </a:xfrm>
          <a:prstGeom prst="rect">
            <a:avLst/>
          </a:prstGeom>
        </p:spPr>
      </p:pic>
      <p:sp>
        <p:nvSpPr>
          <p:cNvPr id="18" name="Text 15"/>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26  </a:t>
            </a:r>
            <a:pPr indent="0" marL="0">
              <a:buNone/>
            </a:pPr>
            <a:r>
              <a:rPr lang="en-US" sz="1100" dirty="0">
                <a:solidFill>
                  <a:srgbClr val="55707A"/>
                </a:solidFill>
                <a:latin typeface="Calibri" pitchFamily="34" charset="0"/>
                <a:ea typeface="Calibri" pitchFamily="34" charset="-122"/>
                <a:cs typeface="Calibri" pitchFamily="34" charset="-120"/>
              </a:rPr>
              <a:t>Same depth, lower intensity: tolerance changing</a:t>
            </a:r>
            <a:endParaRPr lang="en-US" sz="1100" dirty="0"/>
          </a:p>
        </p:txBody>
      </p:sp>
      <p:sp>
        <p:nvSpPr>
          <p:cNvPr id="19" name="Text 16"/>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20" name="Text 17"/>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EDF2E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4.5  ·  CHECK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A student reaches further in a forward fold after holding it for a minute. What is the most likely main reason?</a:t>
            </a:r>
            <a:endParaRPr lang="en-US" sz="3000" dirty="0"/>
          </a:p>
        </p:txBody>
      </p:sp>
      <p:sp>
        <p:nvSpPr>
          <p:cNvPr id="4" name="Shape 2"/>
          <p:cNvSpPr/>
          <p:nvPr/>
        </p:nvSpPr>
        <p:spPr>
          <a:xfrm>
            <a:off x="548640" y="2057400"/>
            <a:ext cx="7863840" cy="777240"/>
          </a:xfrm>
          <a:prstGeom prst="roundRect">
            <a:avLst>
              <a:gd name="adj" fmla="val 11765"/>
            </a:avLst>
          </a:prstGeom>
          <a:solidFill>
            <a:srgbClr val="FFFFFF"/>
          </a:solidFill>
          <a:ln w="12700">
            <a:solidFill>
              <a:srgbClr val="C6D4CF"/>
            </a:solidFill>
            <a:prstDash val="solid"/>
          </a:ln>
        </p:spPr>
      </p:sp>
      <p:sp>
        <p:nvSpPr>
          <p:cNvPr id="5" name="Shape 3"/>
          <p:cNvSpPr/>
          <p:nvPr/>
        </p:nvSpPr>
        <p:spPr>
          <a:xfrm>
            <a:off x="731520" y="2212848"/>
            <a:ext cx="457200" cy="457200"/>
          </a:xfrm>
          <a:prstGeom prst="ellipse">
            <a:avLst/>
          </a:prstGeom>
          <a:solidFill>
            <a:srgbClr val="16303A"/>
          </a:solidFill>
          <a:ln w="12700">
            <a:solidFill>
              <a:srgbClr val="16303A"/>
            </a:solidFill>
            <a:prstDash val="solid"/>
          </a:ln>
        </p:spPr>
      </p:sp>
      <p:sp>
        <p:nvSpPr>
          <p:cNvPr id="6" name="Text 4"/>
          <p:cNvSpPr txBox="1"/>
          <p:nvPr/>
        </p:nvSpPr>
        <p:spPr>
          <a:xfrm>
            <a:off x="731520" y="221284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A</a:t>
            </a:r>
            <a:endParaRPr lang="en-US" sz="1400" dirty="0"/>
          </a:p>
        </p:txBody>
      </p:sp>
      <p:sp>
        <p:nvSpPr>
          <p:cNvPr id="7" name="Text 5"/>
          <p:cNvSpPr txBox="1"/>
          <p:nvPr/>
        </p:nvSpPr>
        <p:spPr>
          <a:xfrm>
            <a:off x="1371600" y="2057400"/>
            <a:ext cx="6858000" cy="777240"/>
          </a:xfrm>
          <a:prstGeom prst="rect">
            <a:avLst/>
          </a:prstGeom>
          <a:noFill/>
          <a:ln/>
        </p:spPr>
        <p:txBody>
          <a:bodyPr wrap="square" lIns="0" tIns="0" rIns="0" bIns="0" rtlCol="0" anchor="ctr">
            <a:normAutofit/>
          </a:bodyPr>
          <a:lstStyle/>
          <a:p>
            <a:pPr indent="0" marL="0">
              <a:buNone/>
            </a:pPr>
            <a:r>
              <a:rPr lang="en-US" sz="1700" dirty="0">
                <a:solidFill>
                  <a:srgbClr val="16303A"/>
                </a:solidFill>
                <a:latin typeface="Calibri" pitchFamily="34" charset="0"/>
                <a:ea typeface="Calibri" pitchFamily="34" charset="-122"/>
                <a:cs typeface="Calibri" pitchFamily="34" charset="-120"/>
              </a:rPr>
              <a:t>The hamstrings have permanently lengthened</a:t>
            </a:r>
            <a:endParaRPr lang="en-US" sz="1700" dirty="0"/>
          </a:p>
        </p:txBody>
      </p:sp>
      <p:sp>
        <p:nvSpPr>
          <p:cNvPr id="8" name="Shape 6"/>
          <p:cNvSpPr/>
          <p:nvPr/>
        </p:nvSpPr>
        <p:spPr>
          <a:xfrm>
            <a:off x="548640" y="3017520"/>
            <a:ext cx="7863840" cy="777240"/>
          </a:xfrm>
          <a:prstGeom prst="roundRect">
            <a:avLst>
              <a:gd name="adj" fmla="val 11765"/>
            </a:avLst>
          </a:prstGeom>
          <a:solidFill>
            <a:srgbClr val="FFFFFF"/>
          </a:solidFill>
          <a:ln w="12700">
            <a:solidFill>
              <a:srgbClr val="C6D4CF"/>
            </a:solidFill>
            <a:prstDash val="solid"/>
          </a:ln>
        </p:spPr>
      </p:sp>
      <p:sp>
        <p:nvSpPr>
          <p:cNvPr id="9" name="Shape 7"/>
          <p:cNvSpPr/>
          <p:nvPr/>
        </p:nvSpPr>
        <p:spPr>
          <a:xfrm>
            <a:off x="731520" y="3172968"/>
            <a:ext cx="457200" cy="457200"/>
          </a:xfrm>
          <a:prstGeom prst="ellipse">
            <a:avLst/>
          </a:prstGeom>
          <a:solidFill>
            <a:srgbClr val="16303A"/>
          </a:solidFill>
          <a:ln w="12700">
            <a:solidFill>
              <a:srgbClr val="16303A"/>
            </a:solidFill>
            <a:prstDash val="solid"/>
          </a:ln>
        </p:spPr>
      </p:sp>
      <p:sp>
        <p:nvSpPr>
          <p:cNvPr id="10" name="Text 8"/>
          <p:cNvSpPr txBox="1"/>
          <p:nvPr/>
        </p:nvSpPr>
        <p:spPr>
          <a:xfrm>
            <a:off x="731520" y="317296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B</a:t>
            </a:r>
            <a:endParaRPr lang="en-US" sz="1400" dirty="0"/>
          </a:p>
        </p:txBody>
      </p:sp>
      <p:sp>
        <p:nvSpPr>
          <p:cNvPr id="11" name="Text 9"/>
          <p:cNvSpPr txBox="1"/>
          <p:nvPr/>
        </p:nvSpPr>
        <p:spPr>
          <a:xfrm>
            <a:off x="1371600" y="3017520"/>
            <a:ext cx="6858000" cy="777240"/>
          </a:xfrm>
          <a:prstGeom prst="rect">
            <a:avLst/>
          </a:prstGeom>
          <a:noFill/>
          <a:ln/>
        </p:spPr>
        <p:txBody>
          <a:bodyPr wrap="square" lIns="0" tIns="0" rIns="0" bIns="0" rtlCol="0" anchor="ctr">
            <a:normAutofit/>
          </a:bodyPr>
          <a:lstStyle/>
          <a:p>
            <a:pPr indent="0" marL="0">
              <a:buNone/>
            </a:pPr>
            <a:r>
              <a:rPr lang="en-US" sz="1700" dirty="0">
                <a:solidFill>
                  <a:srgbClr val="16303A"/>
                </a:solidFill>
                <a:latin typeface="Calibri" pitchFamily="34" charset="0"/>
                <a:ea typeface="Calibri" pitchFamily="34" charset="-122"/>
                <a:cs typeface="Calibri" pitchFamily="34" charset="-120"/>
              </a:rPr>
              <a:t>The nervous system now tolerates more stretch sensation</a:t>
            </a:r>
            <a:endParaRPr lang="en-US" sz="1700" dirty="0"/>
          </a:p>
        </p:txBody>
      </p:sp>
      <p:sp>
        <p:nvSpPr>
          <p:cNvPr id="12" name="Shape 10"/>
          <p:cNvSpPr/>
          <p:nvPr/>
        </p:nvSpPr>
        <p:spPr>
          <a:xfrm>
            <a:off x="548640" y="3977640"/>
            <a:ext cx="7863840" cy="777240"/>
          </a:xfrm>
          <a:prstGeom prst="roundRect">
            <a:avLst>
              <a:gd name="adj" fmla="val 11765"/>
            </a:avLst>
          </a:prstGeom>
          <a:solidFill>
            <a:srgbClr val="FFFFFF"/>
          </a:solidFill>
          <a:ln w="12700">
            <a:solidFill>
              <a:srgbClr val="C6D4CF"/>
            </a:solidFill>
            <a:prstDash val="solid"/>
          </a:ln>
        </p:spPr>
      </p:sp>
      <p:sp>
        <p:nvSpPr>
          <p:cNvPr id="13" name="Shape 11"/>
          <p:cNvSpPr/>
          <p:nvPr/>
        </p:nvSpPr>
        <p:spPr>
          <a:xfrm>
            <a:off x="731520" y="4133088"/>
            <a:ext cx="457200" cy="457200"/>
          </a:xfrm>
          <a:prstGeom prst="ellipse">
            <a:avLst/>
          </a:prstGeom>
          <a:solidFill>
            <a:srgbClr val="16303A"/>
          </a:solidFill>
          <a:ln w="12700">
            <a:solidFill>
              <a:srgbClr val="16303A"/>
            </a:solidFill>
            <a:prstDash val="solid"/>
          </a:ln>
        </p:spPr>
      </p:sp>
      <p:sp>
        <p:nvSpPr>
          <p:cNvPr id="14" name="Text 12"/>
          <p:cNvSpPr txBox="1"/>
          <p:nvPr/>
        </p:nvSpPr>
        <p:spPr>
          <a:xfrm>
            <a:off x="731520" y="413308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C</a:t>
            </a:r>
            <a:endParaRPr lang="en-US" sz="1400" dirty="0"/>
          </a:p>
        </p:txBody>
      </p:sp>
      <p:sp>
        <p:nvSpPr>
          <p:cNvPr id="15" name="Text 13"/>
          <p:cNvSpPr txBox="1"/>
          <p:nvPr/>
        </p:nvSpPr>
        <p:spPr>
          <a:xfrm>
            <a:off x="1371600" y="3977640"/>
            <a:ext cx="6858000" cy="777240"/>
          </a:xfrm>
          <a:prstGeom prst="rect">
            <a:avLst/>
          </a:prstGeom>
          <a:noFill/>
          <a:ln/>
        </p:spPr>
        <p:txBody>
          <a:bodyPr wrap="square" lIns="0" tIns="0" rIns="0" bIns="0" rtlCol="0" anchor="ctr">
            <a:normAutofit/>
          </a:bodyPr>
          <a:lstStyle/>
          <a:p>
            <a:pPr indent="0" marL="0">
              <a:buNone/>
            </a:pPr>
            <a:r>
              <a:rPr lang="en-US" sz="1700" dirty="0">
                <a:solidFill>
                  <a:srgbClr val="16303A"/>
                </a:solidFill>
                <a:latin typeface="Calibri" pitchFamily="34" charset="0"/>
                <a:ea typeface="Calibri" pitchFamily="34" charset="-122"/>
                <a:cs typeface="Calibri" pitchFamily="34" charset="-120"/>
              </a:rPr>
              <a:t>The Golgi tendon organ has switched the hamstrings off</a:t>
            </a:r>
            <a:endParaRPr lang="en-US" sz="1700" dirty="0"/>
          </a:p>
        </p:txBody>
      </p:sp>
      <p:sp>
        <p:nvSpPr>
          <p:cNvPr id="16" name="Text 14"/>
          <p:cNvSpPr txBox="1"/>
          <p:nvPr/>
        </p:nvSpPr>
        <p:spPr>
          <a:xfrm>
            <a:off x="8778240" y="2194560"/>
            <a:ext cx="2834640" cy="1280160"/>
          </a:xfrm>
          <a:prstGeom prst="rect">
            <a:avLst/>
          </a:prstGeom>
          <a:noFill/>
          <a:ln/>
        </p:spPr>
        <p:txBody>
          <a:bodyPr wrap="square" lIns="0" tIns="0" rIns="0" bIns="0" rtlCol="0" anchor="ctr"/>
          <a:lstStyle/>
          <a:p>
            <a:pPr indent="0" marL="0">
              <a:buNone/>
            </a:pPr>
            <a:r>
              <a:rPr lang="en-US" sz="1800" i="1" dirty="0">
                <a:solidFill>
                  <a:srgbClr val="55707A"/>
                </a:solidFill>
                <a:latin typeface="Cambria" pitchFamily="34" charset="0"/>
                <a:ea typeface="Cambria" pitchFamily="34" charset="-122"/>
                <a:cs typeface="Cambria" pitchFamily="34" charset="-120"/>
              </a:rPr>
              <a:t>Pause the video and choose before you move on.</a:t>
            </a:r>
            <a:endParaRPr lang="en-US" sz="1800" dirty="0"/>
          </a:p>
        </p:txBody>
      </p:sp>
      <p:sp>
        <p:nvSpPr>
          <p:cNvPr id="17" name="Text 15"/>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8" name="Text 16"/>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4.5  ·  CHECK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Answer</a:t>
            </a:r>
            <a:endParaRPr lang="en-US" sz="3000" dirty="0"/>
          </a:p>
        </p:txBody>
      </p:sp>
      <p:sp>
        <p:nvSpPr>
          <p:cNvPr id="4" name="Shape 2"/>
          <p:cNvSpPr/>
          <p:nvPr/>
        </p:nvSpPr>
        <p:spPr>
          <a:xfrm>
            <a:off x="548640" y="1737360"/>
            <a:ext cx="11064240" cy="1097280"/>
          </a:xfrm>
          <a:prstGeom prst="roundRect">
            <a:avLst>
              <a:gd name="adj" fmla="val 10000"/>
            </a:avLst>
          </a:prstGeom>
          <a:solidFill>
            <a:srgbClr val="D5E9DF"/>
          </a:solidFill>
          <a:ln w="19050">
            <a:solidFill>
              <a:srgbClr val="2F7359"/>
            </a:solidFill>
            <a:prstDash val="solid"/>
          </a:ln>
        </p:spPr>
      </p:sp>
      <p:sp>
        <p:nvSpPr>
          <p:cNvPr id="5" name="Shape 3"/>
          <p:cNvSpPr/>
          <p:nvPr/>
        </p:nvSpPr>
        <p:spPr>
          <a:xfrm>
            <a:off x="777240" y="2011680"/>
            <a:ext cx="548640" cy="548640"/>
          </a:xfrm>
          <a:prstGeom prst="ellipse">
            <a:avLst/>
          </a:prstGeom>
          <a:solidFill>
            <a:srgbClr val="2F7359"/>
          </a:solidFill>
          <a:ln w="12700">
            <a:solidFill>
              <a:srgbClr val="2F7359"/>
            </a:solidFill>
            <a:prstDash val="solid"/>
          </a:ln>
        </p:spPr>
      </p:sp>
      <p:sp>
        <p:nvSpPr>
          <p:cNvPr id="6" name="Text 4"/>
          <p:cNvSpPr txBox="1"/>
          <p:nvPr/>
        </p:nvSpPr>
        <p:spPr>
          <a:xfrm>
            <a:off x="777240" y="2011680"/>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B</a:t>
            </a:r>
            <a:endParaRPr lang="en-US" sz="1400" dirty="0"/>
          </a:p>
        </p:txBody>
      </p:sp>
      <p:sp>
        <p:nvSpPr>
          <p:cNvPr id="7" name="Text 5"/>
          <p:cNvSpPr txBox="1"/>
          <p:nvPr/>
        </p:nvSpPr>
        <p:spPr>
          <a:xfrm>
            <a:off x="1554480" y="1737360"/>
            <a:ext cx="9875520" cy="1097280"/>
          </a:xfrm>
          <a:prstGeom prst="rect">
            <a:avLst/>
          </a:prstGeom>
          <a:noFill/>
          <a:ln/>
        </p:spPr>
        <p:txBody>
          <a:bodyPr wrap="square" lIns="0" tIns="0" rIns="0" bIns="0" rtlCol="0" anchor="ctr">
            <a:normAutofit/>
          </a:bodyPr>
          <a:lstStyle/>
          <a:p>
            <a:pPr indent="0" marL="0">
              <a:buNone/>
            </a:pPr>
            <a:r>
              <a:rPr lang="en-US" sz="2200" b="1" dirty="0">
                <a:solidFill>
                  <a:srgbClr val="16303A"/>
                </a:solidFill>
                <a:latin typeface="Cambria" pitchFamily="34" charset="0"/>
                <a:ea typeface="Cambria" pitchFamily="34" charset="-122"/>
                <a:cs typeface="Cambria" pitchFamily="34" charset="-120"/>
              </a:rPr>
              <a:t>The nervous system now tolerates more stretch sensation</a:t>
            </a:r>
            <a:endParaRPr lang="en-US" sz="2200" dirty="0"/>
          </a:p>
        </p:txBody>
      </p:sp>
      <p:sp>
        <p:nvSpPr>
          <p:cNvPr id="8" name="Text 6"/>
          <p:cNvSpPr txBox="1"/>
          <p:nvPr/>
        </p:nvSpPr>
        <p:spPr>
          <a:xfrm>
            <a:off x="548640" y="3108960"/>
            <a:ext cx="11064240" cy="12801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Short-term range gains are best explained by increased stretch tolerance; muscle length and stiffness change little in one session.</a:t>
            </a:r>
            <a:endParaRPr lang="en-US" sz="1800" dirty="0"/>
          </a:p>
        </p:txBody>
      </p:sp>
      <p:sp>
        <p:nvSpPr>
          <p:cNvPr id="9" name="Text 7"/>
          <p:cNvSpPr txBox="1"/>
          <p:nvPr/>
        </p:nvSpPr>
        <p:spPr>
          <a:xfrm>
            <a:off x="548640" y="4754880"/>
            <a:ext cx="11064240" cy="731520"/>
          </a:xfrm>
          <a:prstGeom prst="rect">
            <a:avLst/>
          </a:prstGeom>
          <a:noFill/>
          <a:ln/>
        </p:spPr>
        <p:txBody>
          <a:bodyPr wrap="square" lIns="0" tIns="0" rIns="0" bIns="0" rtlCol="0" anchor="t">
            <a:normAutofit/>
          </a:bodyPr>
          <a:lstStyle/>
          <a:p>
            <a:pPr indent="0" marL="0">
              <a:buNone/>
            </a:pPr>
            <a:r>
              <a:rPr lang="en-US" sz="1200" dirty="0">
                <a:solidFill>
                  <a:srgbClr val="55707A"/>
                </a:solidFill>
                <a:latin typeface="Calibri" pitchFamily="34" charset="0"/>
                <a:ea typeface="Calibri" pitchFamily="34" charset="-122"/>
                <a:cs typeface="Calibri" pitchFamily="34" charset="-120"/>
              </a:rPr>
              <a:t>Question: A student reaches further in a forward fold after holding it for a minute. What is the most likely main reason?</a:t>
            </a:r>
            <a:endParaRPr lang="en-US" sz="1200" dirty="0"/>
          </a:p>
        </p:txBody>
      </p:sp>
      <p:sp>
        <p:nvSpPr>
          <p:cNvPr id="10" name="Text 8"/>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1" name="Text 9"/>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16303A"/>
        </a:solidFill>
      </p:bgPr>
    </p:bg>
    <p:spTree>
      <p:nvGrpSpPr>
        <p:cNvPr id="1" name=""/>
        <p:cNvGrpSpPr/>
        <p:nvPr/>
      </p:nvGrpSpPr>
      <p:grpSpPr>
        <a:xfrm>
          <a:off x="0" y="0"/>
          <a:ext cx="0" cy="0"/>
          <a:chOff x="0" y="0"/>
          <a:chExt cx="0" cy="0"/>
        </a:xfrm>
      </p:grpSpPr>
      <p:sp>
        <p:nvSpPr>
          <p:cNvPr id="2" name="Shape 0"/>
          <p:cNvSpPr/>
          <p:nvPr/>
        </p:nvSpPr>
        <p:spPr>
          <a:xfrm>
            <a:off x="548640" y="1463040"/>
            <a:ext cx="1371600" cy="1371600"/>
          </a:xfrm>
          <a:prstGeom prst="ellipse">
            <a:avLst/>
          </a:prstGeom>
          <a:solidFill>
            <a:srgbClr val="B3304C"/>
          </a:solidFill>
          <a:ln w="12700">
            <a:solidFill>
              <a:srgbClr val="B3304C"/>
            </a:solidFill>
            <a:prstDash val="solid"/>
          </a:ln>
        </p:spPr>
      </p:sp>
      <p:sp>
        <p:nvSpPr>
          <p:cNvPr id="3" name="Text 1"/>
          <p:cNvSpPr txBox="1"/>
          <p:nvPr/>
        </p:nvSpPr>
        <p:spPr>
          <a:xfrm>
            <a:off x="548640" y="1463040"/>
            <a:ext cx="1371600" cy="137160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4.6</a:t>
            </a:r>
            <a:endParaRPr lang="en-US" sz="3000" dirty="0"/>
          </a:p>
        </p:txBody>
      </p:sp>
      <p:sp>
        <p:nvSpPr>
          <p:cNvPr id="4" name="Text 2"/>
          <p:cNvSpPr txBox="1"/>
          <p:nvPr/>
        </p:nvSpPr>
        <p:spPr>
          <a:xfrm>
            <a:off x="2286000" y="1508760"/>
            <a:ext cx="7315200" cy="320040"/>
          </a:xfrm>
          <a:prstGeom prst="rect">
            <a:avLst/>
          </a:prstGeom>
          <a:noFill/>
          <a:ln/>
        </p:spPr>
        <p:txBody>
          <a:bodyPr wrap="square" lIns="0" tIns="0" rIns="0" bIns="0" rtlCol="0" anchor="ctr"/>
          <a:lstStyle/>
          <a:p>
            <a:pPr indent="0" marL="0">
              <a:buNone/>
            </a:pPr>
            <a:r>
              <a:rPr lang="en-US" sz="1300" b="1" spc="300" kern="0" dirty="0">
                <a:solidFill>
                  <a:srgbClr val="CBB78C"/>
                </a:solidFill>
                <a:latin typeface="Calibri" pitchFamily="34" charset="0"/>
                <a:ea typeface="Calibri" pitchFamily="34" charset="-122"/>
                <a:cs typeface="Calibri" pitchFamily="34" charset="-120"/>
              </a:rPr>
              <a:t>LESSON 4.6  ·  20 MIN</a:t>
            </a:r>
            <a:endParaRPr lang="en-US" sz="1300" dirty="0"/>
          </a:p>
        </p:txBody>
      </p:sp>
      <p:sp>
        <p:nvSpPr>
          <p:cNvPr id="5" name="Text 3"/>
          <p:cNvSpPr txBox="1"/>
          <p:nvPr/>
        </p:nvSpPr>
        <p:spPr>
          <a:xfrm>
            <a:off x="2286000" y="1874520"/>
            <a:ext cx="9052560" cy="1463040"/>
          </a:xfrm>
          <a:prstGeom prst="rect">
            <a:avLst/>
          </a:prstGeom>
          <a:noFill/>
          <a:ln/>
        </p:spPr>
        <p:txBody>
          <a:bodyPr wrap="square" lIns="0" tIns="0" rIns="0" bIns="0" rtlCol="0" anchor="t">
            <a:normAutofit/>
          </a:bodyPr>
          <a:lstStyle/>
          <a:p>
            <a:pPr indent="0" marL="0">
              <a:buNone/>
            </a:pPr>
            <a:r>
              <a:rPr lang="en-US" sz="3600" b="1" dirty="0">
                <a:solidFill>
                  <a:srgbClr val="FFFFFF"/>
                </a:solidFill>
                <a:latin typeface="Cambria" pitchFamily="34" charset="0"/>
                <a:ea typeface="Cambria" pitchFamily="34" charset="-122"/>
                <a:cs typeface="Cambria" pitchFamily="34" charset="-120"/>
              </a:rPr>
              <a:t>Fascia without the hype</a:t>
            </a:r>
            <a:endParaRPr lang="en-US" sz="3600" dirty="0"/>
          </a:p>
        </p:txBody>
      </p:sp>
      <p:sp>
        <p:nvSpPr>
          <p:cNvPr id="6" name="Shape 4"/>
          <p:cNvSpPr/>
          <p:nvPr/>
        </p:nvSpPr>
        <p:spPr>
          <a:xfrm>
            <a:off x="2286000" y="3931920"/>
            <a:ext cx="1965960" cy="566928"/>
          </a:xfrm>
          <a:prstGeom prst="roundRect">
            <a:avLst>
              <a:gd name="adj" fmla="val 48387"/>
            </a:avLst>
          </a:prstGeom>
          <a:solidFill>
            <a:srgbClr val="22414D"/>
          </a:solidFill>
          <a:ln w="12700">
            <a:solidFill>
              <a:srgbClr val="3B5A66"/>
            </a:solidFill>
            <a:prstDash val="solid"/>
          </a:ln>
        </p:spPr>
      </p:sp>
      <p:sp>
        <p:nvSpPr>
          <p:cNvPr id="7" name="Text 5"/>
          <p:cNvSpPr txBox="1"/>
          <p:nvPr/>
        </p:nvSpPr>
        <p:spPr>
          <a:xfrm>
            <a:off x="228600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See it</a:t>
            </a:r>
            <a:endParaRPr lang="en-US" sz="1400" dirty="0"/>
          </a:p>
        </p:txBody>
      </p:sp>
      <p:sp>
        <p:nvSpPr>
          <p:cNvPr id="8" name="Shape 6"/>
          <p:cNvSpPr/>
          <p:nvPr/>
        </p:nvSpPr>
        <p:spPr>
          <a:xfrm>
            <a:off x="4434840" y="3931920"/>
            <a:ext cx="1965960" cy="566928"/>
          </a:xfrm>
          <a:prstGeom prst="roundRect">
            <a:avLst>
              <a:gd name="adj" fmla="val 48387"/>
            </a:avLst>
          </a:prstGeom>
          <a:solidFill>
            <a:srgbClr val="22414D"/>
          </a:solidFill>
          <a:ln w="12700">
            <a:solidFill>
              <a:srgbClr val="3B5A66"/>
            </a:solidFill>
            <a:prstDash val="solid"/>
          </a:ln>
        </p:spPr>
      </p:sp>
      <p:sp>
        <p:nvSpPr>
          <p:cNvPr id="9" name="Text 7"/>
          <p:cNvSpPr txBox="1"/>
          <p:nvPr/>
        </p:nvSpPr>
        <p:spPr>
          <a:xfrm>
            <a:off x="443484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Feel it</a:t>
            </a:r>
            <a:endParaRPr lang="en-US" sz="1400" dirty="0"/>
          </a:p>
        </p:txBody>
      </p:sp>
      <p:sp>
        <p:nvSpPr>
          <p:cNvPr id="10" name="Shape 8"/>
          <p:cNvSpPr/>
          <p:nvPr/>
        </p:nvSpPr>
        <p:spPr>
          <a:xfrm>
            <a:off x="6583680" y="3931920"/>
            <a:ext cx="1965960" cy="566928"/>
          </a:xfrm>
          <a:prstGeom prst="roundRect">
            <a:avLst>
              <a:gd name="adj" fmla="val 48387"/>
            </a:avLst>
          </a:prstGeom>
          <a:solidFill>
            <a:srgbClr val="22414D"/>
          </a:solidFill>
          <a:ln w="12700">
            <a:solidFill>
              <a:srgbClr val="3B5A66"/>
            </a:solidFill>
            <a:prstDash val="solid"/>
          </a:ln>
        </p:spPr>
      </p:sp>
      <p:sp>
        <p:nvSpPr>
          <p:cNvPr id="11" name="Text 9"/>
          <p:cNvSpPr txBox="1"/>
          <p:nvPr/>
        </p:nvSpPr>
        <p:spPr>
          <a:xfrm>
            <a:off x="658368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Cue it</a:t>
            </a:r>
            <a:endParaRPr lang="en-US" sz="1400" dirty="0"/>
          </a:p>
        </p:txBody>
      </p:sp>
      <p:sp>
        <p:nvSpPr>
          <p:cNvPr id="12" name="Shape 10"/>
          <p:cNvSpPr/>
          <p:nvPr/>
        </p:nvSpPr>
        <p:spPr>
          <a:xfrm>
            <a:off x="8732520" y="3931920"/>
            <a:ext cx="1965960" cy="566928"/>
          </a:xfrm>
          <a:prstGeom prst="roundRect">
            <a:avLst>
              <a:gd name="adj" fmla="val 48387"/>
            </a:avLst>
          </a:prstGeom>
          <a:solidFill>
            <a:srgbClr val="22414D"/>
          </a:solidFill>
          <a:ln w="12700">
            <a:solidFill>
              <a:srgbClr val="3B5A66"/>
            </a:solidFill>
            <a:prstDash val="solid"/>
          </a:ln>
        </p:spPr>
      </p:sp>
      <p:sp>
        <p:nvSpPr>
          <p:cNvPr id="13" name="Text 11"/>
          <p:cNvSpPr txBox="1"/>
          <p:nvPr/>
        </p:nvSpPr>
        <p:spPr>
          <a:xfrm>
            <a:off x="873252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Check it</a:t>
            </a:r>
            <a:endParaRPr lang="en-US" sz="1400" dirty="0"/>
          </a:p>
        </p:txBody>
      </p:sp>
      <p:sp>
        <p:nvSpPr>
          <p:cNvPr id="14" name="Text 1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A9BFC6"/>
                </a:solidFill>
                <a:latin typeface="Calibri" pitchFamily="34" charset="0"/>
                <a:ea typeface="Calibri" pitchFamily="34" charset="-122"/>
                <a:cs typeface="Calibri" pitchFamily="34" charset="-120"/>
              </a:rPr>
              <a:t>Anatomy on the Mat  ·  Dr. Akash Garg, D.C.</a:t>
            </a:r>
            <a:endParaRPr lang="en-US" sz="900" dirty="0"/>
          </a:p>
        </p:txBody>
      </p:sp>
      <p:sp>
        <p:nvSpPr>
          <p:cNvPr id="15" name="Text 1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A9BFC6"/>
                </a:solidFill>
                <a:latin typeface="Calibri" pitchFamily="34" charset="0"/>
                <a:ea typeface="Calibri" pitchFamily="34" charset="-122"/>
                <a:cs typeface="Calibri" pitchFamily="34" charset="-120"/>
              </a:rPr>
              <a:t>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4.6</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What fascia is</a:t>
            </a:r>
            <a:endParaRPr lang="en-US" sz="3000" dirty="0"/>
          </a:p>
        </p:txBody>
      </p:sp>
      <p:sp>
        <p:nvSpPr>
          <p:cNvPr id="4" name="Shape 2"/>
          <p:cNvSpPr/>
          <p:nvPr/>
        </p:nvSpPr>
        <p:spPr>
          <a:xfrm>
            <a:off x="548640" y="1984248"/>
            <a:ext cx="182880" cy="182880"/>
          </a:xfrm>
          <a:prstGeom prst="ellipse">
            <a:avLst/>
          </a:prstGeom>
          <a:solidFill>
            <a:srgbClr val="B3304C"/>
          </a:solidFill>
          <a:ln w="12700">
            <a:solidFill>
              <a:srgbClr val="B3304C"/>
            </a:solidFill>
            <a:prstDash val="solid"/>
          </a:ln>
        </p:spPr>
      </p:sp>
      <p:sp>
        <p:nvSpPr>
          <p:cNvPr id="5" name="Text 3"/>
          <p:cNvSpPr txBox="1"/>
          <p:nvPr/>
        </p:nvSpPr>
        <p:spPr>
          <a:xfrm>
            <a:off x="960120" y="1874520"/>
            <a:ext cx="443484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Connective tissue made mostly of collagen, wrapping and linking structures</a:t>
            </a:r>
            <a:endParaRPr lang="en-US" sz="1900" dirty="0"/>
          </a:p>
        </p:txBody>
      </p:sp>
      <p:sp>
        <p:nvSpPr>
          <p:cNvPr id="6" name="Shape 4"/>
          <p:cNvSpPr/>
          <p:nvPr/>
        </p:nvSpPr>
        <p:spPr>
          <a:xfrm>
            <a:off x="548640" y="2916936"/>
            <a:ext cx="182880" cy="182880"/>
          </a:xfrm>
          <a:prstGeom prst="ellipse">
            <a:avLst/>
          </a:prstGeom>
          <a:solidFill>
            <a:srgbClr val="2F7359"/>
          </a:solidFill>
          <a:ln w="12700">
            <a:solidFill>
              <a:srgbClr val="2F7359"/>
            </a:solidFill>
            <a:prstDash val="solid"/>
          </a:ln>
        </p:spPr>
      </p:sp>
      <p:sp>
        <p:nvSpPr>
          <p:cNvPr id="7" name="Text 5"/>
          <p:cNvSpPr txBox="1"/>
          <p:nvPr/>
        </p:nvSpPr>
        <p:spPr>
          <a:xfrm>
            <a:off x="960120" y="2807208"/>
            <a:ext cx="443484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Wraps every level of muscle: whole muscle, fascicle and fiber</a:t>
            </a:r>
            <a:endParaRPr lang="en-US" sz="1900" dirty="0"/>
          </a:p>
        </p:txBody>
      </p:sp>
      <p:sp>
        <p:nvSpPr>
          <p:cNvPr id="8" name="Shape 6"/>
          <p:cNvSpPr/>
          <p:nvPr/>
        </p:nvSpPr>
        <p:spPr>
          <a:xfrm>
            <a:off x="548640" y="3849624"/>
            <a:ext cx="182880" cy="182880"/>
          </a:xfrm>
          <a:prstGeom prst="ellipse">
            <a:avLst/>
          </a:prstGeom>
          <a:solidFill>
            <a:srgbClr val="B3304C"/>
          </a:solidFill>
          <a:ln w="12700">
            <a:solidFill>
              <a:srgbClr val="B3304C"/>
            </a:solidFill>
            <a:prstDash val="solid"/>
          </a:ln>
        </p:spPr>
      </p:sp>
      <p:sp>
        <p:nvSpPr>
          <p:cNvPr id="9" name="Text 7"/>
          <p:cNvSpPr txBox="1"/>
          <p:nvPr/>
        </p:nvSpPr>
        <p:spPr>
          <a:xfrm>
            <a:off x="960120" y="3739896"/>
            <a:ext cx="443484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Deep fascia forms sheets such as the thoracolumbar fascia</a:t>
            </a:r>
            <a:endParaRPr lang="en-US" sz="1900" dirty="0"/>
          </a:p>
        </p:txBody>
      </p:sp>
      <p:sp>
        <p:nvSpPr>
          <p:cNvPr id="10" name="Shape 8"/>
          <p:cNvSpPr/>
          <p:nvPr/>
        </p:nvSpPr>
        <p:spPr>
          <a:xfrm>
            <a:off x="548640" y="4782312"/>
            <a:ext cx="182880" cy="182880"/>
          </a:xfrm>
          <a:prstGeom prst="ellipse">
            <a:avLst/>
          </a:prstGeom>
          <a:solidFill>
            <a:srgbClr val="2F7359"/>
          </a:solidFill>
          <a:ln w="12700">
            <a:solidFill>
              <a:srgbClr val="2F7359"/>
            </a:solidFill>
            <a:prstDash val="solid"/>
          </a:ln>
        </p:spPr>
      </p:sp>
      <p:sp>
        <p:nvSpPr>
          <p:cNvPr id="11" name="Text 9"/>
          <p:cNvSpPr txBox="1"/>
          <p:nvPr/>
        </p:nvSpPr>
        <p:spPr>
          <a:xfrm>
            <a:off x="960120" y="4672584"/>
            <a:ext cx="443484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Superficial fascia lies just under the skin</a:t>
            </a:r>
            <a:endParaRPr lang="en-US" sz="1900" dirty="0"/>
          </a:p>
        </p:txBody>
      </p:sp>
      <p:sp>
        <p:nvSpPr>
          <p:cNvPr id="12" name="Shape 10"/>
          <p:cNvSpPr/>
          <p:nvPr/>
        </p:nvSpPr>
        <p:spPr>
          <a:xfrm>
            <a:off x="5623560" y="1737360"/>
            <a:ext cx="6035040" cy="4389120"/>
          </a:xfrm>
          <a:prstGeom prst="roundRect">
            <a:avLst>
              <a:gd name="adj" fmla="val 2500"/>
            </a:avLst>
          </a:prstGeom>
          <a:solidFill>
            <a:srgbClr val="F9FBFA"/>
          </a:solidFill>
          <a:ln w="12700">
            <a:solidFill>
              <a:srgbClr val="C6D4CF"/>
            </a:solidFill>
            <a:prstDash val="solid"/>
          </a:ln>
        </p:spPr>
      </p:sp>
      <p:pic>
        <p:nvPicPr>
          <p:cNvPr id="13" name="Image 0" descr="Connective tissue wraps each level of this hierarchy">    </p:cNvPr>
          <p:cNvPicPr>
            <a:picLocks noChangeAspect="1"/>
          </p:cNvPicPr>
          <p:nvPr/>
        </p:nvPicPr>
        <p:blipFill>
          <a:blip r:embed="rId1"/>
          <a:stretch>
            <a:fillRect/>
          </a:stretch>
        </p:blipFill>
        <p:spPr>
          <a:xfrm>
            <a:off x="5806440" y="1959102"/>
            <a:ext cx="5669280" cy="3543300"/>
          </a:xfrm>
          <a:prstGeom prst="rect">
            <a:avLst/>
          </a:prstGeom>
        </p:spPr>
      </p:pic>
      <p:sp>
        <p:nvSpPr>
          <p:cNvPr id="14" name="Text 11"/>
          <p:cNvSpPr txBox="1"/>
          <p:nvPr/>
        </p:nvSpPr>
        <p:spPr>
          <a:xfrm>
            <a:off x="5806440" y="5623560"/>
            <a:ext cx="566928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27  </a:t>
            </a:r>
            <a:pPr indent="0" marL="0">
              <a:buNone/>
            </a:pPr>
            <a:r>
              <a:rPr lang="en-US" sz="1100" dirty="0">
                <a:solidFill>
                  <a:srgbClr val="55707A"/>
                </a:solidFill>
                <a:latin typeface="Calibri" pitchFamily="34" charset="0"/>
                <a:ea typeface="Calibri" pitchFamily="34" charset="-122"/>
                <a:cs typeface="Calibri" pitchFamily="34" charset="-120"/>
              </a:rPr>
              <a:t>Connective tissue wraps each level of this hierarchy</a:t>
            </a:r>
            <a:endParaRPr lang="en-US" sz="1100" dirty="0"/>
          </a:p>
        </p:txBody>
      </p:sp>
      <p:sp>
        <p:nvSpPr>
          <p:cNvPr id="15" name="Text 1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6" name="Text 1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49</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4.6</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What fascia really does</a:t>
            </a:r>
            <a:endParaRPr lang="en-US" sz="3000" dirty="0"/>
          </a:p>
        </p:txBody>
      </p:sp>
      <p:sp>
        <p:nvSpPr>
          <p:cNvPr id="4" name="Shape 2"/>
          <p:cNvSpPr/>
          <p:nvPr/>
        </p:nvSpPr>
        <p:spPr>
          <a:xfrm>
            <a:off x="548640" y="1984248"/>
            <a:ext cx="182880" cy="182880"/>
          </a:xfrm>
          <a:prstGeom prst="ellipse">
            <a:avLst/>
          </a:prstGeom>
          <a:solidFill>
            <a:srgbClr val="B3304C"/>
          </a:solidFill>
          <a:ln w="12700">
            <a:solidFill>
              <a:srgbClr val="B3304C"/>
            </a:solidFill>
            <a:prstDash val="solid"/>
          </a:ln>
        </p:spPr>
      </p:sp>
      <p:sp>
        <p:nvSpPr>
          <p:cNvPr id="5" name="Text 3"/>
          <p:cNvSpPr txBox="1"/>
          <p:nvPr/>
        </p:nvSpPr>
        <p:spPr>
          <a:xfrm>
            <a:off x="960120" y="1874520"/>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Transmits force from muscles to bones and to neighboring muscles</a:t>
            </a:r>
            <a:endParaRPr lang="en-US" sz="1900" dirty="0"/>
          </a:p>
        </p:txBody>
      </p:sp>
      <p:sp>
        <p:nvSpPr>
          <p:cNvPr id="6" name="Shape 4"/>
          <p:cNvSpPr/>
          <p:nvPr/>
        </p:nvSpPr>
        <p:spPr>
          <a:xfrm>
            <a:off x="548640" y="2916936"/>
            <a:ext cx="182880" cy="182880"/>
          </a:xfrm>
          <a:prstGeom prst="ellipse">
            <a:avLst/>
          </a:prstGeom>
          <a:solidFill>
            <a:srgbClr val="2F7359"/>
          </a:solidFill>
          <a:ln w="12700">
            <a:solidFill>
              <a:srgbClr val="2F7359"/>
            </a:solidFill>
            <a:prstDash val="solid"/>
          </a:ln>
        </p:spPr>
      </p:sp>
      <p:sp>
        <p:nvSpPr>
          <p:cNvPr id="7" name="Text 5"/>
          <p:cNvSpPr txBox="1"/>
          <p:nvPr/>
        </p:nvSpPr>
        <p:spPr>
          <a:xfrm>
            <a:off x="960120" y="2807208"/>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Separates structures and lets them glide past each other</a:t>
            </a:r>
            <a:endParaRPr lang="en-US" sz="1900" dirty="0"/>
          </a:p>
        </p:txBody>
      </p:sp>
      <p:sp>
        <p:nvSpPr>
          <p:cNvPr id="8" name="Shape 6"/>
          <p:cNvSpPr/>
          <p:nvPr/>
        </p:nvSpPr>
        <p:spPr>
          <a:xfrm>
            <a:off x="548640" y="3849624"/>
            <a:ext cx="182880" cy="182880"/>
          </a:xfrm>
          <a:prstGeom prst="ellipse">
            <a:avLst/>
          </a:prstGeom>
          <a:solidFill>
            <a:srgbClr val="B3304C"/>
          </a:solidFill>
          <a:ln w="12700">
            <a:solidFill>
              <a:srgbClr val="B3304C"/>
            </a:solidFill>
            <a:prstDash val="solid"/>
          </a:ln>
        </p:spPr>
      </p:sp>
      <p:sp>
        <p:nvSpPr>
          <p:cNvPr id="9" name="Text 7"/>
          <p:cNvSpPr txBox="1"/>
          <p:nvPr/>
        </p:nvSpPr>
        <p:spPr>
          <a:xfrm>
            <a:off x="960120" y="3739896"/>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Contains many nerve endings: it contributes to body sense and pain</a:t>
            </a:r>
            <a:endParaRPr lang="en-US" sz="1900" dirty="0"/>
          </a:p>
        </p:txBody>
      </p:sp>
      <p:sp>
        <p:nvSpPr>
          <p:cNvPr id="10" name="Shape 8"/>
          <p:cNvSpPr/>
          <p:nvPr/>
        </p:nvSpPr>
        <p:spPr>
          <a:xfrm>
            <a:off x="548640" y="4782312"/>
            <a:ext cx="182880" cy="182880"/>
          </a:xfrm>
          <a:prstGeom prst="ellipse">
            <a:avLst/>
          </a:prstGeom>
          <a:solidFill>
            <a:srgbClr val="2F7359"/>
          </a:solidFill>
          <a:ln w="12700">
            <a:solidFill>
              <a:srgbClr val="2F7359"/>
            </a:solidFill>
            <a:prstDash val="solid"/>
          </a:ln>
        </p:spPr>
      </p:sp>
      <p:sp>
        <p:nvSpPr>
          <p:cNvPr id="11" name="Text 9"/>
          <p:cNvSpPr txBox="1"/>
          <p:nvPr/>
        </p:nvSpPr>
        <p:spPr>
          <a:xfrm>
            <a:off x="960120" y="4672584"/>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Adapts slowly to load, like tendon and ligament</a:t>
            </a:r>
            <a:endParaRPr lang="en-US" sz="1900" dirty="0"/>
          </a:p>
        </p:txBody>
      </p:sp>
      <p:sp>
        <p:nvSpPr>
          <p:cNvPr id="12" name="Shape 10"/>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13" name="Image 0" descr="Cobra: the thoracolumbar fascia links back muscles, gluteals and latissimus">    </p:cNvPr>
          <p:cNvPicPr>
            <a:picLocks noChangeAspect="1"/>
          </p:cNvPicPr>
          <p:nvPr/>
        </p:nvPicPr>
        <p:blipFill>
          <a:blip r:embed="rId1"/>
          <a:stretch>
            <a:fillRect/>
          </a:stretch>
        </p:blipFill>
        <p:spPr>
          <a:xfrm>
            <a:off x="7086600" y="2302105"/>
            <a:ext cx="4389120" cy="2857293"/>
          </a:xfrm>
          <a:prstGeom prst="rect">
            <a:avLst/>
          </a:prstGeom>
        </p:spPr>
      </p:pic>
      <p:sp>
        <p:nvSpPr>
          <p:cNvPr id="14" name="Text 11"/>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28  </a:t>
            </a:r>
            <a:pPr indent="0" marL="0">
              <a:buNone/>
            </a:pPr>
            <a:r>
              <a:rPr lang="en-US" sz="1100" dirty="0">
                <a:solidFill>
                  <a:srgbClr val="55707A"/>
                </a:solidFill>
                <a:latin typeface="Calibri" pitchFamily="34" charset="0"/>
                <a:ea typeface="Calibri" pitchFamily="34" charset="-122"/>
                <a:cs typeface="Calibri" pitchFamily="34" charset="-120"/>
              </a:rPr>
              <a:t>Cobra: the thoracolumbar fascia links back muscles, gluteals and latissimus</a:t>
            </a:r>
            <a:endParaRPr lang="en-US" sz="1100" dirty="0"/>
          </a:p>
        </p:txBody>
      </p:sp>
      <p:sp>
        <p:nvSpPr>
          <p:cNvPr id="15" name="Text 1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6" name="Text 1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50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4.6</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Fascia claims: what the evidence supports</a:t>
            </a:r>
            <a:endParaRPr lang="en-US" sz="3000" dirty="0"/>
          </a:p>
        </p:txBody>
      </p:sp>
      <p:sp>
        <p:nvSpPr>
          <p:cNvPr id="4" name="Shape 2"/>
          <p:cNvSpPr/>
          <p:nvPr/>
        </p:nvSpPr>
        <p:spPr>
          <a:xfrm>
            <a:off x="548640" y="1783080"/>
            <a:ext cx="5394960" cy="4297680"/>
          </a:xfrm>
          <a:prstGeom prst="roundRect">
            <a:avLst>
              <a:gd name="adj" fmla="val 2553"/>
            </a:avLst>
          </a:prstGeom>
          <a:solidFill>
            <a:srgbClr val="F1EADA"/>
          </a:solidFill>
          <a:ln w="12700">
            <a:solidFill>
              <a:srgbClr val="F1EADA"/>
            </a:solidFill>
            <a:prstDash val="solid"/>
          </a:ln>
        </p:spPr>
      </p:sp>
      <p:sp>
        <p:nvSpPr>
          <p:cNvPr id="5" name="Text 3"/>
          <p:cNvSpPr txBox="1"/>
          <p:nvPr/>
        </p:nvSpPr>
        <p:spPr>
          <a:xfrm>
            <a:off x="822960" y="1965960"/>
            <a:ext cx="4846320" cy="640080"/>
          </a:xfrm>
          <a:prstGeom prst="rect">
            <a:avLst/>
          </a:prstGeom>
          <a:noFill/>
          <a:ln/>
        </p:spPr>
        <p:txBody>
          <a:bodyPr wrap="square" lIns="0" tIns="0" rIns="0" bIns="0" rtlCol="0" anchor="t">
            <a:normAutofit/>
          </a:bodyPr>
          <a:lstStyle/>
          <a:p>
            <a:pPr indent="0" marL="0">
              <a:buNone/>
            </a:pPr>
            <a:r>
              <a:rPr lang="en-US" sz="2200" b="1" dirty="0">
                <a:solidFill>
                  <a:srgbClr val="16303A"/>
                </a:solidFill>
                <a:latin typeface="Cambria" pitchFamily="34" charset="0"/>
                <a:ea typeface="Cambria" pitchFamily="34" charset="-122"/>
                <a:cs typeface="Cambria" pitchFamily="34" charset="-120"/>
              </a:rPr>
              <a:t>Supported</a:t>
            </a:r>
            <a:endParaRPr lang="en-US" sz="2200" dirty="0"/>
          </a:p>
        </p:txBody>
      </p:sp>
      <p:sp>
        <p:nvSpPr>
          <p:cNvPr id="6" name="Text 4"/>
          <p:cNvSpPr txBox="1"/>
          <p:nvPr/>
        </p:nvSpPr>
        <p:spPr>
          <a:xfrm>
            <a:off x="822960" y="2697480"/>
            <a:ext cx="4846320" cy="320040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Fascia transmits force and links muscles</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It is richly innervated and sensitive</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It adapts slowly to regular loading</a:t>
            </a:r>
            <a:endParaRPr lang="en-US" sz="1700" dirty="0"/>
          </a:p>
        </p:txBody>
      </p:sp>
      <p:sp>
        <p:nvSpPr>
          <p:cNvPr id="7" name="Shape 5"/>
          <p:cNvSpPr/>
          <p:nvPr/>
        </p:nvSpPr>
        <p:spPr>
          <a:xfrm>
            <a:off x="6217920" y="1783080"/>
            <a:ext cx="5394960" cy="4297680"/>
          </a:xfrm>
          <a:prstGeom prst="roundRect">
            <a:avLst>
              <a:gd name="adj" fmla="val 2553"/>
            </a:avLst>
          </a:prstGeom>
          <a:solidFill>
            <a:srgbClr val="D5E9DF"/>
          </a:solidFill>
          <a:ln w="12700">
            <a:solidFill>
              <a:srgbClr val="D5E9DF"/>
            </a:solidFill>
            <a:prstDash val="solid"/>
          </a:ln>
        </p:spPr>
      </p:sp>
      <p:sp>
        <p:nvSpPr>
          <p:cNvPr id="8" name="Text 6"/>
          <p:cNvSpPr txBox="1"/>
          <p:nvPr/>
        </p:nvSpPr>
        <p:spPr>
          <a:xfrm>
            <a:off x="6492240" y="1965960"/>
            <a:ext cx="4846320" cy="640080"/>
          </a:xfrm>
          <a:prstGeom prst="rect">
            <a:avLst/>
          </a:prstGeom>
          <a:noFill/>
          <a:ln/>
        </p:spPr>
        <p:txBody>
          <a:bodyPr wrap="square" lIns="0" tIns="0" rIns="0" bIns="0" rtlCol="0" anchor="t">
            <a:normAutofit/>
          </a:bodyPr>
          <a:lstStyle/>
          <a:p>
            <a:pPr indent="0" marL="0">
              <a:buNone/>
            </a:pPr>
            <a:r>
              <a:rPr lang="en-US" sz="2200" b="1" dirty="0">
                <a:solidFill>
                  <a:srgbClr val="16303A"/>
                </a:solidFill>
                <a:latin typeface="Cambria" pitchFamily="34" charset="0"/>
                <a:ea typeface="Cambria" pitchFamily="34" charset="-122"/>
                <a:cs typeface="Cambria" pitchFamily="34" charset="-120"/>
              </a:rPr>
              <a:t>Not supported</a:t>
            </a:r>
            <a:endParaRPr lang="en-US" sz="2200" dirty="0"/>
          </a:p>
        </p:txBody>
      </p:sp>
      <p:sp>
        <p:nvSpPr>
          <p:cNvPr id="9" name="Text 7"/>
          <p:cNvSpPr txBox="1"/>
          <p:nvPr/>
        </p:nvSpPr>
        <p:spPr>
          <a:xfrm>
            <a:off x="6492240" y="2697480"/>
            <a:ext cx="4846320" cy="320040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Hands or rollers release or lengthen dense fascia</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Fascia stores emotions or trauma</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A pose rehydrates fascia</a:t>
            </a:r>
            <a:endParaRPr lang="en-US" sz="1700" dirty="0"/>
          </a:p>
        </p:txBody>
      </p:sp>
      <p:sp>
        <p:nvSpPr>
          <p:cNvPr id="10" name="Text 8"/>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1" name="Text 9"/>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51</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4.6  ·  FEEL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Feel it: glide and connection</a:t>
            </a:r>
            <a:endParaRPr lang="en-US" sz="3000" dirty="0"/>
          </a:p>
        </p:txBody>
      </p:sp>
      <p:sp>
        <p:nvSpPr>
          <p:cNvPr id="4" name="Shape 2"/>
          <p:cNvSpPr/>
          <p:nvPr/>
        </p:nvSpPr>
        <p:spPr>
          <a:xfrm>
            <a:off x="548640" y="1828800"/>
            <a:ext cx="457200" cy="457200"/>
          </a:xfrm>
          <a:prstGeom prst="ellipse">
            <a:avLst/>
          </a:prstGeom>
          <a:solidFill>
            <a:srgbClr val="2F7359"/>
          </a:solidFill>
          <a:ln w="12700">
            <a:solidFill>
              <a:srgbClr val="2F7359"/>
            </a:solidFill>
            <a:prstDash val="solid"/>
          </a:ln>
        </p:spPr>
      </p:sp>
      <p:sp>
        <p:nvSpPr>
          <p:cNvPr id="5" name="Text 3"/>
          <p:cNvSpPr txBox="1"/>
          <p:nvPr/>
        </p:nvSpPr>
        <p:spPr>
          <a:xfrm>
            <a:off x="54864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6" name="Text 4"/>
          <p:cNvSpPr txBox="1"/>
          <p:nvPr/>
        </p:nvSpPr>
        <p:spPr>
          <a:xfrm>
            <a:off x="1234440" y="1783080"/>
            <a:ext cx="534924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Sit and pinch a fold of skin on the front of the thigh</a:t>
            </a:r>
            <a:endParaRPr lang="en-US" sz="1800" dirty="0"/>
          </a:p>
        </p:txBody>
      </p:sp>
      <p:sp>
        <p:nvSpPr>
          <p:cNvPr id="7" name="Shape 5"/>
          <p:cNvSpPr/>
          <p:nvPr/>
        </p:nvSpPr>
        <p:spPr>
          <a:xfrm>
            <a:off x="548640" y="2743200"/>
            <a:ext cx="457200" cy="457200"/>
          </a:xfrm>
          <a:prstGeom prst="ellipse">
            <a:avLst/>
          </a:prstGeom>
          <a:solidFill>
            <a:srgbClr val="2F7359"/>
          </a:solidFill>
          <a:ln w="12700">
            <a:solidFill>
              <a:srgbClr val="2F7359"/>
            </a:solidFill>
            <a:prstDash val="solid"/>
          </a:ln>
        </p:spPr>
      </p:sp>
      <p:sp>
        <p:nvSpPr>
          <p:cNvPr id="8" name="Text 6"/>
          <p:cNvSpPr txBox="1"/>
          <p:nvPr/>
        </p:nvSpPr>
        <p:spPr>
          <a:xfrm>
            <a:off x="548640" y="27432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9" name="Text 7"/>
          <p:cNvSpPr txBox="1"/>
          <p:nvPr/>
        </p:nvSpPr>
        <p:spPr>
          <a:xfrm>
            <a:off x="1234440" y="2697480"/>
            <a:ext cx="534924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Slowly bend and straighten the knee; feel skin and superficial fascia glide</a:t>
            </a:r>
            <a:endParaRPr lang="en-US" sz="1800" dirty="0"/>
          </a:p>
        </p:txBody>
      </p:sp>
      <p:sp>
        <p:nvSpPr>
          <p:cNvPr id="10" name="Shape 8"/>
          <p:cNvSpPr/>
          <p:nvPr/>
        </p:nvSpPr>
        <p:spPr>
          <a:xfrm>
            <a:off x="548640" y="3657600"/>
            <a:ext cx="457200" cy="457200"/>
          </a:xfrm>
          <a:prstGeom prst="ellipse">
            <a:avLst/>
          </a:prstGeom>
          <a:solidFill>
            <a:srgbClr val="2F7359"/>
          </a:solidFill>
          <a:ln w="12700">
            <a:solidFill>
              <a:srgbClr val="2F7359"/>
            </a:solidFill>
            <a:prstDash val="solid"/>
          </a:ln>
        </p:spPr>
      </p:sp>
      <p:sp>
        <p:nvSpPr>
          <p:cNvPr id="11" name="Text 9"/>
          <p:cNvSpPr txBox="1"/>
          <p:nvPr/>
        </p:nvSpPr>
        <p:spPr>
          <a:xfrm>
            <a:off x="548640" y="36576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2" name="Text 10"/>
          <p:cNvSpPr txBox="1"/>
          <p:nvPr/>
        </p:nvSpPr>
        <p:spPr>
          <a:xfrm>
            <a:off x="1234440" y="3611880"/>
            <a:ext cx="534924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Stand in Mountain and reach one arm long overhead</a:t>
            </a:r>
            <a:endParaRPr lang="en-US" sz="1800" dirty="0"/>
          </a:p>
        </p:txBody>
      </p:sp>
      <p:sp>
        <p:nvSpPr>
          <p:cNvPr id="13" name="Shape 11"/>
          <p:cNvSpPr/>
          <p:nvPr/>
        </p:nvSpPr>
        <p:spPr>
          <a:xfrm>
            <a:off x="548640" y="4572000"/>
            <a:ext cx="457200" cy="457200"/>
          </a:xfrm>
          <a:prstGeom prst="ellipse">
            <a:avLst/>
          </a:prstGeom>
          <a:solidFill>
            <a:srgbClr val="2F7359"/>
          </a:solidFill>
          <a:ln w="12700">
            <a:solidFill>
              <a:srgbClr val="2F7359"/>
            </a:solidFill>
            <a:prstDash val="solid"/>
          </a:ln>
        </p:spPr>
      </p:sp>
      <p:sp>
        <p:nvSpPr>
          <p:cNvPr id="14" name="Text 12"/>
          <p:cNvSpPr txBox="1"/>
          <p:nvPr/>
        </p:nvSpPr>
        <p:spPr>
          <a:xfrm>
            <a:off x="548640" y="45720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15" name="Text 13"/>
          <p:cNvSpPr txBox="1"/>
          <p:nvPr/>
        </p:nvSpPr>
        <p:spPr>
          <a:xfrm>
            <a:off x="1234440" y="4526280"/>
            <a:ext cx="534924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Notice sensation spread from the side waist to the hip: connected tissue, not released tissue</a:t>
            </a:r>
            <a:endParaRPr lang="en-US" sz="1800" dirty="0"/>
          </a:p>
        </p:txBody>
      </p:sp>
      <p:sp>
        <p:nvSpPr>
          <p:cNvPr id="16" name="Shape 14"/>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17" name="Image 0" descr="Reach long and notice sensation spread along the side body">    </p:cNvPr>
          <p:cNvPicPr>
            <a:picLocks noChangeAspect="1"/>
          </p:cNvPicPr>
          <p:nvPr/>
        </p:nvPicPr>
        <p:blipFill>
          <a:blip r:embed="rId1"/>
          <a:stretch>
            <a:fillRect/>
          </a:stretch>
        </p:blipFill>
        <p:spPr>
          <a:xfrm>
            <a:off x="8067738" y="1901952"/>
            <a:ext cx="2426844" cy="3657600"/>
          </a:xfrm>
          <a:prstGeom prst="rect">
            <a:avLst/>
          </a:prstGeom>
        </p:spPr>
      </p:pic>
      <p:sp>
        <p:nvSpPr>
          <p:cNvPr id="18" name="Text 15"/>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29  </a:t>
            </a:r>
            <a:pPr indent="0" marL="0">
              <a:buNone/>
            </a:pPr>
            <a:r>
              <a:rPr lang="en-US" sz="1100" dirty="0">
                <a:solidFill>
                  <a:srgbClr val="55707A"/>
                </a:solidFill>
                <a:latin typeface="Calibri" pitchFamily="34" charset="0"/>
                <a:ea typeface="Calibri" pitchFamily="34" charset="-122"/>
                <a:cs typeface="Calibri" pitchFamily="34" charset="-120"/>
              </a:rPr>
              <a:t>Reach long and notice sensation spread along the side body</a:t>
            </a:r>
            <a:endParaRPr lang="en-US" sz="1100" dirty="0"/>
          </a:p>
        </p:txBody>
      </p:sp>
      <p:sp>
        <p:nvSpPr>
          <p:cNvPr id="19" name="Text 16"/>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20" name="Text 17"/>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52</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4.6  ·  CUE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Honest language for fascia</a:t>
            </a:r>
            <a:endParaRPr lang="en-US" sz="3000" dirty="0"/>
          </a:p>
        </p:txBody>
      </p:sp>
      <p:sp>
        <p:nvSpPr>
          <p:cNvPr id="4" name="Shape 2"/>
          <p:cNvSpPr/>
          <p:nvPr/>
        </p:nvSpPr>
        <p:spPr>
          <a:xfrm>
            <a:off x="548640" y="1783080"/>
            <a:ext cx="6035040" cy="2377440"/>
          </a:xfrm>
          <a:prstGeom prst="roundRect">
            <a:avLst>
              <a:gd name="adj" fmla="val 5385"/>
            </a:avLst>
          </a:prstGeom>
          <a:solidFill>
            <a:srgbClr val="16303A"/>
          </a:solidFill>
          <a:ln w="12700">
            <a:solidFill>
              <a:srgbClr val="16303A"/>
            </a:solidFill>
            <a:prstDash val="solid"/>
          </a:ln>
        </p:spPr>
      </p:sp>
      <p:sp>
        <p:nvSpPr>
          <p:cNvPr id="5" name="Text 3"/>
          <p:cNvSpPr txBox="1"/>
          <p:nvPr/>
        </p:nvSpPr>
        <p:spPr>
          <a:xfrm>
            <a:off x="868680" y="1920240"/>
            <a:ext cx="5394960" cy="2103120"/>
          </a:xfrm>
          <a:prstGeom prst="rect">
            <a:avLst/>
          </a:prstGeom>
          <a:noFill/>
          <a:ln/>
        </p:spPr>
        <p:txBody>
          <a:bodyPr wrap="square" lIns="0" tIns="0" rIns="0" bIns="0" rtlCol="0" anchor="ctr">
            <a:normAutofit/>
          </a:bodyPr>
          <a:lstStyle/>
          <a:p>
            <a:pPr indent="0" marL="0">
              <a:buNone/>
            </a:pPr>
            <a:r>
              <a:rPr lang="en-US" sz="2400" dirty="0">
                <a:solidFill>
                  <a:srgbClr val="FFFFFF"/>
                </a:solidFill>
                <a:latin typeface="Cambria" pitchFamily="34" charset="0"/>
                <a:ea typeface="Cambria" pitchFamily="34" charset="-122"/>
                <a:cs typeface="Cambria" pitchFamily="34" charset="-120"/>
              </a:rPr>
              <a:t>“Notice the sensation spreading along the whole back of the body as you reach the hips up and back.”</a:t>
            </a:r>
            <a:endParaRPr lang="en-US" sz="2400" dirty="0"/>
          </a:p>
        </p:txBody>
      </p:sp>
      <p:sp>
        <p:nvSpPr>
          <p:cNvPr id="6" name="Text 4"/>
          <p:cNvSpPr txBox="1"/>
          <p:nvPr/>
        </p:nvSpPr>
        <p:spPr>
          <a:xfrm>
            <a:off x="548640" y="4389120"/>
            <a:ext cx="6035040" cy="1554480"/>
          </a:xfrm>
          <a:prstGeom prst="rect">
            <a:avLst/>
          </a:prstGeom>
          <a:noFill/>
          <a:ln/>
        </p:spPr>
        <p:txBody>
          <a:bodyPr wrap="square" lIns="0" tIns="0" rIns="0" bIns="0" rtlCol="0" anchor="t">
            <a:normAutofit/>
          </a:bodyPr>
          <a:lstStyle/>
          <a:p>
            <a:pPr indent="0" marL="0">
              <a:buNone/>
            </a:pPr>
            <a:r>
              <a:rPr lang="en-US" sz="1800" b="1" dirty="0">
                <a:solidFill>
                  <a:srgbClr val="2F7359"/>
                </a:solidFill>
                <a:latin typeface="Calibri" pitchFamily="34" charset="0"/>
                <a:ea typeface="Calibri" pitchFamily="34" charset="-122"/>
                <a:cs typeface="Calibri" pitchFamily="34" charset="-120"/>
              </a:rPr>
              <a:t>Why it works  </a:t>
            </a:r>
            <a:pPr indent="0" marL="0">
              <a:buNone/>
            </a:pPr>
            <a:r>
              <a:rPr lang="en-US" sz="1800" dirty="0">
                <a:solidFill>
                  <a:srgbClr val="16303A"/>
                </a:solidFill>
                <a:latin typeface="Calibri" pitchFamily="34" charset="0"/>
                <a:ea typeface="Calibri" pitchFamily="34" charset="-122"/>
                <a:cs typeface="Calibri" pitchFamily="34" charset="-120"/>
              </a:rPr>
              <a:t>Muscles and fascia are connected, so stretch sensation often spreads. Describing sensation is accurate; promising to release or melt fascia is not.</a:t>
            </a:r>
            <a:endParaRPr lang="en-US" sz="1800" dirty="0"/>
          </a:p>
        </p:txBody>
      </p:sp>
      <p:sp>
        <p:nvSpPr>
          <p:cNvPr id="7" name="Shape 5"/>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8" name="Image 0" descr="Down Dog: describe the sensation, not a promised release">    </p:cNvPr>
          <p:cNvPicPr>
            <a:picLocks noChangeAspect="1"/>
          </p:cNvPicPr>
          <p:nvPr/>
        </p:nvPicPr>
        <p:blipFill>
          <a:blip r:embed="rId1"/>
          <a:stretch>
            <a:fillRect/>
          </a:stretch>
        </p:blipFill>
        <p:spPr>
          <a:xfrm>
            <a:off x="7306620" y="1901952"/>
            <a:ext cx="3949080" cy="3657600"/>
          </a:xfrm>
          <a:prstGeom prst="rect">
            <a:avLst/>
          </a:prstGeom>
        </p:spPr>
      </p:pic>
      <p:sp>
        <p:nvSpPr>
          <p:cNvPr id="9" name="Text 6"/>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30  </a:t>
            </a:r>
            <a:pPr indent="0" marL="0">
              <a:buNone/>
            </a:pPr>
            <a:r>
              <a:rPr lang="en-US" sz="1100" dirty="0">
                <a:solidFill>
                  <a:srgbClr val="55707A"/>
                </a:solidFill>
                <a:latin typeface="Calibri" pitchFamily="34" charset="0"/>
                <a:ea typeface="Calibri" pitchFamily="34" charset="-122"/>
                <a:cs typeface="Calibri" pitchFamily="34" charset="-120"/>
              </a:rPr>
              <a:t>Down Dog: describe the sensation, not a promised release</a:t>
            </a:r>
            <a:endParaRPr lang="en-US" sz="1100" dirty="0"/>
          </a:p>
        </p:txBody>
      </p:sp>
      <p:sp>
        <p:nvSpPr>
          <p:cNvPr id="10" name="Text 7"/>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1" name="Text 8"/>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53</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EDF2E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4.6  ·  CHECK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Which statement about fascia is best supported by current evidence?</a:t>
            </a:r>
            <a:endParaRPr lang="en-US" sz="3000" dirty="0"/>
          </a:p>
        </p:txBody>
      </p:sp>
      <p:sp>
        <p:nvSpPr>
          <p:cNvPr id="4" name="Shape 2"/>
          <p:cNvSpPr/>
          <p:nvPr/>
        </p:nvSpPr>
        <p:spPr>
          <a:xfrm>
            <a:off x="548640" y="2057400"/>
            <a:ext cx="7863840" cy="777240"/>
          </a:xfrm>
          <a:prstGeom prst="roundRect">
            <a:avLst>
              <a:gd name="adj" fmla="val 11765"/>
            </a:avLst>
          </a:prstGeom>
          <a:solidFill>
            <a:srgbClr val="FFFFFF"/>
          </a:solidFill>
          <a:ln w="12700">
            <a:solidFill>
              <a:srgbClr val="C6D4CF"/>
            </a:solidFill>
            <a:prstDash val="solid"/>
          </a:ln>
        </p:spPr>
      </p:sp>
      <p:sp>
        <p:nvSpPr>
          <p:cNvPr id="5" name="Shape 3"/>
          <p:cNvSpPr/>
          <p:nvPr/>
        </p:nvSpPr>
        <p:spPr>
          <a:xfrm>
            <a:off x="731520" y="2212848"/>
            <a:ext cx="457200" cy="457200"/>
          </a:xfrm>
          <a:prstGeom prst="ellipse">
            <a:avLst/>
          </a:prstGeom>
          <a:solidFill>
            <a:srgbClr val="16303A"/>
          </a:solidFill>
          <a:ln w="12700">
            <a:solidFill>
              <a:srgbClr val="16303A"/>
            </a:solidFill>
            <a:prstDash val="solid"/>
          </a:ln>
        </p:spPr>
      </p:sp>
      <p:sp>
        <p:nvSpPr>
          <p:cNvPr id="6" name="Text 4"/>
          <p:cNvSpPr txBox="1"/>
          <p:nvPr/>
        </p:nvSpPr>
        <p:spPr>
          <a:xfrm>
            <a:off x="731520" y="221284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A</a:t>
            </a:r>
            <a:endParaRPr lang="en-US" sz="1400" dirty="0"/>
          </a:p>
        </p:txBody>
      </p:sp>
      <p:sp>
        <p:nvSpPr>
          <p:cNvPr id="7" name="Text 5"/>
          <p:cNvSpPr txBox="1"/>
          <p:nvPr/>
        </p:nvSpPr>
        <p:spPr>
          <a:xfrm>
            <a:off x="1371600" y="2057400"/>
            <a:ext cx="6858000" cy="777240"/>
          </a:xfrm>
          <a:prstGeom prst="rect">
            <a:avLst/>
          </a:prstGeom>
          <a:noFill/>
          <a:ln/>
        </p:spPr>
        <p:txBody>
          <a:bodyPr wrap="square" lIns="0" tIns="0" rIns="0" bIns="0" rtlCol="0" anchor="ctr">
            <a:normAutofit/>
          </a:bodyPr>
          <a:lstStyle/>
          <a:p>
            <a:pPr indent="0" marL="0">
              <a:buNone/>
            </a:pPr>
            <a:r>
              <a:rPr lang="en-US" sz="1700" dirty="0">
                <a:solidFill>
                  <a:srgbClr val="16303A"/>
                </a:solidFill>
                <a:latin typeface="Calibri" pitchFamily="34" charset="0"/>
                <a:ea typeface="Calibri" pitchFamily="34" charset="-122"/>
                <a:cs typeface="Calibri" pitchFamily="34" charset="-120"/>
              </a:rPr>
              <a:t>Foam rolling permanently lengthens the iliotibial band</a:t>
            </a:r>
            <a:endParaRPr lang="en-US" sz="1700" dirty="0"/>
          </a:p>
        </p:txBody>
      </p:sp>
      <p:sp>
        <p:nvSpPr>
          <p:cNvPr id="8" name="Shape 6"/>
          <p:cNvSpPr/>
          <p:nvPr/>
        </p:nvSpPr>
        <p:spPr>
          <a:xfrm>
            <a:off x="548640" y="3017520"/>
            <a:ext cx="7863840" cy="777240"/>
          </a:xfrm>
          <a:prstGeom prst="roundRect">
            <a:avLst>
              <a:gd name="adj" fmla="val 11765"/>
            </a:avLst>
          </a:prstGeom>
          <a:solidFill>
            <a:srgbClr val="FFFFFF"/>
          </a:solidFill>
          <a:ln w="12700">
            <a:solidFill>
              <a:srgbClr val="C6D4CF"/>
            </a:solidFill>
            <a:prstDash val="solid"/>
          </a:ln>
        </p:spPr>
      </p:sp>
      <p:sp>
        <p:nvSpPr>
          <p:cNvPr id="9" name="Shape 7"/>
          <p:cNvSpPr/>
          <p:nvPr/>
        </p:nvSpPr>
        <p:spPr>
          <a:xfrm>
            <a:off x="731520" y="3172968"/>
            <a:ext cx="457200" cy="457200"/>
          </a:xfrm>
          <a:prstGeom prst="ellipse">
            <a:avLst/>
          </a:prstGeom>
          <a:solidFill>
            <a:srgbClr val="16303A"/>
          </a:solidFill>
          <a:ln w="12700">
            <a:solidFill>
              <a:srgbClr val="16303A"/>
            </a:solidFill>
            <a:prstDash val="solid"/>
          </a:ln>
        </p:spPr>
      </p:sp>
      <p:sp>
        <p:nvSpPr>
          <p:cNvPr id="10" name="Text 8"/>
          <p:cNvSpPr txBox="1"/>
          <p:nvPr/>
        </p:nvSpPr>
        <p:spPr>
          <a:xfrm>
            <a:off x="731520" y="317296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B</a:t>
            </a:r>
            <a:endParaRPr lang="en-US" sz="1400" dirty="0"/>
          </a:p>
        </p:txBody>
      </p:sp>
      <p:sp>
        <p:nvSpPr>
          <p:cNvPr id="11" name="Text 9"/>
          <p:cNvSpPr txBox="1"/>
          <p:nvPr/>
        </p:nvSpPr>
        <p:spPr>
          <a:xfrm>
            <a:off x="1371600" y="3017520"/>
            <a:ext cx="6858000" cy="777240"/>
          </a:xfrm>
          <a:prstGeom prst="rect">
            <a:avLst/>
          </a:prstGeom>
          <a:noFill/>
          <a:ln/>
        </p:spPr>
        <p:txBody>
          <a:bodyPr wrap="square" lIns="0" tIns="0" rIns="0" bIns="0" rtlCol="0" anchor="ctr">
            <a:normAutofit/>
          </a:bodyPr>
          <a:lstStyle/>
          <a:p>
            <a:pPr indent="0" marL="0">
              <a:buNone/>
            </a:pPr>
            <a:r>
              <a:rPr lang="en-US" sz="1700" dirty="0">
                <a:solidFill>
                  <a:srgbClr val="16303A"/>
                </a:solidFill>
                <a:latin typeface="Calibri" pitchFamily="34" charset="0"/>
                <a:ea typeface="Calibri" pitchFamily="34" charset="-122"/>
                <a:cs typeface="Calibri" pitchFamily="34" charset="-120"/>
              </a:rPr>
              <a:t>Fascia transmits force and contains many sensory nerve endings</a:t>
            </a:r>
            <a:endParaRPr lang="en-US" sz="1700" dirty="0"/>
          </a:p>
        </p:txBody>
      </p:sp>
      <p:sp>
        <p:nvSpPr>
          <p:cNvPr id="12" name="Shape 10"/>
          <p:cNvSpPr/>
          <p:nvPr/>
        </p:nvSpPr>
        <p:spPr>
          <a:xfrm>
            <a:off x="548640" y="3977640"/>
            <a:ext cx="7863840" cy="777240"/>
          </a:xfrm>
          <a:prstGeom prst="roundRect">
            <a:avLst>
              <a:gd name="adj" fmla="val 11765"/>
            </a:avLst>
          </a:prstGeom>
          <a:solidFill>
            <a:srgbClr val="FFFFFF"/>
          </a:solidFill>
          <a:ln w="12700">
            <a:solidFill>
              <a:srgbClr val="C6D4CF"/>
            </a:solidFill>
            <a:prstDash val="solid"/>
          </a:ln>
        </p:spPr>
      </p:sp>
      <p:sp>
        <p:nvSpPr>
          <p:cNvPr id="13" name="Shape 11"/>
          <p:cNvSpPr/>
          <p:nvPr/>
        </p:nvSpPr>
        <p:spPr>
          <a:xfrm>
            <a:off x="731520" y="4133088"/>
            <a:ext cx="457200" cy="457200"/>
          </a:xfrm>
          <a:prstGeom prst="ellipse">
            <a:avLst/>
          </a:prstGeom>
          <a:solidFill>
            <a:srgbClr val="16303A"/>
          </a:solidFill>
          <a:ln w="12700">
            <a:solidFill>
              <a:srgbClr val="16303A"/>
            </a:solidFill>
            <a:prstDash val="solid"/>
          </a:ln>
        </p:spPr>
      </p:sp>
      <p:sp>
        <p:nvSpPr>
          <p:cNvPr id="14" name="Text 12"/>
          <p:cNvSpPr txBox="1"/>
          <p:nvPr/>
        </p:nvSpPr>
        <p:spPr>
          <a:xfrm>
            <a:off x="731520" y="413308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C</a:t>
            </a:r>
            <a:endParaRPr lang="en-US" sz="1400" dirty="0"/>
          </a:p>
        </p:txBody>
      </p:sp>
      <p:sp>
        <p:nvSpPr>
          <p:cNvPr id="15" name="Text 13"/>
          <p:cNvSpPr txBox="1"/>
          <p:nvPr/>
        </p:nvSpPr>
        <p:spPr>
          <a:xfrm>
            <a:off x="1371600" y="3977640"/>
            <a:ext cx="6858000" cy="777240"/>
          </a:xfrm>
          <a:prstGeom prst="rect">
            <a:avLst/>
          </a:prstGeom>
          <a:noFill/>
          <a:ln/>
        </p:spPr>
        <p:txBody>
          <a:bodyPr wrap="square" lIns="0" tIns="0" rIns="0" bIns="0" rtlCol="0" anchor="ctr">
            <a:normAutofit/>
          </a:bodyPr>
          <a:lstStyle/>
          <a:p>
            <a:pPr indent="0" marL="0">
              <a:buNone/>
            </a:pPr>
            <a:r>
              <a:rPr lang="en-US" sz="1700" dirty="0">
                <a:solidFill>
                  <a:srgbClr val="16303A"/>
                </a:solidFill>
                <a:latin typeface="Calibri" pitchFamily="34" charset="0"/>
                <a:ea typeface="Calibri" pitchFamily="34" charset="-122"/>
                <a:cs typeface="Calibri" pitchFamily="34" charset="-120"/>
              </a:rPr>
              <a:t>Fascia stores unresolved emotions that poses release</a:t>
            </a:r>
            <a:endParaRPr lang="en-US" sz="1700" dirty="0"/>
          </a:p>
        </p:txBody>
      </p:sp>
      <p:sp>
        <p:nvSpPr>
          <p:cNvPr id="16" name="Text 14"/>
          <p:cNvSpPr txBox="1"/>
          <p:nvPr/>
        </p:nvSpPr>
        <p:spPr>
          <a:xfrm>
            <a:off x="8778240" y="2194560"/>
            <a:ext cx="2834640" cy="1280160"/>
          </a:xfrm>
          <a:prstGeom prst="rect">
            <a:avLst/>
          </a:prstGeom>
          <a:noFill/>
          <a:ln/>
        </p:spPr>
        <p:txBody>
          <a:bodyPr wrap="square" lIns="0" tIns="0" rIns="0" bIns="0" rtlCol="0" anchor="ctr"/>
          <a:lstStyle/>
          <a:p>
            <a:pPr indent="0" marL="0">
              <a:buNone/>
            </a:pPr>
            <a:r>
              <a:rPr lang="en-US" sz="1800" i="1" dirty="0">
                <a:solidFill>
                  <a:srgbClr val="55707A"/>
                </a:solidFill>
                <a:latin typeface="Cambria" pitchFamily="34" charset="0"/>
                <a:ea typeface="Cambria" pitchFamily="34" charset="-122"/>
                <a:cs typeface="Cambria" pitchFamily="34" charset="-120"/>
              </a:rPr>
              <a:t>Pause the video and choose before you move on.</a:t>
            </a:r>
            <a:endParaRPr lang="en-US" sz="1800" dirty="0"/>
          </a:p>
        </p:txBody>
      </p:sp>
      <p:sp>
        <p:nvSpPr>
          <p:cNvPr id="17" name="Text 15"/>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8" name="Text 16"/>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54</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4.6  ·  CHECK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Answer</a:t>
            </a:r>
            <a:endParaRPr lang="en-US" sz="3000" dirty="0"/>
          </a:p>
        </p:txBody>
      </p:sp>
      <p:sp>
        <p:nvSpPr>
          <p:cNvPr id="4" name="Shape 2"/>
          <p:cNvSpPr/>
          <p:nvPr/>
        </p:nvSpPr>
        <p:spPr>
          <a:xfrm>
            <a:off x="548640" y="1737360"/>
            <a:ext cx="11064240" cy="1097280"/>
          </a:xfrm>
          <a:prstGeom prst="roundRect">
            <a:avLst>
              <a:gd name="adj" fmla="val 10000"/>
            </a:avLst>
          </a:prstGeom>
          <a:solidFill>
            <a:srgbClr val="D5E9DF"/>
          </a:solidFill>
          <a:ln w="19050">
            <a:solidFill>
              <a:srgbClr val="2F7359"/>
            </a:solidFill>
            <a:prstDash val="solid"/>
          </a:ln>
        </p:spPr>
      </p:sp>
      <p:sp>
        <p:nvSpPr>
          <p:cNvPr id="5" name="Shape 3"/>
          <p:cNvSpPr/>
          <p:nvPr/>
        </p:nvSpPr>
        <p:spPr>
          <a:xfrm>
            <a:off x="777240" y="2011680"/>
            <a:ext cx="548640" cy="548640"/>
          </a:xfrm>
          <a:prstGeom prst="ellipse">
            <a:avLst/>
          </a:prstGeom>
          <a:solidFill>
            <a:srgbClr val="2F7359"/>
          </a:solidFill>
          <a:ln w="12700">
            <a:solidFill>
              <a:srgbClr val="2F7359"/>
            </a:solidFill>
            <a:prstDash val="solid"/>
          </a:ln>
        </p:spPr>
      </p:sp>
      <p:sp>
        <p:nvSpPr>
          <p:cNvPr id="6" name="Text 4"/>
          <p:cNvSpPr txBox="1"/>
          <p:nvPr/>
        </p:nvSpPr>
        <p:spPr>
          <a:xfrm>
            <a:off x="777240" y="2011680"/>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B</a:t>
            </a:r>
            <a:endParaRPr lang="en-US" sz="1400" dirty="0"/>
          </a:p>
        </p:txBody>
      </p:sp>
      <p:sp>
        <p:nvSpPr>
          <p:cNvPr id="7" name="Text 5"/>
          <p:cNvSpPr txBox="1"/>
          <p:nvPr/>
        </p:nvSpPr>
        <p:spPr>
          <a:xfrm>
            <a:off x="1554480" y="1737360"/>
            <a:ext cx="9875520" cy="1097280"/>
          </a:xfrm>
          <a:prstGeom prst="rect">
            <a:avLst/>
          </a:prstGeom>
          <a:noFill/>
          <a:ln/>
        </p:spPr>
        <p:txBody>
          <a:bodyPr wrap="square" lIns="0" tIns="0" rIns="0" bIns="0" rtlCol="0" anchor="ctr">
            <a:normAutofit/>
          </a:bodyPr>
          <a:lstStyle/>
          <a:p>
            <a:pPr indent="0" marL="0">
              <a:buNone/>
            </a:pPr>
            <a:r>
              <a:rPr lang="en-US" sz="2200" b="1" dirty="0">
                <a:solidFill>
                  <a:srgbClr val="16303A"/>
                </a:solidFill>
                <a:latin typeface="Cambria" pitchFamily="34" charset="0"/>
                <a:ea typeface="Cambria" pitchFamily="34" charset="-122"/>
                <a:cs typeface="Cambria" pitchFamily="34" charset="-120"/>
              </a:rPr>
              <a:t>Fascia transmits force and contains many sensory nerve endings</a:t>
            </a:r>
            <a:endParaRPr lang="en-US" sz="2200" dirty="0"/>
          </a:p>
        </p:txBody>
      </p:sp>
      <p:sp>
        <p:nvSpPr>
          <p:cNvPr id="8" name="Text 6"/>
          <p:cNvSpPr txBox="1"/>
          <p:nvPr/>
        </p:nvSpPr>
        <p:spPr>
          <a:xfrm>
            <a:off x="548640" y="3108960"/>
            <a:ext cx="11064240" cy="12801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Force transmission and rich innervation are well supported; permanent deformation by rolling and emotional storage are not.</a:t>
            </a:r>
            <a:endParaRPr lang="en-US" sz="1800" dirty="0"/>
          </a:p>
        </p:txBody>
      </p:sp>
      <p:sp>
        <p:nvSpPr>
          <p:cNvPr id="9" name="Text 7"/>
          <p:cNvSpPr txBox="1"/>
          <p:nvPr/>
        </p:nvSpPr>
        <p:spPr>
          <a:xfrm>
            <a:off x="548640" y="4754880"/>
            <a:ext cx="11064240" cy="731520"/>
          </a:xfrm>
          <a:prstGeom prst="rect">
            <a:avLst/>
          </a:prstGeom>
          <a:noFill/>
          <a:ln/>
        </p:spPr>
        <p:txBody>
          <a:bodyPr wrap="square" lIns="0" tIns="0" rIns="0" bIns="0" rtlCol="0" anchor="t">
            <a:normAutofit/>
          </a:bodyPr>
          <a:lstStyle/>
          <a:p>
            <a:pPr indent="0" marL="0">
              <a:buNone/>
            </a:pPr>
            <a:r>
              <a:rPr lang="en-US" sz="1200" dirty="0">
                <a:solidFill>
                  <a:srgbClr val="55707A"/>
                </a:solidFill>
                <a:latin typeface="Calibri" pitchFamily="34" charset="0"/>
                <a:ea typeface="Calibri" pitchFamily="34" charset="-122"/>
                <a:cs typeface="Calibri" pitchFamily="34" charset="-120"/>
              </a:rPr>
              <a:t>Question: Which statement about fascia is best supported by current evidence?</a:t>
            </a:r>
            <a:endParaRPr lang="en-US" sz="1200" dirty="0"/>
          </a:p>
        </p:txBody>
      </p:sp>
      <p:sp>
        <p:nvSpPr>
          <p:cNvPr id="10" name="Text 8"/>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1" name="Text 9"/>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55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16303A"/>
        </a:solidFill>
      </p:bgPr>
    </p:bg>
    <p:spTree>
      <p:nvGrpSpPr>
        <p:cNvPr id="1" name=""/>
        <p:cNvGrpSpPr/>
        <p:nvPr/>
      </p:nvGrpSpPr>
      <p:grpSpPr>
        <a:xfrm>
          <a:off x="0" y="0"/>
          <a:ext cx="0" cy="0"/>
          <a:chOff x="0" y="0"/>
          <a:chExt cx="0" cy="0"/>
        </a:xfrm>
      </p:grpSpPr>
      <p:sp>
        <p:nvSpPr>
          <p:cNvPr id="2" name="Shape 0"/>
          <p:cNvSpPr/>
          <p:nvPr/>
        </p:nvSpPr>
        <p:spPr>
          <a:xfrm>
            <a:off x="548640" y="1463040"/>
            <a:ext cx="1371600" cy="1371600"/>
          </a:xfrm>
          <a:prstGeom prst="ellipse">
            <a:avLst/>
          </a:prstGeom>
          <a:solidFill>
            <a:srgbClr val="B3304C"/>
          </a:solidFill>
          <a:ln w="12700">
            <a:solidFill>
              <a:srgbClr val="B3304C"/>
            </a:solidFill>
            <a:prstDash val="solid"/>
          </a:ln>
        </p:spPr>
      </p:sp>
      <p:sp>
        <p:nvSpPr>
          <p:cNvPr id="3" name="Text 1"/>
          <p:cNvSpPr txBox="1"/>
          <p:nvPr/>
        </p:nvSpPr>
        <p:spPr>
          <a:xfrm>
            <a:off x="548640" y="1463040"/>
            <a:ext cx="1371600" cy="137160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4.7</a:t>
            </a:r>
            <a:endParaRPr lang="en-US" sz="3000" dirty="0"/>
          </a:p>
        </p:txBody>
      </p:sp>
      <p:sp>
        <p:nvSpPr>
          <p:cNvPr id="4" name="Text 2"/>
          <p:cNvSpPr txBox="1"/>
          <p:nvPr/>
        </p:nvSpPr>
        <p:spPr>
          <a:xfrm>
            <a:off x="2286000" y="1508760"/>
            <a:ext cx="7315200" cy="320040"/>
          </a:xfrm>
          <a:prstGeom prst="rect">
            <a:avLst/>
          </a:prstGeom>
          <a:noFill/>
          <a:ln/>
        </p:spPr>
        <p:txBody>
          <a:bodyPr wrap="square" lIns="0" tIns="0" rIns="0" bIns="0" rtlCol="0" anchor="ctr"/>
          <a:lstStyle/>
          <a:p>
            <a:pPr indent="0" marL="0">
              <a:buNone/>
            </a:pPr>
            <a:r>
              <a:rPr lang="en-US" sz="1300" b="1" spc="300" kern="0" dirty="0">
                <a:solidFill>
                  <a:srgbClr val="CBB78C"/>
                </a:solidFill>
                <a:latin typeface="Calibri" pitchFamily="34" charset="0"/>
                <a:ea typeface="Calibri" pitchFamily="34" charset="-122"/>
                <a:cs typeface="Calibri" pitchFamily="34" charset="-120"/>
              </a:rPr>
              <a:t>LESSON 4.7  ·  20 MIN</a:t>
            </a:r>
            <a:endParaRPr lang="en-US" sz="1300" dirty="0"/>
          </a:p>
        </p:txBody>
      </p:sp>
      <p:sp>
        <p:nvSpPr>
          <p:cNvPr id="5" name="Text 3"/>
          <p:cNvSpPr txBox="1"/>
          <p:nvPr/>
        </p:nvSpPr>
        <p:spPr>
          <a:xfrm>
            <a:off x="2286000" y="1874520"/>
            <a:ext cx="9052560" cy="1463040"/>
          </a:xfrm>
          <a:prstGeom prst="rect">
            <a:avLst/>
          </a:prstGeom>
          <a:noFill/>
          <a:ln/>
        </p:spPr>
        <p:txBody>
          <a:bodyPr wrap="square" lIns="0" tIns="0" rIns="0" bIns="0" rtlCol="0" anchor="t">
            <a:normAutofit/>
          </a:bodyPr>
          <a:lstStyle/>
          <a:p>
            <a:pPr indent="0" marL="0">
              <a:buNone/>
            </a:pPr>
            <a:r>
              <a:rPr lang="en-US" sz="3600" b="1" dirty="0">
                <a:solidFill>
                  <a:srgbClr val="FFFFFF"/>
                </a:solidFill>
                <a:latin typeface="Cambria" pitchFamily="34" charset="0"/>
                <a:ea typeface="Cambria" pitchFamily="34" charset="-122"/>
                <a:cs typeface="Cambria" pitchFamily="34" charset="-120"/>
              </a:rPr>
              <a:t>Pose lab: muscle roles in Warrior III and Bridge</a:t>
            </a:r>
            <a:endParaRPr lang="en-US" sz="3600" dirty="0"/>
          </a:p>
        </p:txBody>
      </p:sp>
      <p:sp>
        <p:nvSpPr>
          <p:cNvPr id="6" name="Shape 4"/>
          <p:cNvSpPr/>
          <p:nvPr/>
        </p:nvSpPr>
        <p:spPr>
          <a:xfrm>
            <a:off x="2286000" y="3931920"/>
            <a:ext cx="1965960" cy="566928"/>
          </a:xfrm>
          <a:prstGeom prst="roundRect">
            <a:avLst>
              <a:gd name="adj" fmla="val 48387"/>
            </a:avLst>
          </a:prstGeom>
          <a:solidFill>
            <a:srgbClr val="22414D"/>
          </a:solidFill>
          <a:ln w="12700">
            <a:solidFill>
              <a:srgbClr val="3B5A66"/>
            </a:solidFill>
            <a:prstDash val="solid"/>
          </a:ln>
        </p:spPr>
      </p:sp>
      <p:sp>
        <p:nvSpPr>
          <p:cNvPr id="7" name="Text 5"/>
          <p:cNvSpPr txBox="1"/>
          <p:nvPr/>
        </p:nvSpPr>
        <p:spPr>
          <a:xfrm>
            <a:off x="228600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See it</a:t>
            </a:r>
            <a:endParaRPr lang="en-US" sz="1400" dirty="0"/>
          </a:p>
        </p:txBody>
      </p:sp>
      <p:sp>
        <p:nvSpPr>
          <p:cNvPr id="8" name="Shape 6"/>
          <p:cNvSpPr/>
          <p:nvPr/>
        </p:nvSpPr>
        <p:spPr>
          <a:xfrm>
            <a:off x="4434840" y="3931920"/>
            <a:ext cx="1965960" cy="566928"/>
          </a:xfrm>
          <a:prstGeom prst="roundRect">
            <a:avLst>
              <a:gd name="adj" fmla="val 48387"/>
            </a:avLst>
          </a:prstGeom>
          <a:solidFill>
            <a:srgbClr val="22414D"/>
          </a:solidFill>
          <a:ln w="12700">
            <a:solidFill>
              <a:srgbClr val="3B5A66"/>
            </a:solidFill>
            <a:prstDash val="solid"/>
          </a:ln>
        </p:spPr>
      </p:sp>
      <p:sp>
        <p:nvSpPr>
          <p:cNvPr id="9" name="Text 7"/>
          <p:cNvSpPr txBox="1"/>
          <p:nvPr/>
        </p:nvSpPr>
        <p:spPr>
          <a:xfrm>
            <a:off x="443484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Feel it</a:t>
            </a:r>
            <a:endParaRPr lang="en-US" sz="1400" dirty="0"/>
          </a:p>
        </p:txBody>
      </p:sp>
      <p:sp>
        <p:nvSpPr>
          <p:cNvPr id="10" name="Shape 8"/>
          <p:cNvSpPr/>
          <p:nvPr/>
        </p:nvSpPr>
        <p:spPr>
          <a:xfrm>
            <a:off x="6583680" y="3931920"/>
            <a:ext cx="1965960" cy="566928"/>
          </a:xfrm>
          <a:prstGeom prst="roundRect">
            <a:avLst>
              <a:gd name="adj" fmla="val 48387"/>
            </a:avLst>
          </a:prstGeom>
          <a:solidFill>
            <a:srgbClr val="22414D"/>
          </a:solidFill>
          <a:ln w="12700">
            <a:solidFill>
              <a:srgbClr val="3B5A66"/>
            </a:solidFill>
            <a:prstDash val="solid"/>
          </a:ln>
        </p:spPr>
      </p:sp>
      <p:sp>
        <p:nvSpPr>
          <p:cNvPr id="11" name="Text 9"/>
          <p:cNvSpPr txBox="1"/>
          <p:nvPr/>
        </p:nvSpPr>
        <p:spPr>
          <a:xfrm>
            <a:off x="658368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Cue it</a:t>
            </a:r>
            <a:endParaRPr lang="en-US" sz="1400" dirty="0"/>
          </a:p>
        </p:txBody>
      </p:sp>
      <p:sp>
        <p:nvSpPr>
          <p:cNvPr id="12" name="Shape 10"/>
          <p:cNvSpPr/>
          <p:nvPr/>
        </p:nvSpPr>
        <p:spPr>
          <a:xfrm>
            <a:off x="8732520" y="3931920"/>
            <a:ext cx="1965960" cy="566928"/>
          </a:xfrm>
          <a:prstGeom prst="roundRect">
            <a:avLst>
              <a:gd name="adj" fmla="val 48387"/>
            </a:avLst>
          </a:prstGeom>
          <a:solidFill>
            <a:srgbClr val="22414D"/>
          </a:solidFill>
          <a:ln w="12700">
            <a:solidFill>
              <a:srgbClr val="3B5A66"/>
            </a:solidFill>
            <a:prstDash val="solid"/>
          </a:ln>
        </p:spPr>
      </p:sp>
      <p:sp>
        <p:nvSpPr>
          <p:cNvPr id="13" name="Text 11"/>
          <p:cNvSpPr txBox="1"/>
          <p:nvPr/>
        </p:nvSpPr>
        <p:spPr>
          <a:xfrm>
            <a:off x="873252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Check it</a:t>
            </a:r>
            <a:endParaRPr lang="en-US" sz="1400" dirty="0"/>
          </a:p>
        </p:txBody>
      </p:sp>
      <p:sp>
        <p:nvSpPr>
          <p:cNvPr id="14" name="Text 1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A9BFC6"/>
                </a:solidFill>
                <a:latin typeface="Calibri" pitchFamily="34" charset="0"/>
                <a:ea typeface="Calibri" pitchFamily="34" charset="-122"/>
                <a:cs typeface="Calibri" pitchFamily="34" charset="-120"/>
              </a:rPr>
              <a:t>Anatomy on the Mat  ·  Dr. Akash Garg, D.C.</a:t>
            </a:r>
            <a:endParaRPr lang="en-US" sz="900" dirty="0"/>
          </a:p>
        </p:txBody>
      </p:sp>
      <p:sp>
        <p:nvSpPr>
          <p:cNvPr id="15" name="Text 1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A9BFC6"/>
                </a:solidFill>
                <a:latin typeface="Calibri" pitchFamily="34" charset="0"/>
                <a:ea typeface="Calibri" pitchFamily="34" charset="-122"/>
                <a:cs typeface="Calibri" pitchFamily="34" charset="-120"/>
              </a:rPr>
              <a:t>56</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4.7</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Warrior III: who does what</a:t>
            </a:r>
            <a:endParaRPr lang="en-US" sz="3000" dirty="0"/>
          </a:p>
        </p:txBody>
      </p:sp>
      <p:sp>
        <p:nvSpPr>
          <p:cNvPr id="4" name="Shape 2"/>
          <p:cNvSpPr/>
          <p:nvPr/>
        </p:nvSpPr>
        <p:spPr>
          <a:xfrm>
            <a:off x="548640" y="1984248"/>
            <a:ext cx="182880" cy="182880"/>
          </a:xfrm>
          <a:prstGeom prst="ellipse">
            <a:avLst/>
          </a:prstGeom>
          <a:solidFill>
            <a:srgbClr val="B3304C"/>
          </a:solidFill>
          <a:ln w="12700">
            <a:solidFill>
              <a:srgbClr val="B3304C"/>
            </a:solidFill>
            <a:prstDash val="solid"/>
          </a:ln>
        </p:spPr>
      </p:sp>
      <p:sp>
        <p:nvSpPr>
          <p:cNvPr id="5" name="Text 3"/>
          <p:cNvSpPr txBox="1"/>
          <p:nvPr/>
        </p:nvSpPr>
        <p:spPr>
          <a:xfrm>
            <a:off x="960120" y="1874520"/>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Standing leg: quadriceps hold the knee; ankle muscles balance</a:t>
            </a:r>
            <a:endParaRPr lang="en-US" sz="1900" dirty="0"/>
          </a:p>
        </p:txBody>
      </p:sp>
      <p:sp>
        <p:nvSpPr>
          <p:cNvPr id="6" name="Shape 4"/>
          <p:cNvSpPr/>
          <p:nvPr/>
        </p:nvSpPr>
        <p:spPr>
          <a:xfrm>
            <a:off x="548640" y="2916936"/>
            <a:ext cx="182880" cy="182880"/>
          </a:xfrm>
          <a:prstGeom prst="ellipse">
            <a:avLst/>
          </a:prstGeom>
          <a:solidFill>
            <a:srgbClr val="2F7359"/>
          </a:solidFill>
          <a:ln w="12700">
            <a:solidFill>
              <a:srgbClr val="2F7359"/>
            </a:solidFill>
            <a:prstDash val="solid"/>
          </a:ln>
        </p:spPr>
      </p:sp>
      <p:sp>
        <p:nvSpPr>
          <p:cNvPr id="7" name="Text 5"/>
          <p:cNvSpPr txBox="1"/>
          <p:nvPr/>
        </p:nvSpPr>
        <p:spPr>
          <a:xfrm>
            <a:off x="960120" y="2807208"/>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Standing hip: glutes and hamstrings control the forward tilt</a:t>
            </a:r>
            <a:endParaRPr lang="en-US" sz="1900" dirty="0"/>
          </a:p>
        </p:txBody>
      </p:sp>
      <p:sp>
        <p:nvSpPr>
          <p:cNvPr id="8" name="Shape 6"/>
          <p:cNvSpPr/>
          <p:nvPr/>
        </p:nvSpPr>
        <p:spPr>
          <a:xfrm>
            <a:off x="548640" y="3849624"/>
            <a:ext cx="182880" cy="182880"/>
          </a:xfrm>
          <a:prstGeom prst="ellipse">
            <a:avLst/>
          </a:prstGeom>
          <a:solidFill>
            <a:srgbClr val="B3304C"/>
          </a:solidFill>
          <a:ln w="12700">
            <a:solidFill>
              <a:srgbClr val="B3304C"/>
            </a:solidFill>
            <a:prstDash val="solid"/>
          </a:ln>
        </p:spPr>
      </p:sp>
      <p:sp>
        <p:nvSpPr>
          <p:cNvPr id="9" name="Text 7"/>
          <p:cNvSpPr txBox="1"/>
          <p:nvPr/>
        </p:nvSpPr>
        <p:spPr>
          <a:xfrm>
            <a:off x="960120" y="3739896"/>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Lifted leg: glutes and hamstrings hold it up isometrically</a:t>
            </a:r>
            <a:endParaRPr lang="en-US" sz="1900" dirty="0"/>
          </a:p>
        </p:txBody>
      </p:sp>
      <p:sp>
        <p:nvSpPr>
          <p:cNvPr id="10" name="Shape 8"/>
          <p:cNvSpPr/>
          <p:nvPr/>
        </p:nvSpPr>
        <p:spPr>
          <a:xfrm>
            <a:off x="548640" y="4782312"/>
            <a:ext cx="182880" cy="182880"/>
          </a:xfrm>
          <a:prstGeom prst="ellipse">
            <a:avLst/>
          </a:prstGeom>
          <a:solidFill>
            <a:srgbClr val="2F7359"/>
          </a:solidFill>
          <a:ln w="12700">
            <a:solidFill>
              <a:srgbClr val="2F7359"/>
            </a:solidFill>
            <a:prstDash val="solid"/>
          </a:ln>
        </p:spPr>
      </p:sp>
      <p:sp>
        <p:nvSpPr>
          <p:cNvPr id="11" name="Text 9"/>
          <p:cNvSpPr txBox="1"/>
          <p:nvPr/>
        </p:nvSpPr>
        <p:spPr>
          <a:xfrm>
            <a:off x="960120" y="4672584"/>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Back extensors hold the trunk level; shoulders hold the arms</a:t>
            </a:r>
            <a:endParaRPr lang="en-US" sz="1900" dirty="0"/>
          </a:p>
        </p:txBody>
      </p:sp>
      <p:sp>
        <p:nvSpPr>
          <p:cNvPr id="12" name="Shape 10"/>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13" name="Image 0" descr="Warrior III: standing leg vertical, trunk and back leg level">    </p:cNvPr>
          <p:cNvPicPr>
            <a:picLocks noChangeAspect="1"/>
          </p:cNvPicPr>
          <p:nvPr/>
        </p:nvPicPr>
        <p:blipFill>
          <a:blip r:embed="rId1"/>
          <a:stretch>
            <a:fillRect/>
          </a:stretch>
        </p:blipFill>
        <p:spPr>
          <a:xfrm>
            <a:off x="7086600" y="2485232"/>
            <a:ext cx="4389120" cy="2491040"/>
          </a:xfrm>
          <a:prstGeom prst="rect">
            <a:avLst/>
          </a:prstGeom>
        </p:spPr>
      </p:pic>
      <p:sp>
        <p:nvSpPr>
          <p:cNvPr id="14" name="Text 11"/>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31  </a:t>
            </a:r>
            <a:pPr indent="0" marL="0">
              <a:buNone/>
            </a:pPr>
            <a:r>
              <a:rPr lang="en-US" sz="1100" dirty="0">
                <a:solidFill>
                  <a:srgbClr val="55707A"/>
                </a:solidFill>
                <a:latin typeface="Calibri" pitchFamily="34" charset="0"/>
                <a:ea typeface="Calibri" pitchFamily="34" charset="-122"/>
                <a:cs typeface="Calibri" pitchFamily="34" charset="-120"/>
              </a:rPr>
              <a:t>Warrior III: standing leg vertical, trunk and back leg level</a:t>
            </a:r>
            <a:endParaRPr lang="en-US" sz="1100" dirty="0"/>
          </a:p>
        </p:txBody>
      </p:sp>
      <p:sp>
        <p:nvSpPr>
          <p:cNvPr id="15" name="Text 1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6" name="Text 1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57</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4.7</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Warrior III: standing side versus lifted side</a:t>
            </a:r>
            <a:endParaRPr lang="en-US" sz="3000" dirty="0"/>
          </a:p>
        </p:txBody>
      </p:sp>
      <p:sp>
        <p:nvSpPr>
          <p:cNvPr id="4" name="Shape 2"/>
          <p:cNvSpPr/>
          <p:nvPr/>
        </p:nvSpPr>
        <p:spPr>
          <a:xfrm>
            <a:off x="548640" y="1783080"/>
            <a:ext cx="5394960" cy="4297680"/>
          </a:xfrm>
          <a:prstGeom prst="roundRect">
            <a:avLst>
              <a:gd name="adj" fmla="val 2553"/>
            </a:avLst>
          </a:prstGeom>
          <a:solidFill>
            <a:srgbClr val="F1EADA"/>
          </a:solidFill>
          <a:ln w="12700">
            <a:solidFill>
              <a:srgbClr val="F1EADA"/>
            </a:solidFill>
            <a:prstDash val="solid"/>
          </a:ln>
        </p:spPr>
      </p:sp>
      <p:sp>
        <p:nvSpPr>
          <p:cNvPr id="5" name="Text 3"/>
          <p:cNvSpPr txBox="1"/>
          <p:nvPr/>
        </p:nvSpPr>
        <p:spPr>
          <a:xfrm>
            <a:off x="822960" y="1965960"/>
            <a:ext cx="4846320" cy="640080"/>
          </a:xfrm>
          <a:prstGeom prst="rect">
            <a:avLst/>
          </a:prstGeom>
          <a:noFill/>
          <a:ln/>
        </p:spPr>
        <p:txBody>
          <a:bodyPr wrap="square" lIns="0" tIns="0" rIns="0" bIns="0" rtlCol="0" anchor="t">
            <a:normAutofit/>
          </a:bodyPr>
          <a:lstStyle/>
          <a:p>
            <a:pPr indent="0" marL="0">
              <a:buNone/>
            </a:pPr>
            <a:r>
              <a:rPr lang="en-US" sz="2200" b="1" dirty="0">
                <a:solidFill>
                  <a:srgbClr val="16303A"/>
                </a:solidFill>
                <a:latin typeface="Cambria" pitchFamily="34" charset="0"/>
                <a:ea typeface="Cambria" pitchFamily="34" charset="-122"/>
                <a:cs typeface="Cambria" pitchFamily="34" charset="-120"/>
              </a:rPr>
              <a:t>Standing leg</a:t>
            </a:r>
            <a:endParaRPr lang="en-US" sz="2200" dirty="0"/>
          </a:p>
        </p:txBody>
      </p:sp>
      <p:sp>
        <p:nvSpPr>
          <p:cNvPr id="6" name="Text 4"/>
          <p:cNvSpPr txBox="1"/>
          <p:nvPr/>
        </p:nvSpPr>
        <p:spPr>
          <a:xfrm>
            <a:off x="822960" y="2697480"/>
            <a:ext cx="4846320" cy="320040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Glutes and hamstrings: control hip flexion</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Gluteus medius: keeps pelvis level</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Quadriceps: hold the knee</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Foot and ankle: balance</a:t>
            </a:r>
            <a:endParaRPr lang="en-US" sz="1700" dirty="0"/>
          </a:p>
        </p:txBody>
      </p:sp>
      <p:sp>
        <p:nvSpPr>
          <p:cNvPr id="7" name="Shape 5"/>
          <p:cNvSpPr/>
          <p:nvPr/>
        </p:nvSpPr>
        <p:spPr>
          <a:xfrm>
            <a:off x="6217920" y="1783080"/>
            <a:ext cx="5394960" cy="4297680"/>
          </a:xfrm>
          <a:prstGeom prst="roundRect">
            <a:avLst>
              <a:gd name="adj" fmla="val 2553"/>
            </a:avLst>
          </a:prstGeom>
          <a:solidFill>
            <a:srgbClr val="D5E9DF"/>
          </a:solidFill>
          <a:ln w="12700">
            <a:solidFill>
              <a:srgbClr val="D5E9DF"/>
            </a:solidFill>
            <a:prstDash val="solid"/>
          </a:ln>
        </p:spPr>
      </p:sp>
      <p:sp>
        <p:nvSpPr>
          <p:cNvPr id="8" name="Text 6"/>
          <p:cNvSpPr txBox="1"/>
          <p:nvPr/>
        </p:nvSpPr>
        <p:spPr>
          <a:xfrm>
            <a:off x="6492240" y="1965960"/>
            <a:ext cx="4846320" cy="640080"/>
          </a:xfrm>
          <a:prstGeom prst="rect">
            <a:avLst/>
          </a:prstGeom>
          <a:noFill/>
          <a:ln/>
        </p:spPr>
        <p:txBody>
          <a:bodyPr wrap="square" lIns="0" tIns="0" rIns="0" bIns="0" rtlCol="0" anchor="t">
            <a:normAutofit/>
          </a:bodyPr>
          <a:lstStyle/>
          <a:p>
            <a:pPr indent="0" marL="0">
              <a:buNone/>
            </a:pPr>
            <a:r>
              <a:rPr lang="en-US" sz="2200" b="1" dirty="0">
                <a:solidFill>
                  <a:srgbClr val="16303A"/>
                </a:solidFill>
                <a:latin typeface="Cambria" pitchFamily="34" charset="0"/>
                <a:ea typeface="Cambria" pitchFamily="34" charset="-122"/>
                <a:cs typeface="Cambria" pitchFamily="34" charset="-120"/>
              </a:rPr>
              <a:t>Lifted leg and trunk</a:t>
            </a:r>
            <a:endParaRPr lang="en-US" sz="2200" dirty="0"/>
          </a:p>
        </p:txBody>
      </p:sp>
      <p:sp>
        <p:nvSpPr>
          <p:cNvPr id="9" name="Text 7"/>
          <p:cNvSpPr txBox="1"/>
          <p:nvPr/>
        </p:nvSpPr>
        <p:spPr>
          <a:xfrm>
            <a:off x="6492240" y="2697480"/>
            <a:ext cx="4846320" cy="320040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Glutes and hamstrings: hold leg up</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Erector spinae: hold trunk level</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Deep abdominals: stiffen the trunk</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Shoulder muscles: hold arms forward</a:t>
            </a:r>
            <a:endParaRPr lang="en-US" sz="1700" dirty="0"/>
          </a:p>
        </p:txBody>
      </p:sp>
      <p:sp>
        <p:nvSpPr>
          <p:cNvPr id="10" name="Text 8"/>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1" name="Text 9"/>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58</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4.7  ·  CUE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Cueing Warrior III</a:t>
            </a:r>
            <a:endParaRPr lang="en-US" sz="3000" dirty="0"/>
          </a:p>
        </p:txBody>
      </p:sp>
      <p:sp>
        <p:nvSpPr>
          <p:cNvPr id="4" name="Shape 2"/>
          <p:cNvSpPr/>
          <p:nvPr/>
        </p:nvSpPr>
        <p:spPr>
          <a:xfrm>
            <a:off x="548640" y="1783080"/>
            <a:ext cx="6035040" cy="2377440"/>
          </a:xfrm>
          <a:prstGeom prst="roundRect">
            <a:avLst>
              <a:gd name="adj" fmla="val 5385"/>
            </a:avLst>
          </a:prstGeom>
          <a:solidFill>
            <a:srgbClr val="16303A"/>
          </a:solidFill>
          <a:ln w="12700">
            <a:solidFill>
              <a:srgbClr val="16303A"/>
            </a:solidFill>
            <a:prstDash val="solid"/>
          </a:ln>
        </p:spPr>
      </p:sp>
      <p:sp>
        <p:nvSpPr>
          <p:cNvPr id="5" name="Text 3"/>
          <p:cNvSpPr txBox="1"/>
          <p:nvPr/>
        </p:nvSpPr>
        <p:spPr>
          <a:xfrm>
            <a:off x="868680" y="1920240"/>
            <a:ext cx="5394960" cy="2103120"/>
          </a:xfrm>
          <a:prstGeom prst="rect">
            <a:avLst/>
          </a:prstGeom>
          <a:noFill/>
          <a:ln/>
        </p:spPr>
        <p:txBody>
          <a:bodyPr wrap="square" lIns="0" tIns="0" rIns="0" bIns="0" rtlCol="0" anchor="ctr">
            <a:normAutofit/>
          </a:bodyPr>
          <a:lstStyle/>
          <a:p>
            <a:pPr indent="0" marL="0">
              <a:buNone/>
            </a:pPr>
            <a:r>
              <a:rPr lang="en-US" sz="2400" dirty="0">
                <a:solidFill>
                  <a:srgbClr val="FFFFFF"/>
                </a:solidFill>
                <a:latin typeface="Cambria" pitchFamily="34" charset="0"/>
                <a:ea typeface="Cambria" pitchFamily="34" charset="-122"/>
                <a:cs typeface="Cambria" pitchFamily="34" charset="-120"/>
              </a:rPr>
              <a:t>“Press down through the standing foot, reach back through the lifted heel, and keep both hip points facing the floor.”</a:t>
            </a:r>
            <a:endParaRPr lang="en-US" sz="2400" dirty="0"/>
          </a:p>
        </p:txBody>
      </p:sp>
      <p:sp>
        <p:nvSpPr>
          <p:cNvPr id="6" name="Text 4"/>
          <p:cNvSpPr txBox="1"/>
          <p:nvPr/>
        </p:nvSpPr>
        <p:spPr>
          <a:xfrm>
            <a:off x="548640" y="4389120"/>
            <a:ext cx="6035040" cy="1554480"/>
          </a:xfrm>
          <a:prstGeom prst="rect">
            <a:avLst/>
          </a:prstGeom>
          <a:noFill/>
          <a:ln/>
        </p:spPr>
        <p:txBody>
          <a:bodyPr wrap="square" lIns="0" tIns="0" rIns="0" bIns="0" rtlCol="0" anchor="t">
            <a:normAutofit/>
          </a:bodyPr>
          <a:lstStyle/>
          <a:p>
            <a:pPr indent="0" marL="0">
              <a:buNone/>
            </a:pPr>
            <a:r>
              <a:rPr lang="en-US" sz="1800" b="1" dirty="0">
                <a:solidFill>
                  <a:srgbClr val="2F7359"/>
                </a:solidFill>
                <a:latin typeface="Calibri" pitchFamily="34" charset="0"/>
                <a:ea typeface="Calibri" pitchFamily="34" charset="-122"/>
                <a:cs typeface="Calibri" pitchFamily="34" charset="-120"/>
              </a:rPr>
              <a:t>Why it works  </a:t>
            </a:r>
            <a:pPr indent="0" marL="0">
              <a:buNone/>
            </a:pPr>
            <a:r>
              <a:rPr lang="en-US" sz="1800" dirty="0">
                <a:solidFill>
                  <a:srgbClr val="16303A"/>
                </a:solidFill>
                <a:latin typeface="Calibri" pitchFamily="34" charset="0"/>
                <a:ea typeface="Calibri" pitchFamily="34" charset="-122"/>
                <a:cs typeface="Calibri" pitchFamily="34" charset="-120"/>
              </a:rPr>
              <a:t>Pressing down engages the standing leg; reaching back engages the lifted leg's glutes and hamstrings; level hips call on the standing gluteus medius.</a:t>
            </a:r>
            <a:endParaRPr lang="en-US" sz="1800" dirty="0"/>
          </a:p>
        </p:txBody>
      </p:sp>
      <p:sp>
        <p:nvSpPr>
          <p:cNvPr id="7" name="Shape 5"/>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8" name="Image 0" descr="Standing hip: gluteus medius keeps the pelvis level">    </p:cNvPr>
          <p:cNvPicPr>
            <a:picLocks noChangeAspect="1"/>
          </p:cNvPicPr>
          <p:nvPr/>
        </p:nvPicPr>
        <p:blipFill>
          <a:blip r:embed="rId1"/>
          <a:stretch>
            <a:fillRect/>
          </a:stretch>
        </p:blipFill>
        <p:spPr>
          <a:xfrm>
            <a:off x="7086600" y="2485232"/>
            <a:ext cx="4389120" cy="2491040"/>
          </a:xfrm>
          <a:prstGeom prst="rect">
            <a:avLst/>
          </a:prstGeom>
        </p:spPr>
      </p:pic>
      <p:sp>
        <p:nvSpPr>
          <p:cNvPr id="9" name="Text 6"/>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32  </a:t>
            </a:r>
            <a:pPr indent="0" marL="0">
              <a:buNone/>
            </a:pPr>
            <a:r>
              <a:rPr lang="en-US" sz="1100" dirty="0">
                <a:solidFill>
                  <a:srgbClr val="55707A"/>
                </a:solidFill>
                <a:latin typeface="Calibri" pitchFamily="34" charset="0"/>
                <a:ea typeface="Calibri" pitchFamily="34" charset="-122"/>
                <a:cs typeface="Calibri" pitchFamily="34" charset="-120"/>
              </a:rPr>
              <a:t>Standing hip: gluteus medius keeps the pelvis level</a:t>
            </a:r>
            <a:endParaRPr lang="en-US" sz="1100" dirty="0"/>
          </a:p>
        </p:txBody>
      </p:sp>
      <p:sp>
        <p:nvSpPr>
          <p:cNvPr id="10" name="Text 7"/>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1" name="Text 8"/>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59</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4.7</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Bridge: who does what</a:t>
            </a:r>
            <a:endParaRPr lang="en-US" sz="3000" dirty="0"/>
          </a:p>
        </p:txBody>
      </p:sp>
      <p:sp>
        <p:nvSpPr>
          <p:cNvPr id="4" name="Shape 2"/>
          <p:cNvSpPr/>
          <p:nvPr/>
        </p:nvSpPr>
        <p:spPr>
          <a:xfrm>
            <a:off x="548640" y="1984248"/>
            <a:ext cx="182880" cy="182880"/>
          </a:xfrm>
          <a:prstGeom prst="ellipse">
            <a:avLst/>
          </a:prstGeom>
          <a:solidFill>
            <a:srgbClr val="B3304C"/>
          </a:solidFill>
          <a:ln w="12700">
            <a:solidFill>
              <a:srgbClr val="B3304C"/>
            </a:solidFill>
            <a:prstDash val="solid"/>
          </a:ln>
        </p:spPr>
      </p:sp>
      <p:sp>
        <p:nvSpPr>
          <p:cNvPr id="5" name="Text 3"/>
          <p:cNvSpPr txBox="1"/>
          <p:nvPr/>
        </p:nvSpPr>
        <p:spPr>
          <a:xfrm>
            <a:off x="960120" y="1874520"/>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Gluteus maximus and hamstrings: agonists for hip extension</a:t>
            </a:r>
            <a:endParaRPr lang="en-US" sz="1900" dirty="0"/>
          </a:p>
        </p:txBody>
      </p:sp>
      <p:sp>
        <p:nvSpPr>
          <p:cNvPr id="6" name="Shape 4"/>
          <p:cNvSpPr/>
          <p:nvPr/>
        </p:nvSpPr>
        <p:spPr>
          <a:xfrm>
            <a:off x="548640" y="2916936"/>
            <a:ext cx="182880" cy="182880"/>
          </a:xfrm>
          <a:prstGeom prst="ellipse">
            <a:avLst/>
          </a:prstGeom>
          <a:solidFill>
            <a:srgbClr val="2F7359"/>
          </a:solidFill>
          <a:ln w="12700">
            <a:solidFill>
              <a:srgbClr val="2F7359"/>
            </a:solidFill>
            <a:prstDash val="solid"/>
          </a:ln>
        </p:spPr>
      </p:sp>
      <p:sp>
        <p:nvSpPr>
          <p:cNvPr id="7" name="Text 5"/>
          <p:cNvSpPr txBox="1"/>
          <p:nvPr/>
        </p:nvSpPr>
        <p:spPr>
          <a:xfrm>
            <a:off x="960120" y="2807208"/>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Quadriceps help push the knees forward over the ankles</a:t>
            </a:r>
            <a:endParaRPr lang="en-US" sz="1900" dirty="0"/>
          </a:p>
        </p:txBody>
      </p:sp>
      <p:sp>
        <p:nvSpPr>
          <p:cNvPr id="8" name="Shape 6"/>
          <p:cNvSpPr/>
          <p:nvPr/>
        </p:nvSpPr>
        <p:spPr>
          <a:xfrm>
            <a:off x="548640" y="3849624"/>
            <a:ext cx="182880" cy="182880"/>
          </a:xfrm>
          <a:prstGeom prst="ellipse">
            <a:avLst/>
          </a:prstGeom>
          <a:solidFill>
            <a:srgbClr val="B3304C"/>
          </a:solidFill>
          <a:ln w="12700">
            <a:solidFill>
              <a:srgbClr val="B3304C"/>
            </a:solidFill>
            <a:prstDash val="solid"/>
          </a:ln>
        </p:spPr>
      </p:sp>
      <p:sp>
        <p:nvSpPr>
          <p:cNvPr id="9" name="Text 7"/>
          <p:cNvSpPr txBox="1"/>
          <p:nvPr/>
        </p:nvSpPr>
        <p:spPr>
          <a:xfrm>
            <a:off x="960120" y="3739896"/>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Adductors stabilize: they stop the knees splaying apart</a:t>
            </a:r>
            <a:endParaRPr lang="en-US" sz="1900" dirty="0"/>
          </a:p>
        </p:txBody>
      </p:sp>
      <p:sp>
        <p:nvSpPr>
          <p:cNvPr id="10" name="Shape 8"/>
          <p:cNvSpPr/>
          <p:nvPr/>
        </p:nvSpPr>
        <p:spPr>
          <a:xfrm>
            <a:off x="548640" y="4782312"/>
            <a:ext cx="182880" cy="182880"/>
          </a:xfrm>
          <a:prstGeom prst="ellipse">
            <a:avLst/>
          </a:prstGeom>
          <a:solidFill>
            <a:srgbClr val="2F7359"/>
          </a:solidFill>
          <a:ln w="12700">
            <a:solidFill>
              <a:srgbClr val="2F7359"/>
            </a:solidFill>
            <a:prstDash val="solid"/>
          </a:ln>
        </p:spPr>
      </p:sp>
      <p:sp>
        <p:nvSpPr>
          <p:cNvPr id="11" name="Text 9"/>
          <p:cNvSpPr txBox="1"/>
          <p:nvPr/>
        </p:nvSpPr>
        <p:spPr>
          <a:xfrm>
            <a:off x="960120" y="4672584"/>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Hip flexors at the front are the antagonists, lengthened</a:t>
            </a:r>
            <a:endParaRPr lang="en-US" sz="1900" dirty="0"/>
          </a:p>
        </p:txBody>
      </p:sp>
      <p:sp>
        <p:nvSpPr>
          <p:cNvPr id="12" name="Shape 10"/>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13" name="Image 0" descr="Bridge: gluteals and hamstrings lift the pelvis">    </p:cNvPr>
          <p:cNvPicPr>
            <a:picLocks noChangeAspect="1"/>
          </p:cNvPicPr>
          <p:nvPr/>
        </p:nvPicPr>
        <p:blipFill>
          <a:blip r:embed="rId1"/>
          <a:stretch>
            <a:fillRect/>
          </a:stretch>
        </p:blipFill>
        <p:spPr>
          <a:xfrm>
            <a:off x="7086600" y="2153823"/>
            <a:ext cx="4389120" cy="3153859"/>
          </a:xfrm>
          <a:prstGeom prst="rect">
            <a:avLst/>
          </a:prstGeom>
        </p:spPr>
      </p:pic>
      <p:sp>
        <p:nvSpPr>
          <p:cNvPr id="14" name="Text 11"/>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33  </a:t>
            </a:r>
            <a:pPr indent="0" marL="0">
              <a:buNone/>
            </a:pPr>
            <a:r>
              <a:rPr lang="en-US" sz="1100" dirty="0">
                <a:solidFill>
                  <a:srgbClr val="55707A"/>
                </a:solidFill>
                <a:latin typeface="Calibri" pitchFamily="34" charset="0"/>
                <a:ea typeface="Calibri" pitchFamily="34" charset="-122"/>
                <a:cs typeface="Calibri" pitchFamily="34" charset="-120"/>
              </a:rPr>
              <a:t>Bridge: gluteals and hamstrings lift the pelvis</a:t>
            </a:r>
            <a:endParaRPr lang="en-US" sz="1100" dirty="0"/>
          </a:p>
        </p:txBody>
      </p:sp>
      <p:sp>
        <p:nvSpPr>
          <p:cNvPr id="15" name="Text 1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6" name="Text 1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60</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4.7  ·  FEEL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Feel it: Bridge in three phases</a:t>
            </a:r>
            <a:endParaRPr lang="en-US" sz="3000" dirty="0"/>
          </a:p>
        </p:txBody>
      </p:sp>
      <p:sp>
        <p:nvSpPr>
          <p:cNvPr id="4" name="Shape 2"/>
          <p:cNvSpPr/>
          <p:nvPr/>
        </p:nvSpPr>
        <p:spPr>
          <a:xfrm>
            <a:off x="548640" y="1828800"/>
            <a:ext cx="457200" cy="457200"/>
          </a:xfrm>
          <a:prstGeom prst="ellipse">
            <a:avLst/>
          </a:prstGeom>
          <a:solidFill>
            <a:srgbClr val="2F7359"/>
          </a:solidFill>
          <a:ln w="12700">
            <a:solidFill>
              <a:srgbClr val="2F7359"/>
            </a:solidFill>
            <a:prstDash val="solid"/>
          </a:ln>
        </p:spPr>
      </p:sp>
      <p:sp>
        <p:nvSpPr>
          <p:cNvPr id="5" name="Text 3"/>
          <p:cNvSpPr txBox="1"/>
          <p:nvPr/>
        </p:nvSpPr>
        <p:spPr>
          <a:xfrm>
            <a:off x="54864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6" name="Text 4"/>
          <p:cNvSpPr txBox="1"/>
          <p:nvPr/>
        </p:nvSpPr>
        <p:spPr>
          <a:xfrm>
            <a:off x="1234440" y="1783080"/>
            <a:ext cx="534924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Lie on your back, knees bent, feet hip-width, heels a hand's length from the pelvis</a:t>
            </a:r>
            <a:endParaRPr lang="en-US" sz="1800" dirty="0"/>
          </a:p>
        </p:txBody>
      </p:sp>
      <p:sp>
        <p:nvSpPr>
          <p:cNvPr id="7" name="Shape 5"/>
          <p:cNvSpPr/>
          <p:nvPr/>
        </p:nvSpPr>
        <p:spPr>
          <a:xfrm>
            <a:off x="548640" y="2743200"/>
            <a:ext cx="457200" cy="457200"/>
          </a:xfrm>
          <a:prstGeom prst="ellipse">
            <a:avLst/>
          </a:prstGeom>
          <a:solidFill>
            <a:srgbClr val="2F7359"/>
          </a:solidFill>
          <a:ln w="12700">
            <a:solidFill>
              <a:srgbClr val="2F7359"/>
            </a:solidFill>
            <a:prstDash val="solid"/>
          </a:ln>
        </p:spPr>
      </p:sp>
      <p:sp>
        <p:nvSpPr>
          <p:cNvPr id="8" name="Text 6"/>
          <p:cNvSpPr txBox="1"/>
          <p:nvPr/>
        </p:nvSpPr>
        <p:spPr>
          <a:xfrm>
            <a:off x="548640" y="27432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9" name="Text 7"/>
          <p:cNvSpPr txBox="1"/>
          <p:nvPr/>
        </p:nvSpPr>
        <p:spPr>
          <a:xfrm>
            <a:off x="1234440" y="2697480"/>
            <a:ext cx="534924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Press into the feet and lift the hips over four counts: concentric</a:t>
            </a:r>
            <a:endParaRPr lang="en-US" sz="1800" dirty="0"/>
          </a:p>
        </p:txBody>
      </p:sp>
      <p:sp>
        <p:nvSpPr>
          <p:cNvPr id="10" name="Shape 8"/>
          <p:cNvSpPr/>
          <p:nvPr/>
        </p:nvSpPr>
        <p:spPr>
          <a:xfrm>
            <a:off x="548640" y="3657600"/>
            <a:ext cx="457200" cy="457200"/>
          </a:xfrm>
          <a:prstGeom prst="ellipse">
            <a:avLst/>
          </a:prstGeom>
          <a:solidFill>
            <a:srgbClr val="2F7359"/>
          </a:solidFill>
          <a:ln w="12700">
            <a:solidFill>
              <a:srgbClr val="2F7359"/>
            </a:solidFill>
            <a:prstDash val="solid"/>
          </a:ln>
        </p:spPr>
      </p:sp>
      <p:sp>
        <p:nvSpPr>
          <p:cNvPr id="11" name="Text 9"/>
          <p:cNvSpPr txBox="1"/>
          <p:nvPr/>
        </p:nvSpPr>
        <p:spPr>
          <a:xfrm>
            <a:off x="548640" y="36576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2" name="Text 10"/>
          <p:cNvSpPr txBox="1"/>
          <p:nvPr/>
        </p:nvSpPr>
        <p:spPr>
          <a:xfrm>
            <a:off x="1234440" y="3611880"/>
            <a:ext cx="534924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Hold for three breaths with eyes and chin still: isometric</a:t>
            </a:r>
            <a:endParaRPr lang="en-US" sz="1800" dirty="0"/>
          </a:p>
        </p:txBody>
      </p:sp>
      <p:sp>
        <p:nvSpPr>
          <p:cNvPr id="13" name="Shape 11"/>
          <p:cNvSpPr/>
          <p:nvPr/>
        </p:nvSpPr>
        <p:spPr>
          <a:xfrm>
            <a:off x="548640" y="4572000"/>
            <a:ext cx="457200" cy="457200"/>
          </a:xfrm>
          <a:prstGeom prst="ellipse">
            <a:avLst/>
          </a:prstGeom>
          <a:solidFill>
            <a:srgbClr val="2F7359"/>
          </a:solidFill>
          <a:ln w="12700">
            <a:solidFill>
              <a:srgbClr val="2F7359"/>
            </a:solidFill>
            <a:prstDash val="solid"/>
          </a:ln>
        </p:spPr>
      </p:sp>
      <p:sp>
        <p:nvSpPr>
          <p:cNvPr id="14" name="Text 12"/>
          <p:cNvSpPr txBox="1"/>
          <p:nvPr/>
        </p:nvSpPr>
        <p:spPr>
          <a:xfrm>
            <a:off x="548640" y="45720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15" name="Text 13"/>
          <p:cNvSpPr txBox="1"/>
          <p:nvPr/>
        </p:nvSpPr>
        <p:spPr>
          <a:xfrm>
            <a:off x="1234440" y="4526280"/>
            <a:ext cx="534924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Lower one segment at a time over four counts: eccentric</a:t>
            </a:r>
            <a:endParaRPr lang="en-US" sz="1800" dirty="0"/>
          </a:p>
        </p:txBody>
      </p:sp>
      <p:sp>
        <p:nvSpPr>
          <p:cNvPr id="16" name="Shape 14"/>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17" name="Image 0" descr="Lift, hold, lower: three contraction types">    </p:cNvPr>
          <p:cNvPicPr>
            <a:picLocks noChangeAspect="1"/>
          </p:cNvPicPr>
          <p:nvPr/>
        </p:nvPicPr>
        <p:blipFill>
          <a:blip r:embed="rId1"/>
          <a:stretch>
            <a:fillRect/>
          </a:stretch>
        </p:blipFill>
        <p:spPr>
          <a:xfrm>
            <a:off x="7086600" y="2153823"/>
            <a:ext cx="4389120" cy="3153859"/>
          </a:xfrm>
          <a:prstGeom prst="rect">
            <a:avLst/>
          </a:prstGeom>
        </p:spPr>
      </p:pic>
      <p:sp>
        <p:nvSpPr>
          <p:cNvPr id="18" name="Text 15"/>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34  </a:t>
            </a:r>
            <a:pPr indent="0" marL="0">
              <a:buNone/>
            </a:pPr>
            <a:r>
              <a:rPr lang="en-US" sz="1100" dirty="0">
                <a:solidFill>
                  <a:srgbClr val="55707A"/>
                </a:solidFill>
                <a:latin typeface="Calibri" pitchFamily="34" charset="0"/>
                <a:ea typeface="Calibri" pitchFamily="34" charset="-122"/>
                <a:cs typeface="Calibri" pitchFamily="34" charset="-120"/>
              </a:rPr>
              <a:t>Lift, hold, lower: three contraction types</a:t>
            </a:r>
            <a:endParaRPr lang="en-US" sz="1100" dirty="0"/>
          </a:p>
        </p:txBody>
      </p:sp>
      <p:sp>
        <p:nvSpPr>
          <p:cNvPr id="19" name="Text 16"/>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20" name="Text 17"/>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61</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EDF2E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4.7  ·  CHECK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In Warrior III, the lifted-leg hip keeps rolling up toward the ceiling. Which muscle role most needs attention?</a:t>
            </a:r>
            <a:endParaRPr lang="en-US" sz="3000" dirty="0"/>
          </a:p>
        </p:txBody>
      </p:sp>
      <p:sp>
        <p:nvSpPr>
          <p:cNvPr id="4" name="Shape 2"/>
          <p:cNvSpPr/>
          <p:nvPr/>
        </p:nvSpPr>
        <p:spPr>
          <a:xfrm>
            <a:off x="548640" y="2057400"/>
            <a:ext cx="7863840" cy="777240"/>
          </a:xfrm>
          <a:prstGeom prst="roundRect">
            <a:avLst>
              <a:gd name="adj" fmla="val 11765"/>
            </a:avLst>
          </a:prstGeom>
          <a:solidFill>
            <a:srgbClr val="FFFFFF"/>
          </a:solidFill>
          <a:ln w="12700">
            <a:solidFill>
              <a:srgbClr val="C6D4CF"/>
            </a:solidFill>
            <a:prstDash val="solid"/>
          </a:ln>
        </p:spPr>
      </p:sp>
      <p:sp>
        <p:nvSpPr>
          <p:cNvPr id="5" name="Shape 3"/>
          <p:cNvSpPr/>
          <p:nvPr/>
        </p:nvSpPr>
        <p:spPr>
          <a:xfrm>
            <a:off x="731520" y="2212848"/>
            <a:ext cx="457200" cy="457200"/>
          </a:xfrm>
          <a:prstGeom prst="ellipse">
            <a:avLst/>
          </a:prstGeom>
          <a:solidFill>
            <a:srgbClr val="16303A"/>
          </a:solidFill>
          <a:ln w="12700">
            <a:solidFill>
              <a:srgbClr val="16303A"/>
            </a:solidFill>
            <a:prstDash val="solid"/>
          </a:ln>
        </p:spPr>
      </p:sp>
      <p:sp>
        <p:nvSpPr>
          <p:cNvPr id="6" name="Text 4"/>
          <p:cNvSpPr txBox="1"/>
          <p:nvPr/>
        </p:nvSpPr>
        <p:spPr>
          <a:xfrm>
            <a:off x="731520" y="221284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A</a:t>
            </a:r>
            <a:endParaRPr lang="en-US" sz="1400" dirty="0"/>
          </a:p>
        </p:txBody>
      </p:sp>
      <p:sp>
        <p:nvSpPr>
          <p:cNvPr id="7" name="Text 5"/>
          <p:cNvSpPr txBox="1"/>
          <p:nvPr/>
        </p:nvSpPr>
        <p:spPr>
          <a:xfrm>
            <a:off x="1371600" y="2057400"/>
            <a:ext cx="6858000" cy="777240"/>
          </a:xfrm>
          <a:prstGeom prst="rect">
            <a:avLst/>
          </a:prstGeom>
          <a:noFill/>
          <a:ln/>
        </p:spPr>
        <p:txBody>
          <a:bodyPr wrap="square" lIns="0" tIns="0" rIns="0" bIns="0" rtlCol="0" anchor="ctr">
            <a:normAutofit/>
          </a:bodyPr>
          <a:lstStyle/>
          <a:p>
            <a:pPr indent="0" marL="0">
              <a:buNone/>
            </a:pPr>
            <a:r>
              <a:rPr lang="en-US" sz="1700" dirty="0">
                <a:solidFill>
                  <a:srgbClr val="16303A"/>
                </a:solidFill>
                <a:latin typeface="Calibri" pitchFamily="34" charset="0"/>
                <a:ea typeface="Calibri" pitchFamily="34" charset="-122"/>
                <a:cs typeface="Calibri" pitchFamily="34" charset="-120"/>
              </a:rPr>
              <a:t>The standing leg's gluteus medius as a stabilizer</a:t>
            </a:r>
            <a:endParaRPr lang="en-US" sz="1700" dirty="0"/>
          </a:p>
        </p:txBody>
      </p:sp>
      <p:sp>
        <p:nvSpPr>
          <p:cNvPr id="8" name="Shape 6"/>
          <p:cNvSpPr/>
          <p:nvPr/>
        </p:nvSpPr>
        <p:spPr>
          <a:xfrm>
            <a:off x="548640" y="3017520"/>
            <a:ext cx="7863840" cy="777240"/>
          </a:xfrm>
          <a:prstGeom prst="roundRect">
            <a:avLst>
              <a:gd name="adj" fmla="val 11765"/>
            </a:avLst>
          </a:prstGeom>
          <a:solidFill>
            <a:srgbClr val="FFFFFF"/>
          </a:solidFill>
          <a:ln w="12700">
            <a:solidFill>
              <a:srgbClr val="C6D4CF"/>
            </a:solidFill>
            <a:prstDash val="solid"/>
          </a:ln>
        </p:spPr>
      </p:sp>
      <p:sp>
        <p:nvSpPr>
          <p:cNvPr id="9" name="Shape 7"/>
          <p:cNvSpPr/>
          <p:nvPr/>
        </p:nvSpPr>
        <p:spPr>
          <a:xfrm>
            <a:off x="731520" y="3172968"/>
            <a:ext cx="457200" cy="457200"/>
          </a:xfrm>
          <a:prstGeom prst="ellipse">
            <a:avLst/>
          </a:prstGeom>
          <a:solidFill>
            <a:srgbClr val="16303A"/>
          </a:solidFill>
          <a:ln w="12700">
            <a:solidFill>
              <a:srgbClr val="16303A"/>
            </a:solidFill>
            <a:prstDash val="solid"/>
          </a:ln>
        </p:spPr>
      </p:sp>
      <p:sp>
        <p:nvSpPr>
          <p:cNvPr id="10" name="Text 8"/>
          <p:cNvSpPr txBox="1"/>
          <p:nvPr/>
        </p:nvSpPr>
        <p:spPr>
          <a:xfrm>
            <a:off x="731520" y="317296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B</a:t>
            </a:r>
            <a:endParaRPr lang="en-US" sz="1400" dirty="0"/>
          </a:p>
        </p:txBody>
      </p:sp>
      <p:sp>
        <p:nvSpPr>
          <p:cNvPr id="11" name="Text 9"/>
          <p:cNvSpPr txBox="1"/>
          <p:nvPr/>
        </p:nvSpPr>
        <p:spPr>
          <a:xfrm>
            <a:off x="1371600" y="3017520"/>
            <a:ext cx="6858000" cy="777240"/>
          </a:xfrm>
          <a:prstGeom prst="rect">
            <a:avLst/>
          </a:prstGeom>
          <a:noFill/>
          <a:ln/>
        </p:spPr>
        <p:txBody>
          <a:bodyPr wrap="square" lIns="0" tIns="0" rIns="0" bIns="0" rtlCol="0" anchor="ctr">
            <a:normAutofit/>
          </a:bodyPr>
          <a:lstStyle/>
          <a:p>
            <a:pPr indent="0" marL="0">
              <a:buNone/>
            </a:pPr>
            <a:r>
              <a:rPr lang="en-US" sz="1700" dirty="0">
                <a:solidFill>
                  <a:srgbClr val="16303A"/>
                </a:solidFill>
                <a:latin typeface="Calibri" pitchFamily="34" charset="0"/>
                <a:ea typeface="Calibri" pitchFamily="34" charset="-122"/>
                <a:cs typeface="Calibri" pitchFamily="34" charset="-120"/>
              </a:rPr>
              <a:t>The lifted leg's hip flexors as agonists</a:t>
            </a:r>
            <a:endParaRPr lang="en-US" sz="1700" dirty="0"/>
          </a:p>
        </p:txBody>
      </p:sp>
      <p:sp>
        <p:nvSpPr>
          <p:cNvPr id="12" name="Shape 10"/>
          <p:cNvSpPr/>
          <p:nvPr/>
        </p:nvSpPr>
        <p:spPr>
          <a:xfrm>
            <a:off x="548640" y="3977640"/>
            <a:ext cx="7863840" cy="777240"/>
          </a:xfrm>
          <a:prstGeom prst="roundRect">
            <a:avLst>
              <a:gd name="adj" fmla="val 11765"/>
            </a:avLst>
          </a:prstGeom>
          <a:solidFill>
            <a:srgbClr val="FFFFFF"/>
          </a:solidFill>
          <a:ln w="12700">
            <a:solidFill>
              <a:srgbClr val="C6D4CF"/>
            </a:solidFill>
            <a:prstDash val="solid"/>
          </a:ln>
        </p:spPr>
      </p:sp>
      <p:sp>
        <p:nvSpPr>
          <p:cNvPr id="13" name="Shape 11"/>
          <p:cNvSpPr/>
          <p:nvPr/>
        </p:nvSpPr>
        <p:spPr>
          <a:xfrm>
            <a:off x="731520" y="4133088"/>
            <a:ext cx="457200" cy="457200"/>
          </a:xfrm>
          <a:prstGeom prst="ellipse">
            <a:avLst/>
          </a:prstGeom>
          <a:solidFill>
            <a:srgbClr val="16303A"/>
          </a:solidFill>
          <a:ln w="12700">
            <a:solidFill>
              <a:srgbClr val="16303A"/>
            </a:solidFill>
            <a:prstDash val="solid"/>
          </a:ln>
        </p:spPr>
      </p:sp>
      <p:sp>
        <p:nvSpPr>
          <p:cNvPr id="14" name="Text 12"/>
          <p:cNvSpPr txBox="1"/>
          <p:nvPr/>
        </p:nvSpPr>
        <p:spPr>
          <a:xfrm>
            <a:off x="731520" y="413308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C</a:t>
            </a:r>
            <a:endParaRPr lang="en-US" sz="1400" dirty="0"/>
          </a:p>
        </p:txBody>
      </p:sp>
      <p:sp>
        <p:nvSpPr>
          <p:cNvPr id="15" name="Text 13"/>
          <p:cNvSpPr txBox="1"/>
          <p:nvPr/>
        </p:nvSpPr>
        <p:spPr>
          <a:xfrm>
            <a:off x="1371600" y="3977640"/>
            <a:ext cx="6858000" cy="777240"/>
          </a:xfrm>
          <a:prstGeom prst="rect">
            <a:avLst/>
          </a:prstGeom>
          <a:noFill/>
          <a:ln/>
        </p:spPr>
        <p:txBody>
          <a:bodyPr wrap="square" lIns="0" tIns="0" rIns="0" bIns="0" rtlCol="0" anchor="ctr">
            <a:normAutofit/>
          </a:bodyPr>
          <a:lstStyle/>
          <a:p>
            <a:pPr indent="0" marL="0">
              <a:buNone/>
            </a:pPr>
            <a:r>
              <a:rPr lang="en-US" sz="1700" dirty="0">
                <a:solidFill>
                  <a:srgbClr val="16303A"/>
                </a:solidFill>
                <a:latin typeface="Calibri" pitchFamily="34" charset="0"/>
                <a:ea typeface="Calibri" pitchFamily="34" charset="-122"/>
                <a:cs typeface="Calibri" pitchFamily="34" charset="-120"/>
              </a:rPr>
              <a:t>The standing leg's calf muscles as antagonists</a:t>
            </a:r>
            <a:endParaRPr lang="en-US" sz="1700" dirty="0"/>
          </a:p>
        </p:txBody>
      </p:sp>
      <p:sp>
        <p:nvSpPr>
          <p:cNvPr id="16" name="Text 14"/>
          <p:cNvSpPr txBox="1"/>
          <p:nvPr/>
        </p:nvSpPr>
        <p:spPr>
          <a:xfrm>
            <a:off x="8778240" y="2194560"/>
            <a:ext cx="2834640" cy="1280160"/>
          </a:xfrm>
          <a:prstGeom prst="rect">
            <a:avLst/>
          </a:prstGeom>
          <a:noFill/>
          <a:ln/>
        </p:spPr>
        <p:txBody>
          <a:bodyPr wrap="square" lIns="0" tIns="0" rIns="0" bIns="0" rtlCol="0" anchor="ctr"/>
          <a:lstStyle/>
          <a:p>
            <a:pPr indent="0" marL="0">
              <a:buNone/>
            </a:pPr>
            <a:r>
              <a:rPr lang="en-US" sz="1800" i="1" dirty="0">
                <a:solidFill>
                  <a:srgbClr val="55707A"/>
                </a:solidFill>
                <a:latin typeface="Cambria" pitchFamily="34" charset="0"/>
                <a:ea typeface="Cambria" pitchFamily="34" charset="-122"/>
                <a:cs typeface="Cambria" pitchFamily="34" charset="-120"/>
              </a:rPr>
              <a:t>Pause the video and choose before you move on.</a:t>
            </a:r>
            <a:endParaRPr lang="en-US" sz="1800" dirty="0"/>
          </a:p>
        </p:txBody>
      </p:sp>
      <p:sp>
        <p:nvSpPr>
          <p:cNvPr id="17" name="Text 15"/>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8" name="Text 16"/>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62</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4.7  ·  CHECK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Answer</a:t>
            </a:r>
            <a:endParaRPr lang="en-US" sz="3000" dirty="0"/>
          </a:p>
        </p:txBody>
      </p:sp>
      <p:sp>
        <p:nvSpPr>
          <p:cNvPr id="4" name="Shape 2"/>
          <p:cNvSpPr/>
          <p:nvPr/>
        </p:nvSpPr>
        <p:spPr>
          <a:xfrm>
            <a:off x="548640" y="1737360"/>
            <a:ext cx="11064240" cy="1097280"/>
          </a:xfrm>
          <a:prstGeom prst="roundRect">
            <a:avLst>
              <a:gd name="adj" fmla="val 10000"/>
            </a:avLst>
          </a:prstGeom>
          <a:solidFill>
            <a:srgbClr val="D5E9DF"/>
          </a:solidFill>
          <a:ln w="19050">
            <a:solidFill>
              <a:srgbClr val="2F7359"/>
            </a:solidFill>
            <a:prstDash val="solid"/>
          </a:ln>
        </p:spPr>
      </p:sp>
      <p:sp>
        <p:nvSpPr>
          <p:cNvPr id="5" name="Shape 3"/>
          <p:cNvSpPr/>
          <p:nvPr/>
        </p:nvSpPr>
        <p:spPr>
          <a:xfrm>
            <a:off x="777240" y="2011680"/>
            <a:ext cx="548640" cy="548640"/>
          </a:xfrm>
          <a:prstGeom prst="ellipse">
            <a:avLst/>
          </a:prstGeom>
          <a:solidFill>
            <a:srgbClr val="2F7359"/>
          </a:solidFill>
          <a:ln w="12700">
            <a:solidFill>
              <a:srgbClr val="2F7359"/>
            </a:solidFill>
            <a:prstDash val="solid"/>
          </a:ln>
        </p:spPr>
      </p:sp>
      <p:sp>
        <p:nvSpPr>
          <p:cNvPr id="6" name="Text 4"/>
          <p:cNvSpPr txBox="1"/>
          <p:nvPr/>
        </p:nvSpPr>
        <p:spPr>
          <a:xfrm>
            <a:off x="777240" y="2011680"/>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A</a:t>
            </a:r>
            <a:endParaRPr lang="en-US" sz="1400" dirty="0"/>
          </a:p>
        </p:txBody>
      </p:sp>
      <p:sp>
        <p:nvSpPr>
          <p:cNvPr id="7" name="Text 5"/>
          <p:cNvSpPr txBox="1"/>
          <p:nvPr/>
        </p:nvSpPr>
        <p:spPr>
          <a:xfrm>
            <a:off x="1554480" y="1737360"/>
            <a:ext cx="9875520" cy="1097280"/>
          </a:xfrm>
          <a:prstGeom prst="rect">
            <a:avLst/>
          </a:prstGeom>
          <a:noFill/>
          <a:ln/>
        </p:spPr>
        <p:txBody>
          <a:bodyPr wrap="square" lIns="0" tIns="0" rIns="0" bIns="0" rtlCol="0" anchor="ctr">
            <a:normAutofit/>
          </a:bodyPr>
          <a:lstStyle/>
          <a:p>
            <a:pPr indent="0" marL="0">
              <a:buNone/>
            </a:pPr>
            <a:r>
              <a:rPr lang="en-US" sz="2200" b="1" dirty="0">
                <a:solidFill>
                  <a:srgbClr val="16303A"/>
                </a:solidFill>
                <a:latin typeface="Cambria" pitchFamily="34" charset="0"/>
                <a:ea typeface="Cambria" pitchFamily="34" charset="-122"/>
                <a:cs typeface="Cambria" pitchFamily="34" charset="-120"/>
              </a:rPr>
              <a:t>The standing leg's gluteus medius as a stabilizer</a:t>
            </a:r>
            <a:endParaRPr lang="en-US" sz="2200" dirty="0"/>
          </a:p>
        </p:txBody>
      </p:sp>
      <p:sp>
        <p:nvSpPr>
          <p:cNvPr id="8" name="Text 6"/>
          <p:cNvSpPr txBox="1"/>
          <p:nvPr/>
        </p:nvSpPr>
        <p:spPr>
          <a:xfrm>
            <a:off x="548640" y="3108960"/>
            <a:ext cx="11064240" cy="12801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The standing gluteus medius stabilizes the pelvis; when it is not holding, the pelvis rotates and the lifted hip opens toward the ceiling.</a:t>
            </a:r>
            <a:endParaRPr lang="en-US" sz="1800" dirty="0"/>
          </a:p>
        </p:txBody>
      </p:sp>
      <p:sp>
        <p:nvSpPr>
          <p:cNvPr id="9" name="Text 7"/>
          <p:cNvSpPr txBox="1"/>
          <p:nvPr/>
        </p:nvSpPr>
        <p:spPr>
          <a:xfrm>
            <a:off x="548640" y="4754880"/>
            <a:ext cx="11064240" cy="731520"/>
          </a:xfrm>
          <a:prstGeom prst="rect">
            <a:avLst/>
          </a:prstGeom>
          <a:noFill/>
          <a:ln/>
        </p:spPr>
        <p:txBody>
          <a:bodyPr wrap="square" lIns="0" tIns="0" rIns="0" bIns="0" rtlCol="0" anchor="t">
            <a:normAutofit/>
          </a:bodyPr>
          <a:lstStyle/>
          <a:p>
            <a:pPr indent="0" marL="0">
              <a:buNone/>
            </a:pPr>
            <a:r>
              <a:rPr lang="en-US" sz="1200" dirty="0">
                <a:solidFill>
                  <a:srgbClr val="55707A"/>
                </a:solidFill>
                <a:latin typeface="Calibri" pitchFamily="34" charset="0"/>
                <a:ea typeface="Calibri" pitchFamily="34" charset="-122"/>
                <a:cs typeface="Calibri" pitchFamily="34" charset="-120"/>
              </a:rPr>
              <a:t>Question: In Warrior III, the lifted-leg hip keeps rolling up toward the ceiling. Which muscle role most needs attention?</a:t>
            </a:r>
            <a:endParaRPr lang="en-US" sz="1200" dirty="0"/>
          </a:p>
        </p:txBody>
      </p:sp>
      <p:sp>
        <p:nvSpPr>
          <p:cNvPr id="10" name="Text 8"/>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1" name="Text 9"/>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63</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MODULE 4 REVIEW</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Key terms</a:t>
            </a:r>
            <a:endParaRPr lang="en-US" sz="30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743200"/>
                <a:gridCol w="8321040"/>
              </a:tblGrid>
              <a:tr h="0">
                <a:tc>
                  <a:txBody>
                    <a:bodyPr/>
                    <a:lstStyle/>
                    <a:p>
                      <a:pPr indent="0" marL="0">
                        <a:buNone/>
                      </a:pPr>
                      <a:r>
                        <a:rPr lang="en-US" sz="1200" b="1" dirty="0">
                          <a:solidFill>
                            <a:srgbClr val="16303A"/>
                          </a:solidFill>
                          <a:latin typeface="Cambria" pitchFamily="34" charset="0"/>
                          <a:ea typeface="Cambria" pitchFamily="34" charset="-122"/>
                          <a:cs typeface="Cambria" pitchFamily="34" charset="-120"/>
                        </a:rPr>
                        <a:t>Skeletal muscle</a:t>
                      </a:r>
                      <a:endParaRPr lang="en-US" sz="1200" dirty="0">
                        <a:latin typeface="Cambria" charset="0"/>
                        <a:ea typeface="Cambria" charset="0"/>
                        <a:cs typeface="Cambria"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c>
                  <a:txBody>
                    <a:bodyPr/>
                    <a:lstStyle/>
                    <a:p>
                      <a:pPr indent="0" marL="0">
                        <a:buNone/>
                      </a:pPr>
                      <a:r>
                        <a:rPr lang="en-US" sz="1200" dirty="0">
                          <a:solidFill>
                            <a:srgbClr val="16303A"/>
                          </a:solidFill>
                          <a:latin typeface="Calibri" pitchFamily="34" charset="0"/>
                          <a:ea typeface="Calibri" pitchFamily="34" charset="-122"/>
                          <a:cs typeface="Calibri" pitchFamily="34" charset="-120"/>
                        </a:rPr>
                        <a:t>Voluntary, striated muscle attached to bone by tendons; the quadriceps holding you in Chair are skeletal muscle.</a:t>
                      </a:r>
                      <a:endParaRPr lang="en-US" sz="1200" dirty="0">
                        <a:latin typeface="Calibri" charset="0"/>
                        <a:ea typeface="Calibri" charset="0"/>
                        <a:cs typeface="Calibri"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303A"/>
                          </a:solidFill>
                          <a:latin typeface="Cambria" pitchFamily="34" charset="0"/>
                          <a:ea typeface="Cambria" pitchFamily="34" charset="-122"/>
                          <a:cs typeface="Cambria" pitchFamily="34" charset="-120"/>
                        </a:rPr>
                        <a:t>Fascicle</a:t>
                      </a:r>
                      <a:endParaRPr lang="en-US" sz="1200" dirty="0">
                        <a:latin typeface="Cambria" charset="0"/>
                        <a:ea typeface="Cambria" charset="0"/>
                        <a:cs typeface="Cambria"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c>
                  <a:txBody>
                    <a:bodyPr/>
                    <a:lstStyle/>
                    <a:p>
                      <a:pPr indent="0" marL="0">
                        <a:buNone/>
                      </a:pPr>
                      <a:r>
                        <a:rPr lang="en-US" sz="1200" dirty="0">
                          <a:solidFill>
                            <a:srgbClr val="16303A"/>
                          </a:solidFill>
                          <a:latin typeface="Calibri" pitchFamily="34" charset="0"/>
                          <a:ea typeface="Calibri" pitchFamily="34" charset="-122"/>
                          <a:cs typeface="Calibri" pitchFamily="34" charset="-120"/>
                        </a:rPr>
                        <a:t>A bundle of muscle fibers wrapped in connective tissue; the visible grain in a muscle such as the hamstrings.</a:t>
                      </a:r>
                      <a:endParaRPr lang="en-US" sz="1200" dirty="0">
                        <a:latin typeface="Calibri" charset="0"/>
                        <a:ea typeface="Calibri" charset="0"/>
                        <a:cs typeface="Calibri"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303A"/>
                          </a:solidFill>
                          <a:latin typeface="Cambria" pitchFamily="34" charset="0"/>
                          <a:ea typeface="Cambria" pitchFamily="34" charset="-122"/>
                          <a:cs typeface="Cambria" pitchFamily="34" charset="-120"/>
                        </a:rPr>
                        <a:t>Muscle fiber</a:t>
                      </a:r>
                      <a:endParaRPr lang="en-US" sz="1200" dirty="0">
                        <a:latin typeface="Cambria" charset="0"/>
                        <a:ea typeface="Cambria" charset="0"/>
                        <a:cs typeface="Cambria"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c>
                  <a:txBody>
                    <a:bodyPr/>
                    <a:lstStyle/>
                    <a:p>
                      <a:pPr indent="0" marL="0">
                        <a:buNone/>
                      </a:pPr>
                      <a:r>
                        <a:rPr lang="en-US" sz="1200" dirty="0">
                          <a:solidFill>
                            <a:srgbClr val="16303A"/>
                          </a:solidFill>
                          <a:latin typeface="Calibri" pitchFamily="34" charset="0"/>
                          <a:ea typeface="Calibri" pitchFamily="34" charset="-122"/>
                          <a:cs typeface="Calibri" pitchFamily="34" charset="-120"/>
                        </a:rPr>
                        <a:t>A single long muscle cell with many nuclei; thousands of them work together when you press up from Chaturanga.</a:t>
                      </a:r>
                      <a:endParaRPr lang="en-US" sz="1200" dirty="0">
                        <a:latin typeface="Calibri" charset="0"/>
                        <a:ea typeface="Calibri" charset="0"/>
                        <a:cs typeface="Calibri"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303A"/>
                          </a:solidFill>
                          <a:latin typeface="Cambria" pitchFamily="34" charset="0"/>
                          <a:ea typeface="Cambria" pitchFamily="34" charset="-122"/>
                          <a:cs typeface="Cambria" pitchFamily="34" charset="-120"/>
                        </a:rPr>
                        <a:t>Myofibril</a:t>
                      </a:r>
                      <a:endParaRPr lang="en-US" sz="1200" dirty="0">
                        <a:latin typeface="Cambria" charset="0"/>
                        <a:ea typeface="Cambria" charset="0"/>
                        <a:cs typeface="Cambria"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c>
                  <a:txBody>
                    <a:bodyPr/>
                    <a:lstStyle/>
                    <a:p>
                      <a:pPr indent="0" marL="0">
                        <a:buNone/>
                      </a:pPr>
                      <a:r>
                        <a:rPr lang="en-US" sz="1200" dirty="0">
                          <a:solidFill>
                            <a:srgbClr val="16303A"/>
                          </a:solidFill>
                          <a:latin typeface="Calibri" pitchFamily="34" charset="0"/>
                          <a:ea typeface="Calibri" pitchFamily="34" charset="-122"/>
                          <a:cs typeface="Calibri" pitchFamily="34" charset="-120"/>
                        </a:rPr>
                        <a:t>A thread inside a muscle fiber made of sarcomeres linked end to end.</a:t>
                      </a:r>
                      <a:endParaRPr lang="en-US" sz="1200" dirty="0">
                        <a:latin typeface="Calibri" charset="0"/>
                        <a:ea typeface="Calibri" charset="0"/>
                        <a:cs typeface="Calibri"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303A"/>
                          </a:solidFill>
                          <a:latin typeface="Cambria" pitchFamily="34" charset="0"/>
                          <a:ea typeface="Cambria" pitchFamily="34" charset="-122"/>
                          <a:cs typeface="Cambria" pitchFamily="34" charset="-120"/>
                        </a:rPr>
                        <a:t>Sarcomere</a:t>
                      </a:r>
                      <a:endParaRPr lang="en-US" sz="1200" dirty="0">
                        <a:latin typeface="Cambria" charset="0"/>
                        <a:ea typeface="Cambria" charset="0"/>
                        <a:cs typeface="Cambria"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c>
                  <a:txBody>
                    <a:bodyPr/>
                    <a:lstStyle/>
                    <a:p>
                      <a:pPr indent="0" marL="0">
                        <a:buNone/>
                      </a:pPr>
                      <a:r>
                        <a:rPr lang="en-US" sz="1200" dirty="0">
                          <a:solidFill>
                            <a:srgbClr val="16303A"/>
                          </a:solidFill>
                          <a:latin typeface="Calibri" pitchFamily="34" charset="0"/>
                          <a:ea typeface="Calibri" pitchFamily="34" charset="-122"/>
                          <a:cs typeface="Calibri" pitchFamily="34" charset="-120"/>
                        </a:rPr>
                        <a:t>The basic contractile unit of muscle, from one Z disc to the next; millions shorten together when you rise out of Chair.</a:t>
                      </a:r>
                      <a:endParaRPr lang="en-US" sz="1200" dirty="0">
                        <a:latin typeface="Calibri" charset="0"/>
                        <a:ea typeface="Calibri" charset="0"/>
                        <a:cs typeface="Calibri"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303A"/>
                          </a:solidFill>
                          <a:latin typeface="Cambria" pitchFamily="34" charset="0"/>
                          <a:ea typeface="Cambria" pitchFamily="34" charset="-122"/>
                          <a:cs typeface="Cambria" pitchFamily="34" charset="-120"/>
                        </a:rPr>
                        <a:t>Actin and myosin</a:t>
                      </a:r>
                      <a:endParaRPr lang="en-US" sz="1200" dirty="0">
                        <a:latin typeface="Cambria" charset="0"/>
                        <a:ea typeface="Cambria" charset="0"/>
                        <a:cs typeface="Cambria"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c>
                  <a:txBody>
                    <a:bodyPr/>
                    <a:lstStyle/>
                    <a:p>
                      <a:pPr indent="0" marL="0">
                        <a:buNone/>
                      </a:pPr>
                      <a:r>
                        <a:rPr lang="en-US" sz="1200" dirty="0">
                          <a:solidFill>
                            <a:srgbClr val="16303A"/>
                          </a:solidFill>
                          <a:latin typeface="Calibri" pitchFamily="34" charset="0"/>
                          <a:ea typeface="Calibri" pitchFamily="34" charset="-122"/>
                          <a:cs typeface="Calibri" pitchFamily="34" charset="-120"/>
                        </a:rPr>
                        <a:t>The thin (actin) and thick (myosin) protein filaments; myosin heads pull actin to shorten the sarcomere.</a:t>
                      </a:r>
                      <a:endParaRPr lang="en-US" sz="1200" dirty="0">
                        <a:latin typeface="Calibri" charset="0"/>
                        <a:ea typeface="Calibri" charset="0"/>
                        <a:cs typeface="Calibri"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303A"/>
                          </a:solidFill>
                          <a:latin typeface="Cambria" pitchFamily="34" charset="0"/>
                          <a:ea typeface="Cambria" pitchFamily="34" charset="-122"/>
                          <a:cs typeface="Cambria" pitchFamily="34" charset="-120"/>
                        </a:rPr>
                        <a:t>Motor unit</a:t>
                      </a:r>
                      <a:endParaRPr lang="en-US" sz="1200" dirty="0">
                        <a:latin typeface="Cambria" charset="0"/>
                        <a:ea typeface="Cambria" charset="0"/>
                        <a:cs typeface="Cambria"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c>
                  <a:txBody>
                    <a:bodyPr/>
                    <a:lstStyle/>
                    <a:p>
                      <a:pPr indent="0" marL="0">
                        <a:buNone/>
                      </a:pPr>
                      <a:r>
                        <a:rPr lang="en-US" sz="1200" dirty="0">
                          <a:solidFill>
                            <a:srgbClr val="16303A"/>
                          </a:solidFill>
                          <a:latin typeface="Calibri" pitchFamily="34" charset="0"/>
                          <a:ea typeface="Calibri" pitchFamily="34" charset="-122"/>
                          <a:cs typeface="Calibri" pitchFamily="34" charset="-120"/>
                        </a:rPr>
                        <a:t>One motor neuron and all the fibers it controls; small motor units make the fine ankle corrections in Tree.</a:t>
                      </a:r>
                      <a:endParaRPr lang="en-US" sz="1200" dirty="0">
                        <a:latin typeface="Calibri" charset="0"/>
                        <a:ea typeface="Calibri" charset="0"/>
                        <a:cs typeface="Calibri"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303A"/>
                          </a:solidFill>
                          <a:latin typeface="Cambria" pitchFamily="34" charset="0"/>
                          <a:ea typeface="Cambria" pitchFamily="34" charset="-122"/>
                          <a:cs typeface="Cambria" pitchFamily="34" charset="-120"/>
                        </a:rPr>
                        <a:t>Concentric contraction</a:t>
                      </a:r>
                      <a:endParaRPr lang="en-US" sz="1200" dirty="0">
                        <a:latin typeface="Cambria" charset="0"/>
                        <a:ea typeface="Cambria" charset="0"/>
                        <a:cs typeface="Cambria"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c>
                  <a:txBody>
                    <a:bodyPr/>
                    <a:lstStyle/>
                    <a:p>
                      <a:pPr indent="0" marL="0">
                        <a:buNone/>
                      </a:pPr>
                      <a:r>
                        <a:rPr lang="en-US" sz="1200" dirty="0">
                          <a:solidFill>
                            <a:srgbClr val="16303A"/>
                          </a:solidFill>
                          <a:latin typeface="Calibri" pitchFamily="34" charset="0"/>
                          <a:ea typeface="Calibri" pitchFamily="34" charset="-122"/>
                          <a:cs typeface="Calibri" pitchFamily="34" charset="-120"/>
                        </a:rPr>
                        <a:t>A muscle shortens while working; the quadriceps as you rise out of Chair.</a:t>
                      </a:r>
                      <a:endParaRPr lang="en-US" sz="1200" dirty="0">
                        <a:latin typeface="Calibri" charset="0"/>
                        <a:ea typeface="Calibri" charset="0"/>
                        <a:cs typeface="Calibri"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303A"/>
                          </a:solidFill>
                          <a:latin typeface="Cambria" pitchFamily="34" charset="0"/>
                          <a:ea typeface="Cambria" pitchFamily="34" charset="-122"/>
                          <a:cs typeface="Cambria" pitchFamily="34" charset="-120"/>
                        </a:rPr>
                        <a:t>Eccentric contraction</a:t>
                      </a:r>
                      <a:endParaRPr lang="en-US" sz="1200" dirty="0">
                        <a:latin typeface="Cambria" charset="0"/>
                        <a:ea typeface="Cambria" charset="0"/>
                        <a:cs typeface="Cambria"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c>
                  <a:txBody>
                    <a:bodyPr/>
                    <a:lstStyle/>
                    <a:p>
                      <a:pPr indent="0" marL="0">
                        <a:buNone/>
                      </a:pPr>
                      <a:r>
                        <a:rPr lang="en-US" sz="1200" dirty="0">
                          <a:solidFill>
                            <a:srgbClr val="16303A"/>
                          </a:solidFill>
                          <a:latin typeface="Calibri" pitchFamily="34" charset="0"/>
                          <a:ea typeface="Calibri" pitchFamily="34" charset="-122"/>
                          <a:cs typeface="Calibri" pitchFamily="34" charset="-120"/>
                        </a:rPr>
                        <a:t>A muscle lengthens while working, acting as a brake; the triceps as you lower into Chaturanga.</a:t>
                      </a:r>
                      <a:endParaRPr lang="en-US" sz="1200" dirty="0">
                        <a:latin typeface="Calibri" charset="0"/>
                        <a:ea typeface="Calibri" charset="0"/>
                        <a:cs typeface="Calibri"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303A"/>
                          </a:solidFill>
                          <a:latin typeface="Cambria" pitchFamily="34" charset="0"/>
                          <a:ea typeface="Cambria" pitchFamily="34" charset="-122"/>
                          <a:cs typeface="Cambria" pitchFamily="34" charset="-120"/>
                        </a:rPr>
                        <a:t>Isometric contraction</a:t>
                      </a:r>
                      <a:endParaRPr lang="en-US" sz="1200" dirty="0">
                        <a:latin typeface="Cambria" charset="0"/>
                        <a:ea typeface="Cambria" charset="0"/>
                        <a:cs typeface="Cambria"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c>
                  <a:txBody>
                    <a:bodyPr/>
                    <a:lstStyle/>
                    <a:p>
                      <a:pPr indent="0" marL="0">
                        <a:buNone/>
                      </a:pPr>
                      <a:r>
                        <a:rPr lang="en-US" sz="1200" dirty="0">
                          <a:solidFill>
                            <a:srgbClr val="16303A"/>
                          </a:solidFill>
                          <a:latin typeface="Calibri" pitchFamily="34" charset="0"/>
                          <a:ea typeface="Calibri" pitchFamily="34" charset="-122"/>
                          <a:cs typeface="Calibri" pitchFamily="34" charset="-120"/>
                        </a:rPr>
                        <a:t>A muscle works without changing length; the quadriceps while holding Chair.</a:t>
                      </a:r>
                      <a:endParaRPr lang="en-US" sz="1200" dirty="0">
                        <a:latin typeface="Calibri" charset="0"/>
                        <a:ea typeface="Calibri" charset="0"/>
                        <a:cs typeface="Calibri"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303A"/>
                          </a:solidFill>
                          <a:latin typeface="Cambria" pitchFamily="34" charset="0"/>
                          <a:ea typeface="Cambria" pitchFamily="34" charset="-122"/>
                          <a:cs typeface="Cambria" pitchFamily="34" charset="-120"/>
                        </a:rPr>
                        <a:t>Agonist (prime mover)</a:t>
                      </a:r>
                      <a:endParaRPr lang="en-US" sz="1200" dirty="0">
                        <a:latin typeface="Cambria" charset="0"/>
                        <a:ea typeface="Cambria" charset="0"/>
                        <a:cs typeface="Cambria"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c>
                  <a:txBody>
                    <a:bodyPr/>
                    <a:lstStyle/>
                    <a:p>
                      <a:pPr indent="0" marL="0">
                        <a:buNone/>
                      </a:pPr>
                      <a:r>
                        <a:rPr lang="en-US" sz="1200" dirty="0">
                          <a:solidFill>
                            <a:srgbClr val="16303A"/>
                          </a:solidFill>
                          <a:latin typeface="Calibri" pitchFamily="34" charset="0"/>
                          <a:ea typeface="Calibri" pitchFamily="34" charset="-122"/>
                          <a:cs typeface="Calibri" pitchFamily="34" charset="-120"/>
                        </a:rPr>
                        <a:t>The main muscle producing a movement; the gluteus maximus lifting the pelvis in Bridge.</a:t>
                      </a:r>
                      <a:endParaRPr lang="en-US" sz="1200" dirty="0">
                        <a:latin typeface="Calibri" charset="0"/>
                        <a:ea typeface="Calibri" charset="0"/>
                        <a:cs typeface="Calibri"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6" name="Text 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64</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MODULE 4 REVIEW</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Key terms (continued)</a:t>
            </a:r>
            <a:endParaRPr lang="en-US" sz="30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743200"/>
                <a:gridCol w="8321040"/>
              </a:tblGrid>
              <a:tr h="0">
                <a:tc>
                  <a:txBody>
                    <a:bodyPr/>
                    <a:lstStyle/>
                    <a:p>
                      <a:pPr indent="0" marL="0">
                        <a:buNone/>
                      </a:pPr>
                      <a:r>
                        <a:rPr lang="en-US" sz="1200" b="1" dirty="0">
                          <a:solidFill>
                            <a:srgbClr val="16303A"/>
                          </a:solidFill>
                          <a:latin typeface="Cambria" pitchFamily="34" charset="0"/>
                          <a:ea typeface="Cambria" pitchFamily="34" charset="-122"/>
                          <a:cs typeface="Cambria" pitchFamily="34" charset="-120"/>
                        </a:rPr>
                        <a:t>Antagonist</a:t>
                      </a:r>
                      <a:endParaRPr lang="en-US" sz="1200" dirty="0">
                        <a:latin typeface="Cambria" charset="0"/>
                        <a:ea typeface="Cambria" charset="0"/>
                        <a:cs typeface="Cambria"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c>
                  <a:txBody>
                    <a:bodyPr/>
                    <a:lstStyle/>
                    <a:p>
                      <a:pPr indent="0" marL="0">
                        <a:buNone/>
                      </a:pPr>
                      <a:r>
                        <a:rPr lang="en-US" sz="1200" dirty="0">
                          <a:solidFill>
                            <a:srgbClr val="16303A"/>
                          </a:solidFill>
                          <a:latin typeface="Calibri" pitchFamily="34" charset="0"/>
                          <a:ea typeface="Calibri" pitchFamily="34" charset="-122"/>
                          <a:cs typeface="Calibri" pitchFamily="34" charset="-120"/>
                        </a:rPr>
                        <a:t>The muscle producing the opposite movement, usually lengthening; the hip flexors in Bridge.</a:t>
                      </a:r>
                      <a:endParaRPr lang="en-US" sz="1200" dirty="0">
                        <a:latin typeface="Calibri" charset="0"/>
                        <a:ea typeface="Calibri" charset="0"/>
                        <a:cs typeface="Calibri"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303A"/>
                          </a:solidFill>
                          <a:latin typeface="Cambria" pitchFamily="34" charset="0"/>
                          <a:ea typeface="Cambria" pitchFamily="34" charset="-122"/>
                          <a:cs typeface="Cambria" pitchFamily="34" charset="-120"/>
                        </a:rPr>
                        <a:t>Synergist</a:t>
                      </a:r>
                      <a:endParaRPr lang="en-US" sz="1200" dirty="0">
                        <a:latin typeface="Cambria" charset="0"/>
                        <a:ea typeface="Cambria" charset="0"/>
                        <a:cs typeface="Cambria"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c>
                  <a:txBody>
                    <a:bodyPr/>
                    <a:lstStyle/>
                    <a:p>
                      <a:pPr indent="0" marL="0">
                        <a:buNone/>
                      </a:pPr>
                      <a:r>
                        <a:rPr lang="en-US" sz="1200" dirty="0">
                          <a:solidFill>
                            <a:srgbClr val="16303A"/>
                          </a:solidFill>
                          <a:latin typeface="Calibri" pitchFamily="34" charset="0"/>
                          <a:ea typeface="Calibri" pitchFamily="34" charset="-122"/>
                          <a:cs typeface="Calibri" pitchFamily="34" charset="-120"/>
                        </a:rPr>
                        <a:t>A muscle that assists the agonist or cancels an unwanted action; the brachioradialis helping bend the elbow.</a:t>
                      </a:r>
                      <a:endParaRPr lang="en-US" sz="1200" dirty="0">
                        <a:latin typeface="Calibri" charset="0"/>
                        <a:ea typeface="Calibri" charset="0"/>
                        <a:cs typeface="Calibri"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303A"/>
                          </a:solidFill>
                          <a:latin typeface="Cambria" pitchFamily="34" charset="0"/>
                          <a:ea typeface="Cambria" pitchFamily="34" charset="-122"/>
                          <a:cs typeface="Cambria" pitchFamily="34" charset="-120"/>
                        </a:rPr>
                        <a:t>Stabilizer</a:t>
                      </a:r>
                      <a:endParaRPr lang="en-US" sz="1200" dirty="0">
                        <a:latin typeface="Cambria" charset="0"/>
                        <a:ea typeface="Cambria" charset="0"/>
                        <a:cs typeface="Cambria"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c>
                  <a:txBody>
                    <a:bodyPr/>
                    <a:lstStyle/>
                    <a:p>
                      <a:pPr indent="0" marL="0">
                        <a:buNone/>
                      </a:pPr>
                      <a:r>
                        <a:rPr lang="en-US" sz="1200" dirty="0">
                          <a:solidFill>
                            <a:srgbClr val="16303A"/>
                          </a:solidFill>
                          <a:latin typeface="Calibri" pitchFamily="34" charset="0"/>
                          <a:ea typeface="Calibri" pitchFamily="34" charset="-122"/>
                          <a:cs typeface="Calibri" pitchFamily="34" charset="-120"/>
                        </a:rPr>
                        <a:t>A muscle that holds a nearby joint steady; the standing gluteus medius keeping the pelvis level in Warrior III.</a:t>
                      </a:r>
                      <a:endParaRPr lang="en-US" sz="1200" dirty="0">
                        <a:latin typeface="Calibri" charset="0"/>
                        <a:ea typeface="Calibri" charset="0"/>
                        <a:cs typeface="Calibri"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303A"/>
                          </a:solidFill>
                          <a:latin typeface="Cambria" pitchFamily="34" charset="0"/>
                          <a:ea typeface="Cambria" pitchFamily="34" charset="-122"/>
                          <a:cs typeface="Cambria" pitchFamily="34" charset="-120"/>
                        </a:rPr>
                        <a:t>Muscle spindle</a:t>
                      </a:r>
                      <a:endParaRPr lang="en-US" sz="1200" dirty="0">
                        <a:latin typeface="Cambria" charset="0"/>
                        <a:ea typeface="Cambria" charset="0"/>
                        <a:cs typeface="Cambria"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c>
                  <a:txBody>
                    <a:bodyPr/>
                    <a:lstStyle/>
                    <a:p>
                      <a:pPr indent="0" marL="0">
                        <a:buNone/>
                      </a:pPr>
                      <a:r>
                        <a:rPr lang="en-US" sz="1200" dirty="0">
                          <a:solidFill>
                            <a:srgbClr val="16303A"/>
                          </a:solidFill>
                          <a:latin typeface="Calibri" pitchFamily="34" charset="0"/>
                          <a:ea typeface="Calibri" pitchFamily="34" charset="-122"/>
                          <a:cs typeface="Calibri" pitchFamily="34" charset="-120"/>
                        </a:rPr>
                        <a:t>A stretch sensor in the muscle belly that detects length and speed of stretch; it fires if you drop fast into a fold.</a:t>
                      </a:r>
                      <a:endParaRPr lang="en-US" sz="1200" dirty="0">
                        <a:latin typeface="Calibri" charset="0"/>
                        <a:ea typeface="Calibri" charset="0"/>
                        <a:cs typeface="Calibri"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303A"/>
                          </a:solidFill>
                          <a:latin typeface="Cambria" pitchFamily="34" charset="0"/>
                          <a:ea typeface="Cambria" pitchFamily="34" charset="-122"/>
                          <a:cs typeface="Cambria" pitchFamily="34" charset="-120"/>
                        </a:rPr>
                        <a:t>Golgi tendon organ</a:t>
                      </a:r>
                      <a:endParaRPr lang="en-US" sz="1200" dirty="0">
                        <a:latin typeface="Cambria" charset="0"/>
                        <a:ea typeface="Cambria" charset="0"/>
                        <a:cs typeface="Cambria"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c>
                  <a:txBody>
                    <a:bodyPr/>
                    <a:lstStyle/>
                    <a:p>
                      <a:pPr indent="0" marL="0">
                        <a:buNone/>
                      </a:pPr>
                      <a:r>
                        <a:rPr lang="en-US" sz="1200" dirty="0">
                          <a:solidFill>
                            <a:srgbClr val="16303A"/>
                          </a:solidFill>
                          <a:latin typeface="Calibri" pitchFamily="34" charset="0"/>
                          <a:ea typeface="Calibri" pitchFamily="34" charset="-122"/>
                          <a:cs typeface="Calibri" pitchFamily="34" charset="-120"/>
                        </a:rPr>
                        <a:t>A tension sensor at the muscle-tendon junction; it reports force as you press the heels down in contract-relax stretching.</a:t>
                      </a:r>
                      <a:endParaRPr lang="en-US" sz="1200" dirty="0">
                        <a:latin typeface="Calibri" charset="0"/>
                        <a:ea typeface="Calibri" charset="0"/>
                        <a:cs typeface="Calibri"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303A"/>
                          </a:solidFill>
                          <a:latin typeface="Cambria" pitchFamily="34" charset="0"/>
                          <a:ea typeface="Cambria" pitchFamily="34" charset="-122"/>
                          <a:cs typeface="Cambria" pitchFamily="34" charset="-120"/>
                        </a:rPr>
                        <a:t>Stretch reflex</a:t>
                      </a:r>
                      <a:endParaRPr lang="en-US" sz="1200" dirty="0">
                        <a:latin typeface="Cambria" charset="0"/>
                        <a:ea typeface="Cambria" charset="0"/>
                        <a:cs typeface="Cambria"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c>
                  <a:txBody>
                    <a:bodyPr/>
                    <a:lstStyle/>
                    <a:p>
                      <a:pPr indent="0" marL="0">
                        <a:buNone/>
                      </a:pPr>
                      <a:r>
                        <a:rPr lang="en-US" sz="1200" dirty="0">
                          <a:solidFill>
                            <a:srgbClr val="16303A"/>
                          </a:solidFill>
                          <a:latin typeface="Calibri" pitchFamily="34" charset="0"/>
                          <a:ea typeface="Calibri" pitchFamily="34" charset="-122"/>
                          <a:cs typeface="Calibri" pitchFamily="34" charset="-120"/>
                        </a:rPr>
                        <a:t>A fast spinal reflex in which a quick stretch makes the same muscle contract; the reason bouncing in Triangle backfires.</a:t>
                      </a:r>
                      <a:endParaRPr lang="en-US" sz="1200" dirty="0">
                        <a:latin typeface="Calibri" charset="0"/>
                        <a:ea typeface="Calibri" charset="0"/>
                        <a:cs typeface="Calibri"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303A"/>
                          </a:solidFill>
                          <a:latin typeface="Cambria" pitchFamily="34" charset="0"/>
                          <a:ea typeface="Cambria" pitchFamily="34" charset="-122"/>
                          <a:cs typeface="Cambria" pitchFamily="34" charset="-120"/>
                        </a:rPr>
                        <a:t>Reciprocal inhibition</a:t>
                      </a:r>
                      <a:endParaRPr lang="en-US" sz="1200" dirty="0">
                        <a:latin typeface="Cambria" charset="0"/>
                        <a:ea typeface="Cambria" charset="0"/>
                        <a:cs typeface="Cambria"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c>
                  <a:txBody>
                    <a:bodyPr/>
                    <a:lstStyle/>
                    <a:p>
                      <a:pPr indent="0" marL="0">
                        <a:buNone/>
                      </a:pPr>
                      <a:r>
                        <a:rPr lang="en-US" sz="1200" dirty="0">
                          <a:solidFill>
                            <a:srgbClr val="16303A"/>
                          </a:solidFill>
                          <a:latin typeface="Calibri" pitchFamily="34" charset="0"/>
                          <a:ea typeface="Calibri" pitchFamily="34" charset="-122"/>
                          <a:cs typeface="Calibri" pitchFamily="34" charset="-120"/>
                        </a:rPr>
                        <a:t>Damping of the antagonist's motor neurons when a muscle contracts; engaging the quadriceps in Down Dog damps the hamstrings slightly.</a:t>
                      </a:r>
                      <a:endParaRPr lang="en-US" sz="1200" dirty="0">
                        <a:latin typeface="Calibri" charset="0"/>
                        <a:ea typeface="Calibri" charset="0"/>
                        <a:cs typeface="Calibri"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303A"/>
                          </a:solidFill>
                          <a:latin typeface="Cambria" pitchFamily="34" charset="0"/>
                          <a:ea typeface="Cambria" pitchFamily="34" charset="-122"/>
                          <a:cs typeface="Cambria" pitchFamily="34" charset="-120"/>
                        </a:rPr>
                        <a:t>PNF stretching</a:t>
                      </a:r>
                      <a:endParaRPr lang="en-US" sz="1200" dirty="0">
                        <a:latin typeface="Cambria" charset="0"/>
                        <a:ea typeface="Cambria" charset="0"/>
                        <a:cs typeface="Cambria"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c>
                  <a:txBody>
                    <a:bodyPr/>
                    <a:lstStyle/>
                    <a:p>
                      <a:pPr indent="0" marL="0">
                        <a:buNone/>
                      </a:pPr>
                      <a:r>
                        <a:rPr lang="en-US" sz="1200" dirty="0">
                          <a:solidFill>
                            <a:srgbClr val="16303A"/>
                          </a:solidFill>
                          <a:latin typeface="Calibri" pitchFamily="34" charset="0"/>
                          <a:ea typeface="Calibri" pitchFamily="34" charset="-122"/>
                          <a:cs typeface="Calibri" pitchFamily="34" charset="-120"/>
                        </a:rPr>
                        <a:t>Proprioceptive neuromuscular facilitation: contract the stretched muscle, relax, then stretch further, as in a seated fold with heels pressing down.</a:t>
                      </a:r>
                      <a:endParaRPr lang="en-US" sz="1200" dirty="0">
                        <a:latin typeface="Calibri" charset="0"/>
                        <a:ea typeface="Calibri" charset="0"/>
                        <a:cs typeface="Calibri"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303A"/>
                          </a:solidFill>
                          <a:latin typeface="Cambria" pitchFamily="34" charset="0"/>
                          <a:ea typeface="Cambria" pitchFamily="34" charset="-122"/>
                          <a:cs typeface="Cambria" pitchFamily="34" charset="-120"/>
                        </a:rPr>
                        <a:t>Stretch tolerance</a:t>
                      </a:r>
                      <a:endParaRPr lang="en-US" sz="1200" dirty="0">
                        <a:latin typeface="Cambria" charset="0"/>
                        <a:ea typeface="Cambria" charset="0"/>
                        <a:cs typeface="Cambria"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c>
                  <a:txBody>
                    <a:bodyPr/>
                    <a:lstStyle/>
                    <a:p>
                      <a:pPr indent="0" marL="0">
                        <a:buNone/>
                      </a:pPr>
                      <a:r>
                        <a:rPr lang="en-US" sz="1200" dirty="0">
                          <a:solidFill>
                            <a:srgbClr val="16303A"/>
                          </a:solidFill>
                          <a:latin typeface="Calibri" pitchFamily="34" charset="0"/>
                          <a:ea typeface="Calibri" pitchFamily="34" charset="-122"/>
                          <a:cs typeface="Calibri" pitchFamily="34" charset="-120"/>
                        </a:rPr>
                        <a:t>How much stretch sensation a person accepts; the main reason you reach further after a minute in a forward fold.</a:t>
                      </a:r>
                      <a:endParaRPr lang="en-US" sz="1200" dirty="0">
                        <a:latin typeface="Calibri" charset="0"/>
                        <a:ea typeface="Calibri" charset="0"/>
                        <a:cs typeface="Calibri"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303A"/>
                          </a:solidFill>
                          <a:latin typeface="Cambria" pitchFamily="34" charset="0"/>
                          <a:ea typeface="Cambria" pitchFamily="34" charset="-122"/>
                          <a:cs typeface="Cambria" pitchFamily="34" charset="-120"/>
                        </a:rPr>
                        <a:t>Fascia</a:t>
                      </a:r>
                      <a:endParaRPr lang="en-US" sz="1200" dirty="0">
                        <a:latin typeface="Cambria" charset="0"/>
                        <a:ea typeface="Cambria" charset="0"/>
                        <a:cs typeface="Cambria"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c>
                  <a:txBody>
                    <a:bodyPr/>
                    <a:lstStyle/>
                    <a:p>
                      <a:pPr indent="0" marL="0">
                        <a:buNone/>
                      </a:pPr>
                      <a:r>
                        <a:rPr lang="en-US" sz="1200" dirty="0">
                          <a:solidFill>
                            <a:srgbClr val="16303A"/>
                          </a:solidFill>
                          <a:latin typeface="Calibri" pitchFamily="34" charset="0"/>
                          <a:ea typeface="Calibri" pitchFamily="34" charset="-122"/>
                          <a:cs typeface="Calibri" pitchFamily="34" charset="-120"/>
                        </a:rPr>
                        <a:t>Collagen-rich connective tissue that wraps and links muscles; the thoracolumbar fascia spans the low back in Cobra.</a:t>
                      </a:r>
                      <a:endParaRPr lang="en-US" sz="1200" dirty="0">
                        <a:latin typeface="Calibri" charset="0"/>
                        <a:ea typeface="Calibri" charset="0"/>
                        <a:cs typeface="Calibri"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303A"/>
                          </a:solidFill>
                          <a:latin typeface="Cambria" pitchFamily="34" charset="0"/>
                          <a:ea typeface="Cambria" pitchFamily="34" charset="-122"/>
                          <a:cs typeface="Cambria" pitchFamily="34" charset="-120"/>
                        </a:rPr>
                        <a:t>Hypermobility</a:t>
                      </a:r>
                      <a:endParaRPr lang="en-US" sz="1200" dirty="0">
                        <a:latin typeface="Cambria" charset="0"/>
                        <a:ea typeface="Cambria" charset="0"/>
                        <a:cs typeface="Cambria"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c>
                  <a:txBody>
                    <a:bodyPr/>
                    <a:lstStyle/>
                    <a:p>
                      <a:pPr indent="0" marL="0">
                        <a:buNone/>
                      </a:pPr>
                      <a:r>
                        <a:rPr lang="en-US" sz="1200" dirty="0">
                          <a:solidFill>
                            <a:srgbClr val="16303A"/>
                          </a:solidFill>
                          <a:latin typeface="Calibri" pitchFamily="34" charset="0"/>
                          <a:ea typeface="Calibri" pitchFamily="34" charset="-122"/>
                          <a:cs typeface="Calibri" pitchFamily="34" charset="-120"/>
                        </a:rPr>
                        <a:t>Joints that move beyond typical range; a front knee locking back in Triangle may be a sign, and calls for control cues.</a:t>
                      </a:r>
                      <a:endParaRPr lang="en-US" sz="1200" dirty="0">
                        <a:latin typeface="Calibri" charset="0"/>
                        <a:ea typeface="Calibri" charset="0"/>
                        <a:cs typeface="Calibri"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6" name="Text 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65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MODULE 4 REVIEW</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Myths to retire</a:t>
            </a:r>
            <a:endParaRPr lang="en-US" sz="3000" dirty="0"/>
          </a:p>
        </p:txBody>
      </p:sp>
      <p:sp>
        <p:nvSpPr>
          <p:cNvPr id="4" name="Shape 2"/>
          <p:cNvSpPr/>
          <p:nvPr/>
        </p:nvSpPr>
        <p:spPr>
          <a:xfrm>
            <a:off x="548640" y="1737360"/>
            <a:ext cx="4754880" cy="740664"/>
          </a:xfrm>
          <a:prstGeom prst="roundRect">
            <a:avLst>
              <a:gd name="adj" fmla="val 12346"/>
            </a:avLst>
          </a:prstGeom>
          <a:solidFill>
            <a:srgbClr val="F3D9DE"/>
          </a:solidFill>
          <a:ln w="12700">
            <a:solidFill>
              <a:srgbClr val="F3D9DE"/>
            </a:solidFill>
            <a:prstDash val="solid"/>
          </a:ln>
        </p:spPr>
      </p:sp>
      <p:sp>
        <p:nvSpPr>
          <p:cNvPr id="5" name="Text 3"/>
          <p:cNvSpPr txBox="1"/>
          <p:nvPr/>
        </p:nvSpPr>
        <p:spPr>
          <a:xfrm>
            <a:off x="731520" y="1737360"/>
            <a:ext cx="4389120" cy="740664"/>
          </a:xfrm>
          <a:prstGeom prst="rect">
            <a:avLst/>
          </a:prstGeom>
          <a:noFill/>
          <a:ln/>
        </p:spPr>
        <p:txBody>
          <a:bodyPr wrap="square" lIns="0" tIns="0" rIns="0" bIns="0" rtlCol="0" anchor="ctr">
            <a:normAutofit/>
          </a:bodyPr>
          <a:lstStyle/>
          <a:p>
            <a:pPr indent="0" marL="0">
              <a:buNone/>
            </a:pPr>
            <a:r>
              <a:rPr lang="en-US" sz="1400" i="1" dirty="0">
                <a:solidFill>
                  <a:srgbClr val="16303A"/>
                </a:solidFill>
                <a:latin typeface="Calibri" pitchFamily="34" charset="0"/>
                <a:ea typeface="Calibri" pitchFamily="34" charset="-122"/>
                <a:cs typeface="Calibri" pitchFamily="34" charset="-120"/>
              </a:rPr>
              <a:t>Muscles shorten because the filaments inside them shrink</a:t>
            </a:r>
            <a:endParaRPr lang="en-US" sz="1400" dirty="0"/>
          </a:p>
        </p:txBody>
      </p:sp>
      <p:sp>
        <p:nvSpPr>
          <p:cNvPr id="6" name="Shape 4"/>
          <p:cNvSpPr/>
          <p:nvPr/>
        </p:nvSpPr>
        <p:spPr>
          <a:xfrm>
            <a:off x="5577840" y="1737360"/>
            <a:ext cx="6035040" cy="740664"/>
          </a:xfrm>
          <a:prstGeom prst="roundRect">
            <a:avLst>
              <a:gd name="adj" fmla="val 12346"/>
            </a:avLst>
          </a:prstGeom>
          <a:solidFill>
            <a:srgbClr val="D5E9DF"/>
          </a:solidFill>
          <a:ln w="12700">
            <a:solidFill>
              <a:srgbClr val="D5E9DF"/>
            </a:solidFill>
            <a:prstDash val="solid"/>
          </a:ln>
        </p:spPr>
      </p:sp>
      <p:sp>
        <p:nvSpPr>
          <p:cNvPr id="7" name="Text 5"/>
          <p:cNvSpPr txBox="1"/>
          <p:nvPr/>
        </p:nvSpPr>
        <p:spPr>
          <a:xfrm>
            <a:off x="5760720" y="1737360"/>
            <a:ext cx="5669280" cy="740664"/>
          </a:xfrm>
          <a:prstGeom prst="rect">
            <a:avLst/>
          </a:prstGeom>
          <a:noFill/>
          <a:ln/>
        </p:spPr>
        <p:txBody>
          <a:bodyPr wrap="square" lIns="0" tIns="0" rIns="0" bIns="0" rtlCol="0" anchor="ctr">
            <a:normAutofit/>
          </a:bodyPr>
          <a:lstStyle/>
          <a:p>
            <a:pPr indent="0" marL="0">
              <a:buNone/>
            </a:pPr>
            <a:r>
              <a:rPr lang="en-US" sz="1400" dirty="0">
                <a:solidFill>
                  <a:srgbClr val="16303A"/>
                </a:solidFill>
                <a:latin typeface="Calibri" pitchFamily="34" charset="0"/>
                <a:ea typeface="Calibri" pitchFamily="34" charset="-122"/>
                <a:cs typeface="Calibri" pitchFamily="34" charset="-120"/>
              </a:rPr>
              <a:t>Actin and myosin keep their length and slide past each other, drawing the Z discs closer together.</a:t>
            </a:r>
            <a:endParaRPr lang="en-US" sz="1400" dirty="0"/>
          </a:p>
        </p:txBody>
      </p:sp>
      <p:sp>
        <p:nvSpPr>
          <p:cNvPr id="8" name="Shape 6"/>
          <p:cNvSpPr/>
          <p:nvPr/>
        </p:nvSpPr>
        <p:spPr>
          <a:xfrm>
            <a:off x="548640" y="2615184"/>
            <a:ext cx="4754880" cy="740664"/>
          </a:xfrm>
          <a:prstGeom prst="roundRect">
            <a:avLst>
              <a:gd name="adj" fmla="val 12346"/>
            </a:avLst>
          </a:prstGeom>
          <a:solidFill>
            <a:srgbClr val="F3D9DE"/>
          </a:solidFill>
          <a:ln w="12700">
            <a:solidFill>
              <a:srgbClr val="F3D9DE"/>
            </a:solidFill>
            <a:prstDash val="solid"/>
          </a:ln>
        </p:spPr>
      </p:sp>
      <p:sp>
        <p:nvSpPr>
          <p:cNvPr id="9" name="Text 7"/>
          <p:cNvSpPr txBox="1"/>
          <p:nvPr/>
        </p:nvSpPr>
        <p:spPr>
          <a:xfrm>
            <a:off x="731520" y="2615184"/>
            <a:ext cx="4389120" cy="740664"/>
          </a:xfrm>
          <a:prstGeom prst="rect">
            <a:avLst/>
          </a:prstGeom>
          <a:noFill/>
          <a:ln/>
        </p:spPr>
        <p:txBody>
          <a:bodyPr wrap="square" lIns="0" tIns="0" rIns="0" bIns="0" rtlCol="0" anchor="ctr">
            <a:normAutofit/>
          </a:bodyPr>
          <a:lstStyle/>
          <a:p>
            <a:pPr indent="0" marL="0">
              <a:buNone/>
            </a:pPr>
            <a:r>
              <a:rPr lang="en-US" sz="1400" i="1" dirty="0">
                <a:solidFill>
                  <a:srgbClr val="16303A"/>
                </a:solidFill>
                <a:latin typeface="Calibri" pitchFamily="34" charset="0"/>
                <a:ea typeface="Calibri" pitchFamily="34" charset="-122"/>
                <a:cs typeface="Calibri" pitchFamily="34" charset="-120"/>
              </a:rPr>
              <a:t>A muscle that is lengthening must be relaxed</a:t>
            </a:r>
            <a:endParaRPr lang="en-US" sz="1400" dirty="0"/>
          </a:p>
        </p:txBody>
      </p:sp>
      <p:sp>
        <p:nvSpPr>
          <p:cNvPr id="10" name="Shape 8"/>
          <p:cNvSpPr/>
          <p:nvPr/>
        </p:nvSpPr>
        <p:spPr>
          <a:xfrm>
            <a:off x="5577840" y="2615184"/>
            <a:ext cx="6035040" cy="740664"/>
          </a:xfrm>
          <a:prstGeom prst="roundRect">
            <a:avLst>
              <a:gd name="adj" fmla="val 12346"/>
            </a:avLst>
          </a:prstGeom>
          <a:solidFill>
            <a:srgbClr val="D5E9DF"/>
          </a:solidFill>
          <a:ln w="12700">
            <a:solidFill>
              <a:srgbClr val="D5E9DF"/>
            </a:solidFill>
            <a:prstDash val="solid"/>
          </a:ln>
        </p:spPr>
      </p:sp>
      <p:sp>
        <p:nvSpPr>
          <p:cNvPr id="11" name="Text 9"/>
          <p:cNvSpPr txBox="1"/>
          <p:nvPr/>
        </p:nvSpPr>
        <p:spPr>
          <a:xfrm>
            <a:off x="5760720" y="2615184"/>
            <a:ext cx="5669280" cy="740664"/>
          </a:xfrm>
          <a:prstGeom prst="rect">
            <a:avLst/>
          </a:prstGeom>
          <a:noFill/>
          <a:ln/>
        </p:spPr>
        <p:txBody>
          <a:bodyPr wrap="square" lIns="0" tIns="0" rIns="0" bIns="0" rtlCol="0" anchor="ctr">
            <a:normAutofit/>
          </a:bodyPr>
          <a:lstStyle/>
          <a:p>
            <a:pPr indent="0" marL="0">
              <a:buNone/>
            </a:pPr>
            <a:r>
              <a:rPr lang="en-US" sz="1400" dirty="0">
                <a:solidFill>
                  <a:srgbClr val="16303A"/>
                </a:solidFill>
                <a:latin typeface="Calibri" pitchFamily="34" charset="0"/>
                <a:ea typeface="Calibri" pitchFamily="34" charset="-122"/>
                <a:cs typeface="Calibri" pitchFamily="34" charset="-120"/>
              </a:rPr>
              <a:t>Lengthening muscles are often working hard eccentrically, like the triceps lowering you into Chaturanga.</a:t>
            </a:r>
            <a:endParaRPr lang="en-US" sz="1400" dirty="0"/>
          </a:p>
        </p:txBody>
      </p:sp>
      <p:sp>
        <p:nvSpPr>
          <p:cNvPr id="12" name="Shape 10"/>
          <p:cNvSpPr/>
          <p:nvPr/>
        </p:nvSpPr>
        <p:spPr>
          <a:xfrm>
            <a:off x="548640" y="3493008"/>
            <a:ext cx="4754880" cy="740664"/>
          </a:xfrm>
          <a:prstGeom prst="roundRect">
            <a:avLst>
              <a:gd name="adj" fmla="val 12346"/>
            </a:avLst>
          </a:prstGeom>
          <a:solidFill>
            <a:srgbClr val="F3D9DE"/>
          </a:solidFill>
          <a:ln w="12700">
            <a:solidFill>
              <a:srgbClr val="F3D9DE"/>
            </a:solidFill>
            <a:prstDash val="solid"/>
          </a:ln>
        </p:spPr>
      </p:sp>
      <p:sp>
        <p:nvSpPr>
          <p:cNvPr id="13" name="Text 11"/>
          <p:cNvSpPr txBox="1"/>
          <p:nvPr/>
        </p:nvSpPr>
        <p:spPr>
          <a:xfrm>
            <a:off x="731520" y="3493008"/>
            <a:ext cx="4389120" cy="740664"/>
          </a:xfrm>
          <a:prstGeom prst="rect">
            <a:avLst/>
          </a:prstGeom>
          <a:noFill/>
          <a:ln/>
        </p:spPr>
        <p:txBody>
          <a:bodyPr wrap="square" lIns="0" tIns="0" rIns="0" bIns="0" rtlCol="0" anchor="ctr">
            <a:normAutofit/>
          </a:bodyPr>
          <a:lstStyle/>
          <a:p>
            <a:pPr indent="0" marL="0">
              <a:buNone/>
            </a:pPr>
            <a:r>
              <a:rPr lang="en-US" sz="1400" i="1" dirty="0">
                <a:solidFill>
                  <a:srgbClr val="16303A"/>
                </a:solidFill>
                <a:latin typeface="Calibri" pitchFamily="34" charset="0"/>
                <a:ea typeface="Calibri" pitchFamily="34" charset="-122"/>
                <a:cs typeface="Calibri" pitchFamily="34" charset="-120"/>
              </a:rPr>
              <a:t>PNF works because the Golgi tendon organ switches the muscle off</a:t>
            </a:r>
            <a:endParaRPr lang="en-US" sz="1400" dirty="0"/>
          </a:p>
        </p:txBody>
      </p:sp>
      <p:sp>
        <p:nvSpPr>
          <p:cNvPr id="14" name="Shape 12"/>
          <p:cNvSpPr/>
          <p:nvPr/>
        </p:nvSpPr>
        <p:spPr>
          <a:xfrm>
            <a:off x="5577840" y="3493008"/>
            <a:ext cx="6035040" cy="740664"/>
          </a:xfrm>
          <a:prstGeom prst="roundRect">
            <a:avLst>
              <a:gd name="adj" fmla="val 12346"/>
            </a:avLst>
          </a:prstGeom>
          <a:solidFill>
            <a:srgbClr val="D5E9DF"/>
          </a:solidFill>
          <a:ln w="12700">
            <a:solidFill>
              <a:srgbClr val="D5E9DF"/>
            </a:solidFill>
            <a:prstDash val="solid"/>
          </a:ln>
        </p:spPr>
      </p:sp>
      <p:sp>
        <p:nvSpPr>
          <p:cNvPr id="15" name="Text 13"/>
          <p:cNvSpPr txBox="1"/>
          <p:nvPr/>
        </p:nvSpPr>
        <p:spPr>
          <a:xfrm>
            <a:off x="5760720" y="3493008"/>
            <a:ext cx="5669280" cy="740664"/>
          </a:xfrm>
          <a:prstGeom prst="rect">
            <a:avLst/>
          </a:prstGeom>
          <a:noFill/>
          <a:ln/>
        </p:spPr>
        <p:txBody>
          <a:bodyPr wrap="square" lIns="0" tIns="0" rIns="0" bIns="0" rtlCol="0" anchor="ctr">
            <a:normAutofit/>
          </a:bodyPr>
          <a:lstStyle/>
          <a:p>
            <a:pPr indent="0" marL="0">
              <a:buNone/>
            </a:pPr>
            <a:r>
              <a:rPr lang="en-US" sz="1400" dirty="0">
                <a:solidFill>
                  <a:srgbClr val="16303A"/>
                </a:solidFill>
                <a:latin typeface="Calibri" pitchFamily="34" charset="0"/>
                <a:ea typeface="Calibri" pitchFamily="34" charset="-122"/>
                <a:cs typeface="Calibri" pitchFamily="34" charset="-120"/>
              </a:rPr>
              <a:t>PNF improves short-term range, but the GTO explanation is questioned; increased stretch tolerance is the leading explanation.</a:t>
            </a:r>
            <a:endParaRPr lang="en-US" sz="1400" dirty="0"/>
          </a:p>
        </p:txBody>
      </p:sp>
      <p:sp>
        <p:nvSpPr>
          <p:cNvPr id="16" name="Shape 14"/>
          <p:cNvSpPr/>
          <p:nvPr/>
        </p:nvSpPr>
        <p:spPr>
          <a:xfrm>
            <a:off x="548640" y="4370832"/>
            <a:ext cx="4754880" cy="740664"/>
          </a:xfrm>
          <a:prstGeom prst="roundRect">
            <a:avLst>
              <a:gd name="adj" fmla="val 12346"/>
            </a:avLst>
          </a:prstGeom>
          <a:solidFill>
            <a:srgbClr val="F3D9DE"/>
          </a:solidFill>
          <a:ln w="12700">
            <a:solidFill>
              <a:srgbClr val="F3D9DE"/>
            </a:solidFill>
            <a:prstDash val="solid"/>
          </a:ln>
        </p:spPr>
      </p:sp>
      <p:sp>
        <p:nvSpPr>
          <p:cNvPr id="17" name="Text 15"/>
          <p:cNvSpPr txBox="1"/>
          <p:nvPr/>
        </p:nvSpPr>
        <p:spPr>
          <a:xfrm>
            <a:off x="731520" y="4370832"/>
            <a:ext cx="4389120" cy="740664"/>
          </a:xfrm>
          <a:prstGeom prst="rect">
            <a:avLst/>
          </a:prstGeom>
          <a:noFill/>
          <a:ln/>
        </p:spPr>
        <p:txBody>
          <a:bodyPr wrap="square" lIns="0" tIns="0" rIns="0" bIns="0" rtlCol="0" anchor="ctr">
            <a:normAutofit/>
          </a:bodyPr>
          <a:lstStyle/>
          <a:p>
            <a:pPr indent="0" marL="0">
              <a:buNone/>
            </a:pPr>
            <a:r>
              <a:rPr lang="en-US" sz="1400" i="1" dirty="0">
                <a:solidFill>
                  <a:srgbClr val="16303A"/>
                </a:solidFill>
                <a:latin typeface="Calibri" pitchFamily="34" charset="0"/>
                <a:ea typeface="Calibri" pitchFamily="34" charset="-122"/>
                <a:cs typeface="Calibri" pitchFamily="34" charset="-120"/>
              </a:rPr>
              <a:t>Holding a stretch makes the muscle longer within that session</a:t>
            </a:r>
            <a:endParaRPr lang="en-US" sz="1400" dirty="0"/>
          </a:p>
        </p:txBody>
      </p:sp>
      <p:sp>
        <p:nvSpPr>
          <p:cNvPr id="18" name="Shape 16"/>
          <p:cNvSpPr/>
          <p:nvPr/>
        </p:nvSpPr>
        <p:spPr>
          <a:xfrm>
            <a:off x="5577840" y="4370832"/>
            <a:ext cx="6035040" cy="740664"/>
          </a:xfrm>
          <a:prstGeom prst="roundRect">
            <a:avLst>
              <a:gd name="adj" fmla="val 12346"/>
            </a:avLst>
          </a:prstGeom>
          <a:solidFill>
            <a:srgbClr val="D5E9DF"/>
          </a:solidFill>
          <a:ln w="12700">
            <a:solidFill>
              <a:srgbClr val="D5E9DF"/>
            </a:solidFill>
            <a:prstDash val="solid"/>
          </a:ln>
        </p:spPr>
      </p:sp>
      <p:sp>
        <p:nvSpPr>
          <p:cNvPr id="19" name="Text 17"/>
          <p:cNvSpPr txBox="1"/>
          <p:nvPr/>
        </p:nvSpPr>
        <p:spPr>
          <a:xfrm>
            <a:off x="5760720" y="4370832"/>
            <a:ext cx="5669280" cy="740664"/>
          </a:xfrm>
          <a:prstGeom prst="rect">
            <a:avLst/>
          </a:prstGeom>
          <a:noFill/>
          <a:ln/>
        </p:spPr>
        <p:txBody>
          <a:bodyPr wrap="square" lIns="0" tIns="0" rIns="0" bIns="0" rtlCol="0" anchor="ctr">
            <a:normAutofit/>
          </a:bodyPr>
          <a:lstStyle/>
          <a:p>
            <a:pPr indent="0" marL="0">
              <a:buNone/>
            </a:pPr>
            <a:r>
              <a:rPr lang="en-US" sz="1400" dirty="0">
                <a:solidFill>
                  <a:srgbClr val="16303A"/>
                </a:solidFill>
                <a:latin typeface="Calibri" pitchFamily="34" charset="0"/>
                <a:ea typeface="Calibri" pitchFamily="34" charset="-122"/>
                <a:cs typeface="Calibri" pitchFamily="34" charset="-120"/>
              </a:rPr>
              <a:t>Short-term gains come mainly from greater tolerance of the stretch sensation; muscle length and stiffness change little.</a:t>
            </a:r>
            <a:endParaRPr lang="en-US" sz="1400" dirty="0"/>
          </a:p>
        </p:txBody>
      </p:sp>
      <p:sp>
        <p:nvSpPr>
          <p:cNvPr id="20" name="Shape 18"/>
          <p:cNvSpPr/>
          <p:nvPr/>
        </p:nvSpPr>
        <p:spPr>
          <a:xfrm>
            <a:off x="548640" y="5248656"/>
            <a:ext cx="4754880" cy="740664"/>
          </a:xfrm>
          <a:prstGeom prst="roundRect">
            <a:avLst>
              <a:gd name="adj" fmla="val 12346"/>
            </a:avLst>
          </a:prstGeom>
          <a:solidFill>
            <a:srgbClr val="F3D9DE"/>
          </a:solidFill>
          <a:ln w="12700">
            <a:solidFill>
              <a:srgbClr val="F3D9DE"/>
            </a:solidFill>
            <a:prstDash val="solid"/>
          </a:ln>
        </p:spPr>
      </p:sp>
      <p:sp>
        <p:nvSpPr>
          <p:cNvPr id="21" name="Text 19"/>
          <p:cNvSpPr txBox="1"/>
          <p:nvPr/>
        </p:nvSpPr>
        <p:spPr>
          <a:xfrm>
            <a:off x="731520" y="5248656"/>
            <a:ext cx="4389120" cy="740664"/>
          </a:xfrm>
          <a:prstGeom prst="rect">
            <a:avLst/>
          </a:prstGeom>
          <a:noFill/>
          <a:ln/>
        </p:spPr>
        <p:txBody>
          <a:bodyPr wrap="square" lIns="0" tIns="0" rIns="0" bIns="0" rtlCol="0" anchor="ctr">
            <a:normAutofit/>
          </a:bodyPr>
          <a:lstStyle/>
          <a:p>
            <a:pPr indent="0" marL="0">
              <a:buNone/>
            </a:pPr>
            <a:r>
              <a:rPr lang="en-US" sz="1400" i="1" dirty="0">
                <a:solidFill>
                  <a:srgbClr val="16303A"/>
                </a:solidFill>
                <a:latin typeface="Calibri" pitchFamily="34" charset="0"/>
                <a:ea typeface="Calibri" pitchFamily="34" charset="-122"/>
                <a:cs typeface="Calibri" pitchFamily="34" charset="-120"/>
              </a:rPr>
              <a:t>Yoga or foam rolling releases fascia, and fascia stores emotions</a:t>
            </a:r>
            <a:endParaRPr lang="en-US" sz="1400" dirty="0"/>
          </a:p>
        </p:txBody>
      </p:sp>
      <p:sp>
        <p:nvSpPr>
          <p:cNvPr id="22" name="Shape 20"/>
          <p:cNvSpPr/>
          <p:nvPr/>
        </p:nvSpPr>
        <p:spPr>
          <a:xfrm>
            <a:off x="5577840" y="5248656"/>
            <a:ext cx="6035040" cy="740664"/>
          </a:xfrm>
          <a:prstGeom prst="roundRect">
            <a:avLst>
              <a:gd name="adj" fmla="val 12346"/>
            </a:avLst>
          </a:prstGeom>
          <a:solidFill>
            <a:srgbClr val="D5E9DF"/>
          </a:solidFill>
          <a:ln w="12700">
            <a:solidFill>
              <a:srgbClr val="D5E9DF"/>
            </a:solidFill>
            <a:prstDash val="solid"/>
          </a:ln>
        </p:spPr>
      </p:sp>
      <p:sp>
        <p:nvSpPr>
          <p:cNvPr id="23" name="Text 21"/>
          <p:cNvSpPr txBox="1"/>
          <p:nvPr/>
        </p:nvSpPr>
        <p:spPr>
          <a:xfrm>
            <a:off x="5760720" y="5248656"/>
            <a:ext cx="5669280" cy="740664"/>
          </a:xfrm>
          <a:prstGeom prst="rect">
            <a:avLst/>
          </a:prstGeom>
          <a:noFill/>
          <a:ln/>
        </p:spPr>
        <p:txBody>
          <a:bodyPr wrap="square" lIns="0" tIns="0" rIns="0" bIns="0" rtlCol="0" anchor="ctr">
            <a:normAutofit/>
          </a:bodyPr>
          <a:lstStyle/>
          <a:p>
            <a:pPr indent="0" marL="0">
              <a:buNone/>
            </a:pPr>
            <a:r>
              <a:rPr lang="en-US" sz="1400" dirty="0">
                <a:solidFill>
                  <a:srgbClr val="16303A"/>
                </a:solidFill>
                <a:latin typeface="Calibri" pitchFamily="34" charset="0"/>
                <a:ea typeface="Calibri" pitchFamily="34" charset="-122"/>
                <a:cs typeface="Calibri" pitchFamily="34" charset="-120"/>
              </a:rPr>
              <a:t>Dense fascia cannot be deformed by hands or rollers, the felt release is mostly neural, and there is no evidence fascia stores emotions.</a:t>
            </a:r>
            <a:endParaRPr lang="en-US" sz="1400" dirty="0"/>
          </a:p>
        </p:txBody>
      </p:sp>
      <p:sp>
        <p:nvSpPr>
          <p:cNvPr id="24" name="Text 2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25" name="Text 2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66</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16303A"/>
        </a:solidFill>
      </p:bgPr>
    </p:bg>
    <p:spTree>
      <p:nvGrpSpPr>
        <p:cNvPr id="1" name=""/>
        <p:cNvGrpSpPr/>
        <p:nvPr/>
      </p:nvGrpSpPr>
      <p:grpSpPr>
        <a:xfrm>
          <a:off x="0" y="0"/>
          <a:ext cx="0" cy="0"/>
          <a:chOff x="0" y="0"/>
          <a:chExt cx="0" cy="0"/>
        </a:xfrm>
      </p:grpSpPr>
      <p:sp>
        <p:nvSpPr>
          <p:cNvPr id="2" name="Text 0"/>
          <p:cNvSpPr txBox="1"/>
          <p:nvPr/>
        </p:nvSpPr>
        <p:spPr>
          <a:xfrm>
            <a:off x="548640" y="1463040"/>
            <a:ext cx="8229600"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End of Module 4</a:t>
            </a:r>
            <a:endParaRPr lang="en-US" sz="4000" dirty="0"/>
          </a:p>
        </p:txBody>
      </p:sp>
      <p:sp>
        <p:nvSpPr>
          <p:cNvPr id="3" name="Text 1"/>
          <p:cNvSpPr txBox="1"/>
          <p:nvPr/>
        </p:nvSpPr>
        <p:spPr>
          <a:xfrm>
            <a:off x="548640" y="2560320"/>
            <a:ext cx="8686800" cy="1280160"/>
          </a:xfrm>
          <a:prstGeom prst="rect">
            <a:avLst/>
          </a:prstGeom>
          <a:noFill/>
          <a:ln/>
        </p:spPr>
        <p:txBody>
          <a:bodyPr wrap="square" lIns="0" tIns="0" rIns="0" bIns="0" rtlCol="0" anchor="t"/>
          <a:lstStyle/>
          <a:p>
            <a:pPr indent="0" marL="0">
              <a:buNone/>
            </a:pPr>
            <a:r>
              <a:rPr lang="en-US" sz="2000" dirty="0">
                <a:solidFill>
                  <a:srgbClr val="D6E3E0"/>
                </a:solidFill>
                <a:latin typeface="Calibri" pitchFamily="34" charset="0"/>
                <a:ea typeface="Calibri" pitchFamily="34" charset="-122"/>
                <a:cs typeface="Calibri" pitchFamily="34" charset="-120"/>
              </a:rPr>
              <a:t>Before the next module: work through the study guide, the flashcards and the interactive exercises, then run the module in the Anatomy Chase.</a:t>
            </a:r>
            <a:endParaRPr lang="en-US" sz="2000" dirty="0"/>
          </a:p>
        </p:txBody>
      </p:sp>
      <p:sp>
        <p:nvSpPr>
          <p:cNvPr id="4" name="Text 2"/>
          <p:cNvSpPr txBox="1"/>
          <p:nvPr/>
        </p:nvSpPr>
        <p:spPr>
          <a:xfrm>
            <a:off x="548640" y="4114800"/>
            <a:ext cx="8229600" cy="457200"/>
          </a:xfrm>
          <a:prstGeom prst="rect">
            <a:avLst/>
          </a:prstGeom>
          <a:noFill/>
          <a:ln/>
        </p:spPr>
        <p:txBody>
          <a:bodyPr wrap="square" lIns="0" tIns="0" rIns="0" bIns="0" rtlCol="0" anchor="ctr"/>
          <a:lstStyle/>
          <a:p>
            <a:pPr indent="0" marL="0">
              <a:buNone/>
            </a:pPr>
            <a:r>
              <a:rPr lang="en-US" sz="1600" b="1" dirty="0">
                <a:solidFill>
                  <a:srgbClr val="CBB78C"/>
                </a:solidFill>
                <a:latin typeface="Calibri" pitchFamily="34" charset="0"/>
                <a:ea typeface="Calibri" pitchFamily="34" charset="-122"/>
                <a:cs typeface="Calibri" pitchFamily="34" charset="-120"/>
              </a:rPr>
              <a:t>kashee12345.github.io/anatomy-on-the-mat</a:t>
            </a:r>
            <a:endParaRPr lang="en-US" sz="1600" dirty="0"/>
          </a:p>
        </p:txBody>
      </p:sp>
      <p:sp>
        <p:nvSpPr>
          <p:cNvPr id="5" name="Text 3"/>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A9BFC6"/>
                </a:solidFill>
                <a:latin typeface="Calibri" pitchFamily="34" charset="0"/>
                <a:ea typeface="Calibri" pitchFamily="34" charset="-122"/>
                <a:cs typeface="Calibri" pitchFamily="34" charset="-120"/>
              </a:rPr>
              <a:t>Anatomy on the Mat  ·  Dr. Akash Garg, D.C.</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67</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67</vt:i4>
      </vt:variant>
    </vt:vector>
  </HeadingPairs>
  <TitlesOfParts>
    <vt:vector size="7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vector>
  </TitlesOfParts>
  <Company>Anatomy on the Mat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4: Muscles and How They Contract</dc:title>
  <dc:subject>PptxGenJS Presentation</dc:subject>
  <dc:creator>Dr. Akash Garg, D.C.</dc:creator>
  <cp:lastModifiedBy>Dr. Akash Garg, D.C.</cp:lastModifiedBy>
  <cp:revision>1</cp:revision>
  <dcterms:created xsi:type="dcterms:W3CDTF">2026-09-28T23:32:55Z</dcterms:created>
  <dcterms:modified xsi:type="dcterms:W3CDTF">2026-09-28T23:32:55Z</dcterms:modified>
</cp:coreProperties>
</file>