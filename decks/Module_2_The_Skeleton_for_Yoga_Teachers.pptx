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The Skeleton for Yoga Teachers. This module gives you a working map of the skeleton: not every one of the 206 bones, but the major ones you will name, feel and cue in every class. You will learn the difference between the axial skeleton, the protective central column of skull, spine and ribs, and the appendicular skeleton of limbs and girdles. Then you will follow the body from the skull down the spine, out through the shoulder to the weight-bearing hand, and down through the pelvis to the foot as the foundation of standing poses. The final lesson turns anatomy into observation. Six bony landmarks, the ASIS, iliac crest, greater trochanter, acromion, C7 and malleoli, let you see alignment from across the room and help students find it in their own bodies. Throughout, we stay honest about what bones can and cannot do: bone shape differs between people, so range differs too, and a teacher's job is to adapt and refer, never to force or diagnose.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module you can classify the major bones as axial or appendicular and describe five functions of bone. By the end of this module you can name the regions of the spine, their vertebra counts and their curves, and explain why twists come mainly from the thoracic spine. By the end of this module you can identify the bones of the shoulder girdle, arm and hand, and give options for students with wrist discomfort in weight-bearing poses. By the end of this module you can describe the pelvis, femur, lower leg and foot, including the foot tripod, and explain why hip range varies between people. By the end of this module you can locate the ASIS, iliac crest, greater trochanter, acromion, C7 and malleoli on yourself and use them in clear, non-forcing cues.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2.1: Axial and appendicular skeleton: what bones do. 206 adult bones: about 80 axial and 126 appendicular. Axial = skull, spine, ribs, sternum. Appendicular = limbs plus shoulder and pelvic girdles. Bones support, protect, act as levers, store minerals and fat, and make blood cells. Bone remodels throughout life and responds to load. Evidence that yoga builds bone is limited: adapt for osteoporosis and refer, never promise a 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the big picture. An adult skeleton has 206 bones, and a newborn has more, closer to 270, because many bones fuse as we grow. You do not need to memorise all 206 to teach yoga. What helps is one simple split. The axial skeleton is the central axis of the body: skull, spine, ribs and breastbone. Think of it as the pole of a tent. The appendicular skeleton is everything that hangs off that pole: the arms and legs, plus the two girdles that connect them, the shoulder girdle and the pelvic girdle. On the diagram, the axial bones are amber and the appendicular bones are green. Notice that the hip bones are green even though they feel central. Hold that thought for lesson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contrast in one view. The axial skeleton is mostly about protection and stability. The skull guards the brain, the spine guards the spinal cord, and the ribs guard the heart and lungs while still moving with every breath. The appendicular skeleton is mostly about movement and contact with the world: the hands that grip the mat and the feet that root into it. Of course nothing is purely one thing. The spine moves a great deal, and the legs are very stable when you stand. But the split gives you a quick map. When a student says their back hurts in a twist, you are in the axial world. When they say their wrist hurts in plank, you are in the appendicular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Bones do more than hold us up. First, support: in Mountain Pose your bones stack so that muscles only need to make small corrections. Second, protection: the skull, spinal column and ribcage wrap the most delicate organs. Third, movement: bones act as levers. Muscles pull on them across joints, and that is every pose you will ever teach. Fourth, storage and production. Bone holds most of the body's calcium and phosphate and releases them into the blood when needed. The red marrow inside some bones, such as the hip bones, sternum and vertebrae, makes red blood cells, white blood cells and platelets. Yellow marrow stores fat. So a skeleton is a working organ system, not a coat hanger.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Bone looks like stone, but it is alive. Cells called osteoclasts break old bone down and osteoblasts lay new bone. This remodelling responds to the forces bone meets, an idea known as Wolff's law. Load a bone regularly and it tends to maintain or build density. Remove load, as in long bed rest or spaceflight, and bone thins. Poses like Plank and Chaturanga put real load through the arm bones, and standing poses load the legs. Be honest with students, though. Some small studies suggest yoga may help bone density, but the evidence is limited and mixed, so do not promise that yoga reverses osteoporosis. If a student tells you they have osteoporosis, avoid forceful, weighted spinal rounding and deep loaded twists, keep balance work safe, and encourage them to follow their doctor's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feel the two halves. Stand in Mountain and tap the top of your head, then your breastbone, then run your fingers along a few ribs. That is your axial skeleton. Now shift your weight into one foot and come into Tree. Your standing leg, from the hip bone to the foot, is appendicular, and right now it is holding the whole axial column up. Raise your arms overhead and notice how your shoulder blades slide over the back of the ribs. The shoulder girdle is appendicular, so it moves on the axial ribcage rather than being welded to it. Finally, take a slow breath and feel the ribcage widen. Even the protective axial skeleton moves with every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moment before the answer. The sternum is the breastbone in the centre of the chest, so it is axial. The sacrum is the base of the spine, so it is axial too, even though it sits inside the pelvis. The scapula, or shoulder blade, is part of the shoulder girdle, and the girdles belong to the appendicular skeleton along with the limbs. A good rule: if it is part of the skull, spine, ribs or sternum, it is axial. If it is a limb or a girdle, it is appendicular.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Scapula. The scapula is part of the shoulder girdle, which connects the arm to the axial skeleton.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2.2: Skull, spine, ribs and sternum. Skull rests on C1 (atlas); C1 turns on C2 (axis). 7 cervical, 12 thoracic, 5 lumbar, then sacrum and coccyx. Four curves: cervical and lumbar lordosis, thoracic and sacral kyphosis. Twist mostly from the thoracic spine; the lumbar spine rotates little. 12 rib pairs: 7 true, 3 false, 2 floating; cartilage allows breathing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skull has two main parts. The cranium is the rounded case around the brain, made of flat bones joined by fixed joints called sutures. The facial bones form the face, and the mandible, or jawbone, is the only skull bone that moves freely, at the temporomandibular joint just in front of the ear. At the back of the skull, the occipital bone has two smooth bumps that rest on the first cervical vertebra, called the atlas, much like the Titan who held up the sky. The nodding yes movement happens largely there. The second vertebra, the axis, has a peg that the atlas pivots around, and about half of the side to side no movement happens at this pair. An average adult head weighs roughly 4.5 to 5 kilograms, so where it sits over the spine matters in every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vertebral column has 24 separate vertebrae plus two fused sections. There are 7 cervical vertebrae in the neck, 12 thoracic vertebrae in the upper and middle back, and 5 lumbar vertebrae in the low back. A simple memory hook is breakfast at 7, lunch at 12 and dinner at 5. Below those is the sacrum, five vertebrae fused into one triangular bone, and the coccyx or tailbone. Look at the side view. The neck and low back curve forward, called lordosis. The thoracic spine and the sacrum curve backward, called kyphosis. These curves act a little like a spring, sharing load. Each vertebra has a solid body at the front that carries weight, separated from the next by an intervertebral disc, and a bony arch at the back that protects the spinal 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region of the spine has vertebrae shaped for its job. The cervical spine is the most mobile. It lets us nod, turn and tilt the head, which is why we avoid putting heavy body weight on it, as in an unsupported headstand for a beginner. The thoracic spine carries the ribs. The ribs make it stiffer for bending back, but the shape of its joints allows good rotation. The lumbar vertebrae are the largest because they carry the most weight. Their joints are shaped to allow bending forward and backward, but they rotate only a few degrees each. This has a direct teaching message: in a seated twist, most of the turn should come from the thoracic spine, the neck and the hips, not from cranking the low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thoracic cage is 12 pairs of ribs, the sternum and the thoracic vertebrae. Every rib joins a thoracic vertebra at the back. At the front, ribs 1 to 7 attach to the sternum through their own strip of cartilage, so they are called true ribs. Ribs 8 to 10 are false ribs because they join the cartilage of the rib above. Ribs 11 and 12 are floating ribs, with no front attachment. The sternum has three parts: the manubrium at the top, the body, and the small xiphoid process at the bottom. The flexible cartilage is what lets the ribcage lift and widen when we breathe in. In Cobra, the thoracic spine extends and the front of the chest broadens. The breathing module will build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find the curves in your own body. Stand with your back near a wall so your heels, the back of your pelvis and your upper back touch it. Now slide a hand into the space behind your low back. That space is your lumbar lordosis. There is a similar space behind your neck: cervical lordosis. Where your upper back touches the wall is the gentle rounding of thoracic kyphosis. Everyone's curves are a little different, and that is normal. Next, place your hands on the sides of your ribs and breathe in slowly. Feel them move out under your hands. Finally, find the dip at the top of your breastbone, the jugular notch, and walk your fingers down to the small tip at the bottom, the xiphoid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anatomy turns into words. In a twist we want the rotation spread along the spine, especially through the thoracic region, which is designed for it. The lumbar spine rotates only a little, so if a student forces a twist by pulling hard with the arms, the extra force tends to land on the low back and the sacroiliac area. The cue invites length first, because slumping reduces how well the thoracic spine can rotate. Then the turn begins at the ribcage and the belly follows. Notice what the cue does not say. It does not promise to wring out toxins or detox organs. Twists are good for spinal movement and they feel good. That is reason enough, and it 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the lumbar spine. The cervical spine rotates a lot, especially at C1 and C2. The thoracic spine rotates well because of how its joints are angled. The lumbar spine is built for bending forward and back, and each segment rotates only slightly. So when you see a student pulling hard into a twist, cue them to lengthen, ease off the arms, and let the turn come from the ribcage. The arms are there to guide the twist, not to force it past where the spine wants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Lumbar spine. Lumbar vertebrae allow only a few degrees of rotation each, so forced twisting tends to load the low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2.3: Shoulder girdle and upper limb, down to the weight bearing hand. Shoulder girdle = clavicle + scapula; only bony link to the trunk is the sternoclavicular joint. Shallow glenoid socket: very mobile, needs muscular support. Humerus above; radius (thumb side) and ulna (little finger side) below. 27 bones per wrist and hand: 8 carpals, 5 metacarpals, 14 phalanges. Weight-bearing hands: spread load through knuckles and fingers, offer wrist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shoulder girdle is two bones on each side: the clavicle, or collarbone, in front and the scapula, or shoulder blade, behind. The clavicle joins the sternum at the sternoclavicular joint, and that small joint is the only bony connection between your whole arm and your trunk. Everything else is held by muscle. The scapula is not attached to the ribs by a joint at all; it glides over them, cushioned by muscle. At its outer corner is the glenoid fossa, a shallow socket for the head of the humerus. A shallow socket means huge mobility, which is why we can reach overhead in Warrior One. It also means the shoulder relies heavily on muscles for stability, so strength matters as much as flexibility for shoulders.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Below the shoulder is the humerus, the long bone of the upper arm. Its rounded head sits in the glenoid fossa. At the elbow it meets two forearm bones. The ulna is on the little finger side, and its bony tip, the olecranon, is the point of your elbow that you lean on. The radius is on the thumb side. When you turn your palm down, called pronation, the radius crosses over the ulna. When you turn it up, supination, they sit side by side. In Downward Dog the palms are pressed flat, so the forearms are pronated, while we often cue the upper arms to rotate outward. That pairing only works because the forearm and the upper arm can rotate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wrist and hand contains 27 bones. The 8 carpal bones sit in two rows at the wrist. The 5 metacarpals form the palm, and the 14 phalanges make the fingers: three in each finger and two in the thumb. The carpals form an arch whose hollow side faces the palm, and that arch forms the floor of the carpal tunnel, through which tendons and the median nerve pass. Here is the key idea for yoga. The hand evolved for gripping and fine skill. In Plank, Chaturanga and Downward Dog we ask it to carry a large share of body weight with the wrist bent back close to its limit. Most people's wrists extend roughly 70 degrees, and Plank asks for nearly 90. No wonder wrist discomfort is a common complaint in vinyasa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onto hands and knees with your wrists roughly under your shoulders. Spread your fingers, but not so far that it strains. First, lean back so most of your weight falls into the heels of your hands, right over the wrist. Notice how that feels. Now lean forward into your fingertips. Then find the middle. Press down through the knuckle at the base of each finger, especially the base of the index finger and the thumb. You may feel the centre of your palm lift a little, like a dome. This is the same idea as the arch of the foot. By spreading the load across the knuckles and fingers, less of it sits in the wrist crease at the heel of the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cue is one of the most useful you will teach. It asks the hand to work actively rather than collapse into the heel of the palm. Many teachers find it helps students with sensitive wrists, and it matches what we know about how the load sits on an extended wrist. It is, however, a practical cue rather than something proven by large trials, so keep other options ready. If a student still has wrist pain, offer a folded mat edge or wedge under the heels of the hands to reduce extension, let them come onto fists or onto the forearms, or shorten the time spent in weight-bearing. And if pain persists or there is numbness or tingling in the fingers, suggest they see a health professional rather than guessing at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the sternoclavicular joint, where the clavicle meets the sternum. The glenohumeral joint is the ball and socket between the humerus and the scapula, and the acromioclavicular joint is where the clavicle meets the acromion of the scapula. Both of those are within the shoulder girdle and arm. This single small bony link is why the shoulder is so mobile, and why muscle strength is so important for keeping it stable in weight-bearing poses like Plank, Chaturanga and Side Plank. Flexibility alone does not protect a shoulder.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Sternoclavicular joint. The clavicle meets the sternum at the sternoclavicular joint; everything else attaching the arm to the trunk is muscle.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2.4: Pelvis and lower limb, down to the foot as foundation. Hip bone = ilium + ischium + pubis, fused; pelvis = two hip bones + sacrum (+ coccyx). Acetabulum is a deep socket: the hip trades range for stability. Femur: head, angled neck, greater trochanter; bone shape varies between people. Tibia carries weight; fibula anchors muscles; malleoli are their lower ends. 26 bones per foot, three arches, and a three-point tripod for grounding.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bony pelvis is a ring. On each side is a hip bone, and at the back sits the sacrum, wedged between them. Each hip bone begins as three separate bones that fuse during the teenage years. The ilium is the broad upper wing, whose top edge is the iliac crest where your hands rest on your hips. The ischium is the lower back part, and its thick bottom edge, the ischial tuberosity, is your sitting bone. The pubis is at the front. The two hip bones meet at the front at the pubic symphysis, a joint with a pad of cartilage. At the back each hip bone meets the sacrum at a sacroiliac joint, which is very strong and moves only a few degrees. Where the three parts meet is the acetabulum, the cup-shaped socket for the head of the femur.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the two girdles explains a great deal about practice. The shoulder girdle is light and open at the back, it floats on the ribcage, and its socket is shallow. It trades stability for range. The pelvic girdle is a heavy, closed ring firmly joined to the spine through the sacrum, and its socket, the acetabulum, is deep and cups much of the femoral head. It trades range for stability, because it carries the whole upper body. This is why the hips generally feel steadier in standing poses, and why shoulders need more active muscular support in arm balances. It also reminds us that when a student lacks hip range, the limit may be the shape of the bones, not only tight muscles.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femur is the longest and strongest bone in the body. Its ball-shaped head sits in the acetabulum. Below the head is the neck, which angles outward at about 125 degrees in an average adult, leading to a big bony knob at the side, the greater trochanter. The shaft then slopes inward so that the knees sit closer together than the hips. Here is the part many trainings miss. The angle of the femoral neck, its forward twist, and the depth and direction of the socket all vary from person to person. Two students with equally flexible muscles can reach very different depths in Warrior Two or Lotus because their bones meet at different points. So we teach the pose to the student's body, and we never force a joint past where bone meets bone.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knee, the rounded ends of the femur, called condyles, rest on the flat top of the tibia, with cartilage pads called menisci between them. The patella, or kneecap, is a sesamoid bone that sits inside the quadriceps tendon and glides in a groove on the front of the femur, giving the thigh muscles better leverage. Below the knee, the tibia or shinbone carries most of the body's weight. The fibula is thin and sits on the outside. It carries only a small share of load and mainly anchors muscles. At the ankle, the lower end of the tibia forms the inner ankle bone, the medial malleolus, and the lower end of the fibula forms the outer ankle bone, the lateral malleolus. In Chair Pose we ask the knees to track in line with the feet so load passes through the tibia evenly.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foot has 26 bones: 7 tarsals including the talus and the heel bone or calcaneus, 5 metatarsals and 14 phalanges. They form three arches: the long inner or medial arch, the long outer or lateral arch, and the transverse arch across the middle of the foot. Let's feel them. Stand in Mountain and lift all your toes. Notice weight settling into three points: the mound under the big toe, the mound under the little toe and the centre of the heel. That is the foot tripod. Keep those three points down and lower the toes softly. You may feel the inner arch lift slightly. Arch height varies a lot between healthy people, and a low arch is not automatically a problem, so we invite this rather than correct feet.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the fibula. The lower end of the fibula forms the outer ankle bone, which sits a little lower and further back than the inner one. The tibia forms the inner ankle bone, the medial malleolus. The talus sits between the two malleoli like a block in a slot, and has no muscles attached to it at all. Knowing these bumps helps in Tree Pose, where we place the foot above or below the knee, and in any pose where you want to check that weight is spread evenly across the ankle.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Fibula. The lateral malleolus is the lower end of the fibula; the medial malleolus is the lower end of the tibia.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2.5: Landmarks you can see and cue: ASIS, iliac crest, greater trochanter, acromion, C7, malleoli. ASIS = front hip points; they show where the pelvis faces. Iliac crests = hands-on-hips line, level with about L4; PSIS dimples sit below at the back. Greater trochanter rolls as the thigh rotates. Acromion = top of the shoulder; C7 = biggest bump at the base of the neck. Medial malleolus (tibia) is higher; lateral malleolus (fibula) is lower. Observe, never diagnose.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landmark is a point of bone close enough to the surface that you can see it or feel it. For a teacher they are gold, because they turn invisible anatomy into something you can observe from across the room and something students can find with their own hands. This lesson covers six: the ASIS at the front of the pelvis, the iliac crest along the top of the pelvis, the greater trochanter at the side of the hip, the acromion at the top of the shoulder, the C7 vertebra at the base of the neck and the malleoli at the ankle. We will add the PSIS dimples at the back. One caution before we begin. Landmarks help you see, but real bodies are not perfectly symmetrical, and small differences are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anterior superior iliac spine, or ASIS, is the bony point at the front of each hip, where the iliac crest ends. Most people can feel it easily when they put their hands on their hips and slide them forward. In Warrior One, looking at the two ASIS points tells you which way the pelvis is facing. The old cue was square the hips to the front. Many students cannot do that comfortably, because the back hip would have to extend and turn inward further than its bones and tissues allow, and the strain then shifts to the knee or low back. So the modern cue is toward the front, as far as comfortable. A shorter, wider stance also helps. The landmark is a guide for noticing, not a target to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iliac crest is the long curved top of the ilium. When students put their hands on their hips, their hands rest on it. From behind, you can often see whether the two crests look level. If one looks higher, that may reflect how the student is standing, a leg length difference, or simply normal asymmetry. It is something to notice, never something to diagnose. Clinicians use a useful fact: a line joining the tops of the two crests crosses the spine at about the fourth lumbar vertebra. That helps you locate the low back. Just below the back of the crests are two small dimples, the posterior superior iliac spines or PSIS, which mark roughly where the sacroiliac joints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acromion is the flat bony shelf at the very top of the shoulder, part of the scapula. Walk your fingers out along the collarbone to the edge of the shoulder and you will find it. In Warrior Two, looking at the acromions tells you whether the shoulders are hiked toward the ears or evenly spread. C7 is the seventh cervical vertebra. Its spinous process is usually the most prominent bump at the base of the neck. A handy trick: place a finger on the biggest bump and look up. If it slides away under your finger, it was C6, and C7 is the next one down. In forward folds or in Cobra, a long, soft area around C7 is a sign the neck is not being cranked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greater trochanter is the big bump on the outside of the upper thigh, about a hand's width below the iliac crest. Put your hand on it and turn your foot in and out, and you will feel it roll back and forth, because it is part of the femur. It is a good way for students to feel hip rotation in Warrior Two or Triangle. At the ankle, the medial malleolus is the inner ankle bone, the end of the tibia, and the lateral malleolus is the outer ankle bone, the end of the fibula. The outer one sits lower and further back. In Tree Pose, we invite the lifted foot to press above or below the knee rather than on the side of the knee joint, which is not built to be pushed sideways.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tour of your own landmarks. Stand in Mountain and put your hands on your hips. That is the iliac crest. Slide your fingers forward and down to the front hip points: the ASIS. Now slide your thumbs back to the low back and feel for two small dimples on either side of the sacrum: the PSIS. Next, drop a hand to the side of your upper thigh, find the big bony bump, and turn your foot in and out. That is the greater trochanter moving. Then trace a collarbone outward to the flat shelf at the top of the shoulder, the acromion. Find the big bump at the base of your neck, C7. Finally, reach down and touch the inner and outer ankle bones.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to invite, not force. Pushing on someone's pelvis without consent is never acceptable, and even with consent, forcing a pelvis to square can shift strain into the knee, sacroiliac joint or low back. Telling a student their pelvis is misaligned is a diagnosis, which is outside our scope, and it may cause needless worry. A shorter, wider stance gives the back hip more room. Using the ASIS as a reference simply helps the student notice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Invite the hips toward the front as far as comfortable, and offer a shorter, wider stance. Bone shape and back hip range limit how square the pelvis can get, so invite and offer options rather than force or diagnose.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terms for review. Axial skeleton, Appendicular skeleton, Vertebra, Lordosis, Kyphosis, Intervertebral disc, Atlas and axis (C1, C2), Sternum, Clavicle, Scapula, Radius and ulna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terms for review. Carpals, Ilium, ischium and pubis, Acetabulum, Femur, Patella, Tibia and fibula, Foot tripod, ASIS, Greater trochanter, Acromion, Malleoli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misconceptions and what is actually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and point trainees to the module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3A"/>
        </a:solidFill>
      </p:bgPr>
    </p:bg>
    <p:spTree>
      <p:nvGrpSpPr>
        <p:cNvPr id="1" name=""/>
        <p:cNvGrpSpPr/>
        <p:nvPr/>
      </p:nvGrpSpPr>
      <p:grpSpPr>
        <a:xfrm>
          <a:off x="0" y="0"/>
          <a:ext cx="0" cy="0"/>
          <a:chOff x="0" y="0"/>
          <a:chExt cx="0" cy="0"/>
        </a:xfrm>
      </p:grpSpPr>
      <p:sp>
        <p:nvSpPr>
          <p:cNvPr id="2" name="Text 0"/>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400" b="1" spc="400" kern="0" dirty="0">
                <a:solidFill>
                  <a:srgbClr val="CBB78C"/>
                </a:solidFill>
                <a:latin typeface="Calibri" pitchFamily="34" charset="0"/>
                <a:ea typeface="Calibri" pitchFamily="34" charset="-122"/>
                <a:cs typeface="Calibri" pitchFamily="34" charset="-120"/>
              </a:rPr>
              <a:t>MODULE 2</a:t>
            </a:r>
            <a:endParaRPr lang="en-US" sz="1400" dirty="0"/>
          </a:p>
        </p:txBody>
      </p:sp>
      <p:sp>
        <p:nvSpPr>
          <p:cNvPr id="3" name="Text 1"/>
          <p:cNvSpPr txBox="1"/>
          <p:nvPr/>
        </p:nvSpPr>
        <p:spPr>
          <a:xfrm>
            <a:off x="548640" y="1645920"/>
            <a:ext cx="7498080" cy="1737360"/>
          </a:xfrm>
          <a:prstGeom prst="rect">
            <a:avLst/>
          </a:prstGeom>
          <a:noFill/>
          <a:ln/>
        </p:spPr>
        <p:txBody>
          <a:bodyPr wrap="square" lIns="0" tIns="0" rIns="0" bIns="0" rtlCol="0" anchor="t">
            <a:normAutofit/>
          </a:bodyPr>
          <a:lstStyle/>
          <a:p>
            <a:pPr indent="0" marL="0">
              <a:buNone/>
            </a:pPr>
            <a:r>
              <a:rPr lang="en-US" sz="4400" b="1" dirty="0">
                <a:solidFill>
                  <a:srgbClr val="FFFFFF"/>
                </a:solidFill>
                <a:latin typeface="Cambria" pitchFamily="34" charset="0"/>
                <a:ea typeface="Cambria" pitchFamily="34" charset="-122"/>
                <a:cs typeface="Cambria" pitchFamily="34" charset="-120"/>
              </a:rPr>
              <a:t>The Skeleton for Yoga Teachers</a:t>
            </a:r>
            <a:endParaRPr lang="en-US" sz="4400" dirty="0"/>
          </a:p>
        </p:txBody>
      </p:sp>
      <p:sp>
        <p:nvSpPr>
          <p:cNvPr id="4" name="Text 2"/>
          <p:cNvSpPr txBox="1"/>
          <p:nvPr/>
        </p:nvSpPr>
        <p:spPr>
          <a:xfrm>
            <a:off x="548640" y="3566160"/>
            <a:ext cx="6949440" cy="914400"/>
          </a:xfrm>
          <a:prstGeom prst="rect">
            <a:avLst/>
          </a:prstGeom>
          <a:noFill/>
          <a:ln/>
        </p:spPr>
        <p:txBody>
          <a:bodyPr wrap="square" lIns="0" tIns="0" rIns="0" bIns="0" rtlCol="0" anchor="t"/>
          <a:lstStyle/>
          <a:p>
            <a:pPr indent="0" marL="0">
              <a:buNone/>
            </a:pPr>
            <a:r>
              <a:rPr lang="en-US" sz="1800" dirty="0">
                <a:solidFill>
                  <a:srgbClr val="D6E3E0"/>
                </a:solidFill>
                <a:latin typeface="Calibri" pitchFamily="34" charset="0"/>
                <a:ea typeface="Calibri" pitchFamily="34" charset="-122"/>
                <a:cs typeface="Calibri" pitchFamily="34" charset="-120"/>
              </a:rPr>
              <a:t>Bones are the frame every pose is built on, and the landmarks you can see are how a teacher reads that frame in a room.</a:t>
            </a:r>
            <a:endParaRPr lang="en-US" sz="1800" dirty="0"/>
          </a:p>
        </p:txBody>
      </p:sp>
      <p:sp>
        <p:nvSpPr>
          <p:cNvPr id="5" name="Text 3"/>
          <p:cNvSpPr txBox="1"/>
          <p:nvPr/>
        </p:nvSpPr>
        <p:spPr>
          <a:xfrm>
            <a:off x="548640" y="4846320"/>
            <a:ext cx="7315200" cy="365760"/>
          </a:xfrm>
          <a:prstGeom prst="rect">
            <a:avLst/>
          </a:prstGeom>
          <a:noFill/>
          <a:ln/>
        </p:spPr>
        <p:txBody>
          <a:bodyPr wrap="square" lIns="0" tIns="0" rIns="0" bIns="0" rtlCol="0" anchor="ctr"/>
          <a:lstStyle/>
          <a:p>
            <a:pPr indent="0" marL="0">
              <a:buNone/>
            </a:pPr>
            <a:r>
              <a:rPr lang="en-US" sz="1300" dirty="0">
                <a:solidFill>
                  <a:srgbClr val="CBB78C"/>
                </a:solidFill>
                <a:latin typeface="Calibri" pitchFamily="34" charset="0"/>
                <a:ea typeface="Calibri" pitchFamily="34" charset="-122"/>
                <a:cs typeface="Calibri" pitchFamily="34" charset="-120"/>
              </a:rPr>
              <a:t>2 hours  ·  5 lessons  ·  Anatomy &amp; Physiology for Vinyasa Teachers</a:t>
            </a:r>
            <a:endParaRPr lang="en-US" sz="1300" dirty="0"/>
          </a:p>
        </p:txBody>
      </p:sp>
      <p:sp>
        <p:nvSpPr>
          <p:cNvPr id="6" name="Shape 4"/>
          <p:cNvSpPr/>
          <p:nvPr/>
        </p:nvSpPr>
        <p:spPr>
          <a:xfrm>
            <a:off x="8138160" y="1005840"/>
            <a:ext cx="3566160" cy="3566160"/>
          </a:xfrm>
          <a:prstGeom prst="ellipse">
            <a:avLst/>
          </a:prstGeom>
          <a:solidFill>
            <a:srgbClr val="22414D"/>
          </a:solidFill>
          <a:ln w="12700">
            <a:solidFill>
              <a:srgbClr val="22414D"/>
            </a:solidFill>
            <a:prstDash val="solid"/>
          </a:ln>
        </p:spPr>
      </p:sp>
      <p:pic>
        <p:nvPicPr>
          <p:cNvPr id="7" name="Image 0" descr="Pose figure">    </p:cNvPr>
          <p:cNvPicPr>
            <a:picLocks noChangeAspect="1"/>
          </p:cNvPicPr>
          <p:nvPr/>
        </p:nvPicPr>
        <p:blipFill>
          <a:blip r:embed="rId1"/>
          <a:stretch>
            <a:fillRect/>
          </a:stretch>
        </p:blipFill>
        <p:spPr>
          <a:xfrm>
            <a:off x="9071845" y="1508760"/>
            <a:ext cx="1698791" cy="2560320"/>
          </a:xfrm>
          <a:prstGeom prst="rect">
            <a:avLst/>
          </a:prstGeom>
        </p:spPr>
      </p:pic>
      <p:sp>
        <p:nvSpPr>
          <p:cNvPr id="8" name="Text 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2 OBJECTIVES</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548640" y="1737360"/>
            <a:ext cx="420624" cy="420624"/>
          </a:xfrm>
          <a:prstGeom prst="ellipse">
            <a:avLst/>
          </a:prstGeom>
          <a:solidFill>
            <a:srgbClr val="B3304C"/>
          </a:solidFill>
          <a:ln w="12700">
            <a:solidFill>
              <a:srgbClr val="B3304C"/>
            </a:solidFill>
            <a:prstDash val="solid"/>
          </a:ln>
        </p:spPr>
      </p:sp>
      <p:sp>
        <p:nvSpPr>
          <p:cNvPr id="5" name="Text 3"/>
          <p:cNvSpPr txBox="1"/>
          <p:nvPr/>
        </p:nvSpPr>
        <p:spPr>
          <a:xfrm>
            <a:off x="548640"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88720" y="1691640"/>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By the end of this module you can classify the major bones as axial or appendicular and describe five functions of bone.</a:t>
            </a:r>
            <a:endParaRPr lang="en-US" sz="1600" dirty="0"/>
          </a:p>
        </p:txBody>
      </p:sp>
      <p:sp>
        <p:nvSpPr>
          <p:cNvPr id="7" name="Shape 5"/>
          <p:cNvSpPr/>
          <p:nvPr/>
        </p:nvSpPr>
        <p:spPr>
          <a:xfrm>
            <a:off x="548640" y="2450592"/>
            <a:ext cx="420624" cy="420624"/>
          </a:xfrm>
          <a:prstGeom prst="ellipse">
            <a:avLst/>
          </a:prstGeom>
          <a:solidFill>
            <a:srgbClr val="B3304C"/>
          </a:solidFill>
          <a:ln w="12700">
            <a:solidFill>
              <a:srgbClr val="B3304C"/>
            </a:solidFill>
            <a:prstDash val="solid"/>
          </a:ln>
        </p:spPr>
      </p:sp>
      <p:sp>
        <p:nvSpPr>
          <p:cNvPr id="8" name="Text 6"/>
          <p:cNvSpPr txBox="1"/>
          <p:nvPr/>
        </p:nvSpPr>
        <p:spPr>
          <a:xfrm>
            <a:off x="548640"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188720" y="2404872"/>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By the end of this module you can name the regions of the spine, their vertebra counts and their curves, and explain why twists come mainly from the thoracic spine.</a:t>
            </a:r>
            <a:endParaRPr lang="en-US" sz="1600" dirty="0"/>
          </a:p>
        </p:txBody>
      </p:sp>
      <p:sp>
        <p:nvSpPr>
          <p:cNvPr id="10" name="Shape 8"/>
          <p:cNvSpPr/>
          <p:nvPr/>
        </p:nvSpPr>
        <p:spPr>
          <a:xfrm>
            <a:off x="548640" y="3163824"/>
            <a:ext cx="420624" cy="420624"/>
          </a:xfrm>
          <a:prstGeom prst="ellipse">
            <a:avLst/>
          </a:prstGeom>
          <a:solidFill>
            <a:srgbClr val="B3304C"/>
          </a:solidFill>
          <a:ln w="12700">
            <a:solidFill>
              <a:srgbClr val="B3304C"/>
            </a:solidFill>
            <a:prstDash val="solid"/>
          </a:ln>
        </p:spPr>
      </p:sp>
      <p:sp>
        <p:nvSpPr>
          <p:cNvPr id="11" name="Text 9"/>
          <p:cNvSpPr txBox="1"/>
          <p:nvPr/>
        </p:nvSpPr>
        <p:spPr>
          <a:xfrm>
            <a:off x="548640" y="316382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188720" y="3118104"/>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By the end of this module you can identify the bones of the shoulder girdle, arm and hand, and give options for students with wrist discomfort in weight-bearing poses.</a:t>
            </a:r>
            <a:endParaRPr lang="en-US" sz="1600" dirty="0"/>
          </a:p>
        </p:txBody>
      </p:sp>
      <p:sp>
        <p:nvSpPr>
          <p:cNvPr id="13" name="Shape 11"/>
          <p:cNvSpPr/>
          <p:nvPr/>
        </p:nvSpPr>
        <p:spPr>
          <a:xfrm>
            <a:off x="548640" y="3877056"/>
            <a:ext cx="420624" cy="420624"/>
          </a:xfrm>
          <a:prstGeom prst="ellipse">
            <a:avLst/>
          </a:prstGeom>
          <a:solidFill>
            <a:srgbClr val="B3304C"/>
          </a:solidFill>
          <a:ln w="12700">
            <a:solidFill>
              <a:srgbClr val="B3304C"/>
            </a:solidFill>
            <a:prstDash val="solid"/>
          </a:ln>
        </p:spPr>
      </p:sp>
      <p:sp>
        <p:nvSpPr>
          <p:cNvPr id="14" name="Text 12"/>
          <p:cNvSpPr txBox="1"/>
          <p:nvPr/>
        </p:nvSpPr>
        <p:spPr>
          <a:xfrm>
            <a:off x="548640" y="38770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188720" y="3831336"/>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By the end of this module you can describe the pelvis, femur, lower leg and foot, including the foot tripod, and explain why hip range varies between people.</a:t>
            </a:r>
            <a:endParaRPr lang="en-US" sz="1600" dirty="0"/>
          </a:p>
        </p:txBody>
      </p:sp>
      <p:sp>
        <p:nvSpPr>
          <p:cNvPr id="16" name="Shape 14"/>
          <p:cNvSpPr/>
          <p:nvPr/>
        </p:nvSpPr>
        <p:spPr>
          <a:xfrm>
            <a:off x="548640" y="4590288"/>
            <a:ext cx="420624" cy="420624"/>
          </a:xfrm>
          <a:prstGeom prst="ellipse">
            <a:avLst/>
          </a:prstGeom>
          <a:solidFill>
            <a:srgbClr val="B3304C"/>
          </a:solidFill>
          <a:ln w="12700">
            <a:solidFill>
              <a:srgbClr val="B3304C"/>
            </a:solidFill>
            <a:prstDash val="solid"/>
          </a:ln>
        </p:spPr>
      </p:sp>
      <p:sp>
        <p:nvSpPr>
          <p:cNvPr id="17" name="Text 15"/>
          <p:cNvSpPr txBox="1"/>
          <p:nvPr/>
        </p:nvSpPr>
        <p:spPr>
          <a:xfrm>
            <a:off x="548640" y="459028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1188720" y="4544568"/>
            <a:ext cx="6766560" cy="548640"/>
          </a:xfrm>
          <a:prstGeom prst="rect">
            <a:avLst/>
          </a:prstGeom>
          <a:noFill/>
          <a:ln/>
        </p:spPr>
        <p:txBody>
          <a:bodyPr wrap="square" lIns="0" tIns="0" rIns="0" bIns="0" rtlCol="0" anchor="ctr">
            <a:normAutofit/>
          </a:bodyPr>
          <a:lstStyle/>
          <a:p>
            <a:pPr indent="0" marL="0">
              <a:buNone/>
            </a:pPr>
            <a:r>
              <a:rPr lang="en-US" sz="1600" dirty="0">
                <a:solidFill>
                  <a:srgbClr val="16303A"/>
                </a:solidFill>
                <a:latin typeface="Calibri" pitchFamily="34" charset="0"/>
                <a:ea typeface="Calibri" pitchFamily="34" charset="-122"/>
                <a:cs typeface="Calibri" pitchFamily="34" charset="-120"/>
              </a:rPr>
              <a:t>By the end of this module you can locate the ASIS, iliac crest, greater trochanter, acromion, C7 and malleoli on yourself and use them in clear, non-forcing cues.</a:t>
            </a:r>
            <a:endParaRPr lang="en-US" sz="1600" dirty="0"/>
          </a:p>
        </p:txBody>
      </p:sp>
      <p:sp>
        <p:nvSpPr>
          <p:cNvPr id="19" name="Shape 17"/>
          <p:cNvSpPr/>
          <p:nvPr/>
        </p:nvSpPr>
        <p:spPr>
          <a:xfrm>
            <a:off x="8229600" y="1737360"/>
            <a:ext cx="3383280" cy="4023360"/>
          </a:xfrm>
          <a:prstGeom prst="roundRect">
            <a:avLst>
              <a:gd name="adj" fmla="val 3243"/>
            </a:avLst>
          </a:prstGeom>
          <a:solidFill>
            <a:srgbClr val="EDF2EF"/>
          </a:solidFill>
          <a:ln w="12700">
            <a:solidFill>
              <a:srgbClr val="EDF2EF"/>
            </a:solidFill>
            <a:prstDash val="solid"/>
          </a:ln>
        </p:spPr>
      </p:sp>
      <p:sp>
        <p:nvSpPr>
          <p:cNvPr id="20" name="Text 18"/>
          <p:cNvSpPr txBox="1"/>
          <p:nvPr/>
        </p:nvSpPr>
        <p:spPr>
          <a:xfrm>
            <a:off x="8458200" y="1874520"/>
            <a:ext cx="2926080" cy="274320"/>
          </a:xfrm>
          <a:prstGeom prst="rect">
            <a:avLst/>
          </a:prstGeom>
          <a:noFill/>
          <a:ln/>
        </p:spPr>
        <p:txBody>
          <a:bodyPr wrap="square" lIns="0" tIns="0" rIns="0" bIns="0" rtlCol="0" anchor="ctr"/>
          <a:lstStyle/>
          <a:p>
            <a:pPr indent="0" marL="0">
              <a:buNone/>
            </a:pPr>
            <a:r>
              <a:rPr lang="en-US" sz="1000" b="1" spc="300" kern="0" dirty="0">
                <a:solidFill>
                  <a:srgbClr val="55707A"/>
                </a:solidFill>
                <a:latin typeface="Calibri" pitchFamily="34" charset="0"/>
                <a:ea typeface="Calibri" pitchFamily="34" charset="-122"/>
                <a:cs typeface="Calibri" pitchFamily="34" charset="-120"/>
              </a:rPr>
              <a:t>LESSONS</a:t>
            </a:r>
            <a:endParaRPr lang="en-US" sz="1000" dirty="0"/>
          </a:p>
        </p:txBody>
      </p:sp>
      <p:sp>
        <p:nvSpPr>
          <p:cNvPr id="21" name="Text 19"/>
          <p:cNvSpPr txBox="1"/>
          <p:nvPr/>
        </p:nvSpPr>
        <p:spPr>
          <a:xfrm>
            <a:off x="8458200" y="2194560"/>
            <a:ext cx="2971800" cy="347472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2.1  Axial and appendicular skeleton: what bones do</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2.2  Skull, spine, ribs and sternum</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2.3  Shoulder girdle and upper limb, down to the weight bearing hand</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2.4  Pelvis and lower limb, down to the foot as foundation</a:t>
            </a:r>
            <a:endParaRPr lang="en-US" sz="1150" dirty="0"/>
          </a:p>
          <a:p>
            <a:pPr indent="0" marL="0">
              <a:spcAft>
                <a:spcPts val="600"/>
              </a:spcAft>
              <a:buNone/>
            </a:pPr>
            <a:r>
              <a:rPr lang="en-US" sz="1150" dirty="0">
                <a:solidFill>
                  <a:srgbClr val="16303A"/>
                </a:solidFill>
                <a:latin typeface="Calibri" pitchFamily="34" charset="0"/>
                <a:ea typeface="Calibri" pitchFamily="34" charset="-122"/>
                <a:cs typeface="Calibri" pitchFamily="34" charset="-120"/>
              </a:rPr>
              <a:t>2.5  Landmarks you can see and cue: ASIS, iliac crest, greater trochanter, acromion, C7, malleoli</a:t>
            </a:r>
            <a:endParaRPr lang="en-US" sz="1150" dirty="0"/>
          </a:p>
        </p:txBody>
      </p:sp>
      <p:sp>
        <p:nvSpPr>
          <p:cNvPr id="22" name="Text 20"/>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3" name="Text 21"/>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2.1</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2.1  ·  20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Axial and appendicular skeleton: what bones do</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Bones in the adult skeleton</a:t>
            </a:r>
            <a:endParaRPr lang="en-US" sz="3000" dirty="0"/>
          </a:p>
        </p:txBody>
      </p:sp>
      <p:sp>
        <p:nvSpPr>
          <p:cNvPr id="4" name="Text 2"/>
          <p:cNvSpPr txBox="1"/>
          <p:nvPr/>
        </p:nvSpPr>
        <p:spPr>
          <a:xfrm>
            <a:off x="548640" y="1737360"/>
            <a:ext cx="4846320" cy="1737360"/>
          </a:xfrm>
          <a:prstGeom prst="rect">
            <a:avLst/>
          </a:prstGeom>
          <a:noFill/>
          <a:ln/>
        </p:spPr>
        <p:txBody>
          <a:bodyPr wrap="square" lIns="0" tIns="0" rIns="0" bIns="0" rtlCol="0" anchor="ctr">
            <a:normAutofit/>
          </a:bodyPr>
          <a:lstStyle/>
          <a:p>
            <a:pPr indent="0" marL="0">
              <a:buNone/>
            </a:pPr>
            <a:r>
              <a:rPr lang="en-US" sz="9600" b="1" dirty="0">
                <a:solidFill>
                  <a:srgbClr val="B3304C"/>
                </a:solidFill>
                <a:latin typeface="Cambria" pitchFamily="34" charset="0"/>
                <a:ea typeface="Cambria" pitchFamily="34" charset="-122"/>
                <a:cs typeface="Cambria" pitchFamily="34" charset="-120"/>
              </a:rPr>
              <a:t>206</a:t>
            </a:r>
            <a:endParaRPr lang="en-US" sz="9600" dirty="0"/>
          </a:p>
        </p:txBody>
      </p:sp>
      <p:sp>
        <p:nvSpPr>
          <p:cNvPr id="5" name="Text 3"/>
          <p:cNvSpPr txBox="1"/>
          <p:nvPr/>
        </p:nvSpPr>
        <p:spPr>
          <a:xfrm>
            <a:off x="548640" y="3657600"/>
            <a:ext cx="4846320" cy="2194560"/>
          </a:xfrm>
          <a:prstGeom prst="rect">
            <a:avLst/>
          </a:prstGeom>
          <a:noFill/>
          <a:ln/>
        </p:spPr>
        <p:txBody>
          <a:bodyPr wrap="square" lIns="0" tIns="0" rIns="0" bIns="0" rtlCol="0" anchor="t">
            <a:normAutofit/>
          </a:bodyPr>
          <a:lstStyle/>
          <a:p>
            <a:pPr indent="0" marL="0">
              <a:buNone/>
            </a:pPr>
            <a:r>
              <a:rPr lang="en-US" sz="2000" dirty="0">
                <a:solidFill>
                  <a:srgbClr val="16303A"/>
                </a:solidFill>
                <a:latin typeface="Calibri" pitchFamily="34" charset="0"/>
                <a:ea typeface="Calibri" pitchFamily="34" charset="-122"/>
                <a:cs typeface="Calibri" pitchFamily="34" charset="-120"/>
              </a:rPr>
              <a:t>About 80 form the axial skeleton down the midline. The other 126 form the appendicular skeleton: the limbs and the girdles that attach them.</a:t>
            </a:r>
            <a:endParaRPr lang="en-US" sz="2000" dirty="0"/>
          </a:p>
        </p:txBody>
      </p:sp>
      <p:sp>
        <p:nvSpPr>
          <p:cNvPr id="6" name="Shape 4"/>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7" name="Image 0" descr="Axial skeleton in amber, appendicular in green">    </p:cNvPr>
          <p:cNvPicPr>
            <a:picLocks noChangeAspect="1"/>
          </p:cNvPicPr>
          <p:nvPr/>
        </p:nvPicPr>
        <p:blipFill>
          <a:blip r:embed="rId1"/>
          <a:stretch>
            <a:fillRect/>
          </a:stretch>
        </p:blipFill>
        <p:spPr>
          <a:xfrm>
            <a:off x="5806440" y="1959102"/>
            <a:ext cx="5669280" cy="3543300"/>
          </a:xfrm>
          <a:prstGeom prst="rect">
            <a:avLst/>
          </a:prstGeom>
        </p:spPr>
      </p:pic>
      <p:sp>
        <p:nvSpPr>
          <p:cNvPr id="8" name="Text 5"/>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  </a:t>
            </a:r>
            <a:pPr indent="0" marL="0">
              <a:buNone/>
            </a:pPr>
            <a:r>
              <a:rPr lang="en-US" sz="1100" dirty="0">
                <a:solidFill>
                  <a:srgbClr val="55707A"/>
                </a:solidFill>
                <a:latin typeface="Calibri" pitchFamily="34" charset="0"/>
                <a:ea typeface="Calibri" pitchFamily="34" charset="-122"/>
                <a:cs typeface="Calibri" pitchFamily="34" charset="-120"/>
              </a:rPr>
              <a:t>Axial skeleton in amber, appendicular in green</a:t>
            </a:r>
            <a:endParaRPr lang="en-US" sz="1100" dirty="0"/>
          </a:p>
        </p:txBody>
      </p:sp>
      <p:sp>
        <p:nvSpPr>
          <p:cNvPr id="9" name="Text 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0" name="Text 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Two halves of one skeleton</a:t>
            </a:r>
            <a:endParaRPr lang="en-US" sz="3000" dirty="0"/>
          </a:p>
        </p:txBody>
      </p:sp>
      <p:sp>
        <p:nvSpPr>
          <p:cNvPr id="4" name="Shape 2"/>
          <p:cNvSpPr/>
          <p:nvPr/>
        </p:nvSpPr>
        <p:spPr>
          <a:xfrm>
            <a:off x="548640" y="1783080"/>
            <a:ext cx="5394960" cy="4297680"/>
          </a:xfrm>
          <a:prstGeom prst="roundRect">
            <a:avLst>
              <a:gd name="adj" fmla="val 2553"/>
            </a:avLst>
          </a:prstGeom>
          <a:solidFill>
            <a:srgbClr val="F1EADA"/>
          </a:solidFill>
          <a:ln w="12700">
            <a:solidFill>
              <a:srgbClr val="F1EADA"/>
            </a:solidFill>
            <a:prstDash val="solid"/>
          </a:ln>
        </p:spPr>
      </p:sp>
      <p:sp>
        <p:nvSpPr>
          <p:cNvPr id="5" name="Text 3"/>
          <p:cNvSpPr txBox="1"/>
          <p:nvPr/>
        </p:nvSpPr>
        <p:spPr>
          <a:xfrm>
            <a:off x="82296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Axial (about 80)</a:t>
            </a:r>
            <a:endParaRPr lang="en-US" sz="2200" dirty="0"/>
          </a:p>
        </p:txBody>
      </p:sp>
      <p:sp>
        <p:nvSpPr>
          <p:cNvPr id="6" name="Text 4"/>
          <p:cNvSpPr txBox="1"/>
          <p:nvPr/>
        </p:nvSpPr>
        <p:spPr>
          <a:xfrm>
            <a:off x="82296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Skull, spine, ribs, sternum</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Protects brain, cord, heart, lungs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Built mainly for stability</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Home of breath and posture</a:t>
            </a:r>
            <a:endParaRPr lang="en-US" sz="1700" dirty="0"/>
          </a:p>
        </p:txBody>
      </p:sp>
      <p:sp>
        <p:nvSpPr>
          <p:cNvPr id="7" name="Shape 5"/>
          <p:cNvSpPr/>
          <p:nvPr/>
        </p:nvSpPr>
        <p:spPr>
          <a:xfrm>
            <a:off x="6217920" y="1783080"/>
            <a:ext cx="5394960" cy="4297680"/>
          </a:xfrm>
          <a:prstGeom prst="roundRect">
            <a:avLst>
              <a:gd name="adj" fmla="val 2553"/>
            </a:avLst>
          </a:prstGeom>
          <a:solidFill>
            <a:srgbClr val="D5E9DF"/>
          </a:solidFill>
          <a:ln w="12700">
            <a:solidFill>
              <a:srgbClr val="D5E9DF"/>
            </a:solidFill>
            <a:prstDash val="solid"/>
          </a:ln>
        </p:spPr>
      </p:sp>
      <p:sp>
        <p:nvSpPr>
          <p:cNvPr id="8" name="Text 6"/>
          <p:cNvSpPr txBox="1"/>
          <p:nvPr/>
        </p:nvSpPr>
        <p:spPr>
          <a:xfrm>
            <a:off x="649224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Appendicular (about 126)</a:t>
            </a:r>
            <a:endParaRPr lang="en-US" sz="2200" dirty="0"/>
          </a:p>
        </p:txBody>
      </p:sp>
      <p:sp>
        <p:nvSpPr>
          <p:cNvPr id="9" name="Text 7"/>
          <p:cNvSpPr txBox="1"/>
          <p:nvPr/>
        </p:nvSpPr>
        <p:spPr>
          <a:xfrm>
            <a:off x="649224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Shoulder and pelvic girdles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Arms, hands, legs, feet</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Built mainly for movement</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Reaches, grips, steps, balances</a:t>
            </a:r>
            <a:endParaRPr lang="en-US" sz="17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What bones actually do</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Support: a frame to stand and hold poses</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Protect: skull, spine and ribs guard vital organs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Move: bones are levers that muscles pull on</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Store and make: minerals, fat and blood cells</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Mountain: bones stacked to carry load with little effort">    </p:cNvPr>
          <p:cNvPicPr>
            <a:picLocks noChangeAspect="1"/>
          </p:cNvPicPr>
          <p:nvPr/>
        </p:nvPicPr>
        <p:blipFill>
          <a:blip r:embed="rId1"/>
          <a:stretch>
            <a:fillRect/>
          </a:stretch>
        </p:blipFill>
        <p:spPr>
          <a:xfrm>
            <a:off x="8067738" y="1901952"/>
            <a:ext cx="2426844"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  </a:t>
            </a:r>
            <a:pPr indent="0" marL="0">
              <a:buNone/>
            </a:pPr>
            <a:r>
              <a:rPr lang="en-US" sz="1100" dirty="0">
                <a:solidFill>
                  <a:srgbClr val="55707A"/>
                </a:solidFill>
                <a:latin typeface="Calibri" pitchFamily="34" charset="0"/>
                <a:ea typeface="Calibri" pitchFamily="34" charset="-122"/>
                <a:cs typeface="Calibri" pitchFamily="34" charset="-120"/>
              </a:rPr>
              <a:t>Mountain: bones stacked to carry load with little effort</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2.1</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Bone is living tissue that answers to load</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Bone cells constantly break down and rebuild bone</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Regular load tends to keep bone stronger</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Yoga's effect on bone density is still uncertain</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Osteoporosis: adapt poses, avoid forceful loaded flexion</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Weight-bearing on the arms loads the arm bones">    </p:cNvPr>
          <p:cNvPicPr>
            <a:picLocks noChangeAspect="1"/>
          </p:cNvPicPr>
          <p:nvPr/>
        </p:nvPicPr>
        <p:blipFill>
          <a:blip r:embed="rId1"/>
          <a:stretch>
            <a:fillRect/>
          </a:stretch>
        </p:blipFill>
        <p:spPr>
          <a:xfrm>
            <a:off x="7086600" y="2416207"/>
            <a:ext cx="4389120" cy="262909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3  </a:t>
            </a:r>
            <a:pPr indent="0" marL="0">
              <a:buNone/>
            </a:pPr>
            <a:r>
              <a:rPr lang="en-US" sz="1100" dirty="0">
                <a:solidFill>
                  <a:srgbClr val="55707A"/>
                </a:solidFill>
                <a:latin typeface="Calibri" pitchFamily="34" charset="0"/>
                <a:ea typeface="Calibri" pitchFamily="34" charset="-122"/>
                <a:cs typeface="Calibri" pitchFamily="34" charset="-120"/>
              </a:rPr>
              <a:t>Weight-bearing on the arms loads the arm bones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2.1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axial and appendicular in Tree</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Stand in Mountain. Tap your skull, breastbone and ribs: that is your axial core.</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Shift into Tree. Notice the standing leg, a stack of appendicular bones, carrying you.</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Raise your arms. Feel the shoulder blades glide on the ribs as the girdle moves.</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Breathe in. Feel the axial ribcage widen while the limbs stay steady.</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Tree: an axial column balanced on one leg">    </p:cNvPr>
          <p:cNvPicPr>
            <a:picLocks noChangeAspect="1"/>
          </p:cNvPicPr>
          <p:nvPr/>
        </p:nvPicPr>
        <p:blipFill>
          <a:blip r:embed="rId1"/>
          <a:stretch>
            <a:fillRect/>
          </a:stretch>
        </p:blipFill>
        <p:spPr>
          <a:xfrm>
            <a:off x="8247383" y="1901952"/>
            <a:ext cx="2067553"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4  </a:t>
            </a:r>
            <a:pPr indent="0" marL="0">
              <a:buNone/>
            </a:pPr>
            <a:r>
              <a:rPr lang="en-US" sz="1100" dirty="0">
                <a:solidFill>
                  <a:srgbClr val="55707A"/>
                </a:solidFill>
                <a:latin typeface="Calibri" pitchFamily="34" charset="0"/>
                <a:ea typeface="Calibri" pitchFamily="34" charset="-122"/>
                <a:cs typeface="Calibri" pitchFamily="34" charset="-120"/>
              </a:rPr>
              <a:t>Tree: an axial column balanced on one leg</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2.1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Which bone belongs to the appendicular skeleton?</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Sternum</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Scapula</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Sacrum</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2.1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Scapula</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The scapula is part of the shoulder girdle, which connects the arm to the axial skeleton.</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Which bone belongs to the appendicular skeleton?</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2.2</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2.2  ·  25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Skull, spine, ribs and sternum</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skull balances on the top of the spine</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Cranium protects the brain; facial bones frame the face</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Occipital bone rests on C1, the atlas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 head weighs roughly 4.5 to 5 kg</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C1 and C2 allow much of head turning</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Mountain: the head balanced over the spine">    </p:cNvPr>
          <p:cNvPicPr>
            <a:picLocks noChangeAspect="1"/>
          </p:cNvPicPr>
          <p:nvPr/>
        </p:nvPicPr>
        <p:blipFill>
          <a:blip r:embed="rId1"/>
          <a:stretch>
            <a:fillRect/>
          </a:stretch>
        </p:blipFill>
        <p:spPr>
          <a:xfrm>
            <a:off x="8067738" y="1901952"/>
            <a:ext cx="2426844"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5  </a:t>
            </a:r>
            <a:pPr indent="0" marL="0">
              <a:buNone/>
            </a:pPr>
            <a:r>
              <a:rPr lang="en-US" sz="1100" dirty="0">
                <a:solidFill>
                  <a:srgbClr val="55707A"/>
                </a:solidFill>
                <a:latin typeface="Calibri" pitchFamily="34" charset="0"/>
                <a:ea typeface="Calibri" pitchFamily="34" charset="-122"/>
                <a:cs typeface="Calibri" pitchFamily="34" charset="-120"/>
              </a:rPr>
              <a:t>Mountain: the head balanced over the spine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Cervical, thoracic and lumbar vertebrae</a:t>
            </a:r>
            <a:endParaRPr lang="en-US" sz="3000" dirty="0"/>
          </a:p>
        </p:txBody>
      </p:sp>
      <p:sp>
        <p:nvSpPr>
          <p:cNvPr id="4" name="Text 2"/>
          <p:cNvSpPr txBox="1"/>
          <p:nvPr/>
        </p:nvSpPr>
        <p:spPr>
          <a:xfrm>
            <a:off x="548640" y="1737360"/>
            <a:ext cx="4846320" cy="1737360"/>
          </a:xfrm>
          <a:prstGeom prst="rect">
            <a:avLst/>
          </a:prstGeom>
          <a:noFill/>
          <a:ln/>
        </p:spPr>
        <p:txBody>
          <a:bodyPr wrap="square" lIns="0" tIns="0" rIns="0" bIns="0" rtlCol="0" anchor="ctr">
            <a:normAutofit/>
          </a:bodyPr>
          <a:lstStyle/>
          <a:p>
            <a:pPr indent="0" marL="0">
              <a:buNone/>
            </a:pPr>
            <a:r>
              <a:rPr lang="en-US" sz="9600" b="1" dirty="0">
                <a:solidFill>
                  <a:srgbClr val="B3304C"/>
                </a:solidFill>
                <a:latin typeface="Cambria" pitchFamily="34" charset="0"/>
                <a:ea typeface="Cambria" pitchFamily="34" charset="-122"/>
                <a:cs typeface="Cambria" pitchFamily="34" charset="-120"/>
              </a:rPr>
              <a:t>7 / 12 / 5</a:t>
            </a:r>
            <a:endParaRPr lang="en-US" sz="9600" dirty="0"/>
          </a:p>
        </p:txBody>
      </p:sp>
      <p:sp>
        <p:nvSpPr>
          <p:cNvPr id="5" name="Text 3"/>
          <p:cNvSpPr txBox="1"/>
          <p:nvPr/>
        </p:nvSpPr>
        <p:spPr>
          <a:xfrm>
            <a:off x="548640" y="3657600"/>
            <a:ext cx="4846320" cy="2194560"/>
          </a:xfrm>
          <a:prstGeom prst="rect">
            <a:avLst/>
          </a:prstGeom>
          <a:noFill/>
          <a:ln/>
        </p:spPr>
        <p:txBody>
          <a:bodyPr wrap="square" lIns="0" tIns="0" rIns="0" bIns="0" rtlCol="0" anchor="t">
            <a:normAutofit/>
          </a:bodyPr>
          <a:lstStyle/>
          <a:p>
            <a:pPr indent="0" marL="0">
              <a:buNone/>
            </a:pPr>
            <a:r>
              <a:rPr lang="en-US" sz="2000" dirty="0">
                <a:solidFill>
                  <a:srgbClr val="16303A"/>
                </a:solidFill>
                <a:latin typeface="Calibri" pitchFamily="34" charset="0"/>
                <a:ea typeface="Calibri" pitchFamily="34" charset="-122"/>
                <a:cs typeface="Calibri" pitchFamily="34" charset="-120"/>
              </a:rPr>
              <a:t>Below the lumbar spine sit the sacrum, five fused vertebrae, and the coccyx, three to five small fused bones. Seen from the side, the column makes four gentle curves.</a:t>
            </a:r>
            <a:endParaRPr lang="en-US" sz="2000" dirty="0"/>
          </a:p>
        </p:txBody>
      </p:sp>
      <p:sp>
        <p:nvSpPr>
          <p:cNvPr id="6" name="Shape 4"/>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7" name="Image 0" descr="Side view of the vertebral column: regions and curves">    </p:cNvPr>
          <p:cNvPicPr>
            <a:picLocks noChangeAspect="1"/>
          </p:cNvPicPr>
          <p:nvPr/>
        </p:nvPicPr>
        <p:blipFill>
          <a:blip r:embed="rId1"/>
          <a:stretch>
            <a:fillRect/>
          </a:stretch>
        </p:blipFill>
        <p:spPr>
          <a:xfrm>
            <a:off x="5806440" y="1959102"/>
            <a:ext cx="5669280" cy="3543300"/>
          </a:xfrm>
          <a:prstGeom prst="rect">
            <a:avLst/>
          </a:prstGeom>
        </p:spPr>
      </p:pic>
      <p:sp>
        <p:nvSpPr>
          <p:cNvPr id="8" name="Text 5"/>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6  </a:t>
            </a:r>
            <a:pPr indent="0" marL="0">
              <a:buNone/>
            </a:pPr>
            <a:r>
              <a:rPr lang="en-US" sz="1100" dirty="0">
                <a:solidFill>
                  <a:srgbClr val="55707A"/>
                </a:solidFill>
                <a:latin typeface="Calibri" pitchFamily="34" charset="0"/>
                <a:ea typeface="Calibri" pitchFamily="34" charset="-122"/>
                <a:cs typeface="Calibri" pitchFamily="34" charset="-120"/>
              </a:rPr>
              <a:t>Side view of the vertebral column: regions and curves</a:t>
            </a:r>
            <a:endParaRPr lang="en-US" sz="1100" dirty="0"/>
          </a:p>
        </p:txBody>
      </p:sp>
      <p:sp>
        <p:nvSpPr>
          <p:cNvPr id="9" name="Text 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0" name="Text 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Each region moves in its own way</a:t>
            </a:r>
            <a:endParaRPr lang="en-US" sz="3000" dirty="0"/>
          </a:p>
        </p:txBody>
      </p:sp>
      <p:sp>
        <p:nvSpPr>
          <p:cNvPr id="4" name="Shape 2"/>
          <p:cNvSpPr/>
          <p:nvPr/>
        </p:nvSpPr>
        <p:spPr>
          <a:xfrm>
            <a:off x="548640" y="1783080"/>
            <a:ext cx="3505200" cy="4297680"/>
          </a:xfrm>
          <a:prstGeom prst="roundRect">
            <a:avLst>
              <a:gd name="adj" fmla="val 3130"/>
            </a:avLst>
          </a:prstGeom>
          <a:solidFill>
            <a:srgbClr val="F1EADA"/>
          </a:solidFill>
          <a:ln w="12700">
            <a:solidFill>
              <a:srgbClr val="F1EADA"/>
            </a:solidFill>
            <a:prstDash val="solid"/>
          </a:ln>
        </p:spPr>
      </p:sp>
      <p:sp>
        <p:nvSpPr>
          <p:cNvPr id="5" name="Text 3"/>
          <p:cNvSpPr txBox="1"/>
          <p:nvPr/>
        </p:nvSpPr>
        <p:spPr>
          <a:xfrm>
            <a:off x="82296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Cervical</a:t>
            </a:r>
            <a:endParaRPr lang="en-US" sz="2200" dirty="0"/>
          </a:p>
        </p:txBody>
      </p:sp>
      <p:sp>
        <p:nvSpPr>
          <p:cNvPr id="6" name="Text 4"/>
          <p:cNvSpPr txBox="1"/>
          <p:nvPr/>
        </p:nvSpPr>
        <p:spPr>
          <a:xfrm>
            <a:off x="82296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Small, very mobile vertebrae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Nods, turns and tilts the head</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Keep heavy load off it</a:t>
            </a:r>
            <a:endParaRPr lang="en-US" sz="1700" dirty="0"/>
          </a:p>
        </p:txBody>
      </p:sp>
      <p:sp>
        <p:nvSpPr>
          <p:cNvPr id="7" name="Shape 5"/>
          <p:cNvSpPr/>
          <p:nvPr/>
        </p:nvSpPr>
        <p:spPr>
          <a:xfrm>
            <a:off x="4328160" y="1783080"/>
            <a:ext cx="3505200" cy="4297680"/>
          </a:xfrm>
          <a:prstGeom prst="roundRect">
            <a:avLst>
              <a:gd name="adj" fmla="val 3130"/>
            </a:avLst>
          </a:prstGeom>
          <a:solidFill>
            <a:srgbClr val="D5E9DF"/>
          </a:solidFill>
          <a:ln w="12700">
            <a:solidFill>
              <a:srgbClr val="D5E9DF"/>
            </a:solidFill>
            <a:prstDash val="solid"/>
          </a:ln>
        </p:spPr>
      </p:sp>
      <p:sp>
        <p:nvSpPr>
          <p:cNvPr id="8" name="Text 6"/>
          <p:cNvSpPr txBox="1"/>
          <p:nvPr/>
        </p:nvSpPr>
        <p:spPr>
          <a:xfrm>
            <a:off x="460248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Thoracic</a:t>
            </a:r>
            <a:endParaRPr lang="en-US" sz="2200" dirty="0"/>
          </a:p>
        </p:txBody>
      </p:sp>
      <p:sp>
        <p:nvSpPr>
          <p:cNvPr id="9" name="Text 7"/>
          <p:cNvSpPr txBox="1"/>
          <p:nvPr/>
        </p:nvSpPr>
        <p:spPr>
          <a:xfrm>
            <a:off x="460248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Ribs attach here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Rotates well, extends less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Most of a twist lives here</a:t>
            </a:r>
            <a:endParaRPr lang="en-US" sz="1700" dirty="0"/>
          </a:p>
        </p:txBody>
      </p:sp>
      <p:sp>
        <p:nvSpPr>
          <p:cNvPr id="10" name="Shape 8"/>
          <p:cNvSpPr/>
          <p:nvPr/>
        </p:nvSpPr>
        <p:spPr>
          <a:xfrm>
            <a:off x="8107680" y="1783080"/>
            <a:ext cx="3505200" cy="4297680"/>
          </a:xfrm>
          <a:prstGeom prst="roundRect">
            <a:avLst>
              <a:gd name="adj" fmla="val 3130"/>
            </a:avLst>
          </a:prstGeom>
          <a:solidFill>
            <a:srgbClr val="F3D9DE"/>
          </a:solidFill>
          <a:ln w="12700">
            <a:solidFill>
              <a:srgbClr val="F3D9DE"/>
            </a:solidFill>
            <a:prstDash val="solid"/>
          </a:ln>
        </p:spPr>
      </p:sp>
      <p:sp>
        <p:nvSpPr>
          <p:cNvPr id="11" name="Text 9"/>
          <p:cNvSpPr txBox="1"/>
          <p:nvPr/>
        </p:nvSpPr>
        <p:spPr>
          <a:xfrm>
            <a:off x="8382000" y="1965960"/>
            <a:ext cx="295656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Lumbar</a:t>
            </a:r>
            <a:endParaRPr lang="en-US" sz="2200" dirty="0"/>
          </a:p>
        </p:txBody>
      </p:sp>
      <p:sp>
        <p:nvSpPr>
          <p:cNvPr id="12" name="Text 10"/>
          <p:cNvSpPr txBox="1"/>
          <p:nvPr/>
        </p:nvSpPr>
        <p:spPr>
          <a:xfrm>
            <a:off x="8382000" y="2697480"/>
            <a:ext cx="295656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Largest, strongest vertebrae</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Bends forward and back easily</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Little rotation per segment</a:t>
            </a:r>
            <a:endParaRPr lang="en-US" sz="1700" dirty="0"/>
          </a:p>
        </p:txBody>
      </p:sp>
      <p:sp>
        <p:nvSpPr>
          <p:cNvPr id="13" name="Text 11"/>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4" name="Text 12"/>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Ribs and sternum: a cage that moves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12 pairs of ribs join the thoracic vertebrae</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Pairs 1 to 7 attach directly to the sternum</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Pairs 8 to 10 join by shared cartilage; 11 and 12 float</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Cartilage lets the cage expand with each breath</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Cobra: the chest opens as the thoracic spine extends">    </p:cNvPr>
          <p:cNvPicPr>
            <a:picLocks noChangeAspect="1"/>
          </p:cNvPicPr>
          <p:nvPr/>
        </p:nvPicPr>
        <p:blipFill>
          <a:blip r:embed="rId1"/>
          <a:stretch>
            <a:fillRect/>
          </a:stretch>
        </p:blipFill>
        <p:spPr>
          <a:xfrm>
            <a:off x="7086600" y="2302105"/>
            <a:ext cx="4389120" cy="2857293"/>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7  </a:t>
            </a:r>
            <a:pPr indent="0" marL="0">
              <a:buNone/>
            </a:pPr>
            <a:r>
              <a:rPr lang="en-US" sz="1100" dirty="0">
                <a:solidFill>
                  <a:srgbClr val="55707A"/>
                </a:solidFill>
                <a:latin typeface="Calibri" pitchFamily="34" charset="0"/>
                <a:ea typeface="Calibri" pitchFamily="34" charset="-122"/>
                <a:cs typeface="Calibri" pitchFamily="34" charset="-120"/>
              </a:rPr>
              <a:t>Cobra: the chest opens as the thoracic spine extends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find your curves and your ribs</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Stand side on to a wall, heels, sacrum and upper back touching it.</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Slide a hand behind your low back and neck: feel the two forward curves.</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Place hands on your side ribs and breathe in slowly: feel them widen.</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Find the notch at the top of your sternum, then the xiphoid at the bottom.</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Mountain from the side: the spine's natural curves">    </p:cNvPr>
          <p:cNvPicPr>
            <a:picLocks noChangeAspect="1"/>
          </p:cNvPicPr>
          <p:nvPr/>
        </p:nvPicPr>
        <p:blipFill>
          <a:blip r:embed="rId1"/>
          <a:stretch>
            <a:fillRect/>
          </a:stretch>
        </p:blipFill>
        <p:spPr>
          <a:xfrm>
            <a:off x="8067738" y="1901952"/>
            <a:ext cx="2426844"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8  </a:t>
            </a:r>
            <a:pPr indent="0" marL="0">
              <a:buNone/>
            </a:pPr>
            <a:r>
              <a:rPr lang="en-US" sz="1100" dirty="0">
                <a:solidFill>
                  <a:srgbClr val="55707A"/>
                </a:solidFill>
                <a:latin typeface="Calibri" pitchFamily="34" charset="0"/>
                <a:ea typeface="Calibri" pitchFamily="34" charset="-122"/>
                <a:cs typeface="Calibri" pitchFamily="34" charset="-120"/>
              </a:rPr>
              <a:t>Mountain from the side: the spine's natural curves</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Twist from the ribcage</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“Lengthen up through the crown as you breathe in. As you breathe out, turn from the ribs and let the belly follow.”</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The thoracic spine is built to rotate while the lumbar spine allows only a few degrees per segment, so the turn should begin higher up.</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Rotation comes mainly from the thoracic spine">    </p:cNvPr>
          <p:cNvPicPr>
            <a:picLocks noChangeAspect="1"/>
          </p:cNvPicPr>
          <p:nvPr/>
        </p:nvPicPr>
        <p:blipFill>
          <a:blip r:embed="rId1"/>
          <a:stretch>
            <a:fillRect/>
          </a:stretch>
        </p:blipFill>
        <p:spPr>
          <a:xfrm>
            <a:off x="8067738" y="1901952"/>
            <a:ext cx="2426844"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9  </a:t>
            </a:r>
            <a:pPr indent="0" marL="0">
              <a:buNone/>
            </a:pPr>
            <a:r>
              <a:rPr lang="en-US" sz="1100" dirty="0">
                <a:solidFill>
                  <a:srgbClr val="55707A"/>
                </a:solidFill>
                <a:latin typeface="Calibri" pitchFamily="34" charset="0"/>
                <a:ea typeface="Calibri" pitchFamily="34" charset="-122"/>
                <a:cs typeface="Calibri" pitchFamily="34" charset="-120"/>
              </a:rPr>
              <a:t>Rotation comes mainly from the thoracic spine</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 student forces a deep seated twist by levering with the arms. Which region is least built for rotation?</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Cervical spine</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Thoracic spine</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Lumbar spine</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2.2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Lumbar spine</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Lumbar vertebrae allow only a few degrees of rotation each, so forced twisting tends to load the low back.</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A student forces a deep seated twist by levering with the arms. Which region is least built for rotation?</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2.3</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2.3  ·  25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Shoulder girdle and upper limb, down to the weight bearing hand</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2.3</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shoulder girdle floats on the ribcage</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Two bones per side: clavicle and scapula</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Only bony link to the trunk: the sternoclavicular joint</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Scapula glides on the back of the ribs</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Shallow socket: mobile, but depends on muscle</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Warrior II: arms carried by the shoulder girdle">    </p:cNvPr>
          <p:cNvPicPr>
            <a:picLocks noChangeAspect="1"/>
          </p:cNvPicPr>
          <p:nvPr/>
        </p:nvPicPr>
        <p:blipFill>
          <a:blip r:embed="rId1"/>
          <a:stretch>
            <a:fillRect/>
          </a:stretch>
        </p:blipFill>
        <p:spPr>
          <a:xfrm>
            <a:off x="7185731" y="1901952"/>
            <a:ext cx="4190858"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10  </a:t>
            </a:r>
            <a:pPr indent="0" marL="0">
              <a:buNone/>
            </a:pPr>
            <a:r>
              <a:rPr lang="en-US" sz="1100" dirty="0">
                <a:solidFill>
                  <a:srgbClr val="55707A"/>
                </a:solidFill>
                <a:latin typeface="Calibri" pitchFamily="34" charset="0"/>
                <a:ea typeface="Calibri" pitchFamily="34" charset="-122"/>
                <a:cs typeface="Calibri" pitchFamily="34" charset="-120"/>
              </a:rPr>
              <a:t>Warrior II: arms carried by the shoulder girdle</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2.3</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From shoulder to wrist</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Humerus: the single upper arm bone</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Radius on the thumb side, ulna on the little finger side</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Radius turns around the ulna to rotate the palm</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Olecranon of the ulna is the point of the elbow</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Down Dog: humerus, radius and ulna in a line of load">    </p:cNvPr>
          <p:cNvPicPr>
            <a:picLocks noChangeAspect="1"/>
          </p:cNvPicPr>
          <p:nvPr/>
        </p:nvPicPr>
        <p:blipFill>
          <a:blip r:embed="rId1"/>
          <a:stretch>
            <a:fillRect/>
          </a:stretch>
        </p:blipFill>
        <p:spPr>
          <a:xfrm>
            <a:off x="7306620" y="1901952"/>
            <a:ext cx="3949080"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11  </a:t>
            </a:r>
            <a:pPr indent="0" marL="0">
              <a:buNone/>
            </a:pPr>
            <a:r>
              <a:rPr lang="en-US" sz="1100" dirty="0">
                <a:solidFill>
                  <a:srgbClr val="55707A"/>
                </a:solidFill>
                <a:latin typeface="Calibri" pitchFamily="34" charset="0"/>
                <a:ea typeface="Calibri" pitchFamily="34" charset="-122"/>
                <a:cs typeface="Calibri" pitchFamily="34" charset="-120"/>
              </a:rPr>
              <a:t>Down Dog: humerus, radius and ulna in a line of load</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2.3</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Bones in each wrist and hand</a:t>
            </a:r>
            <a:endParaRPr lang="en-US" sz="3000" dirty="0"/>
          </a:p>
        </p:txBody>
      </p:sp>
      <p:sp>
        <p:nvSpPr>
          <p:cNvPr id="4" name="Text 2"/>
          <p:cNvSpPr txBox="1"/>
          <p:nvPr/>
        </p:nvSpPr>
        <p:spPr>
          <a:xfrm>
            <a:off x="548640" y="1737360"/>
            <a:ext cx="6035040" cy="1737360"/>
          </a:xfrm>
          <a:prstGeom prst="rect">
            <a:avLst/>
          </a:prstGeom>
          <a:noFill/>
          <a:ln/>
        </p:spPr>
        <p:txBody>
          <a:bodyPr wrap="square" lIns="0" tIns="0" rIns="0" bIns="0" rtlCol="0" anchor="ctr">
            <a:normAutofit/>
          </a:bodyPr>
          <a:lstStyle/>
          <a:p>
            <a:pPr indent="0" marL="0">
              <a:buNone/>
            </a:pPr>
            <a:r>
              <a:rPr lang="en-US" sz="9600" b="1" dirty="0">
                <a:solidFill>
                  <a:srgbClr val="B3304C"/>
                </a:solidFill>
                <a:latin typeface="Cambria" pitchFamily="34" charset="0"/>
                <a:ea typeface="Cambria" pitchFamily="34" charset="-122"/>
                <a:cs typeface="Cambria" pitchFamily="34" charset="-120"/>
              </a:rPr>
              <a:t>27</a:t>
            </a:r>
            <a:endParaRPr lang="en-US" sz="9600" dirty="0"/>
          </a:p>
        </p:txBody>
      </p:sp>
      <p:sp>
        <p:nvSpPr>
          <p:cNvPr id="5" name="Text 3"/>
          <p:cNvSpPr txBox="1"/>
          <p:nvPr/>
        </p:nvSpPr>
        <p:spPr>
          <a:xfrm>
            <a:off x="548640" y="3657600"/>
            <a:ext cx="6035040" cy="2194560"/>
          </a:xfrm>
          <a:prstGeom prst="rect">
            <a:avLst/>
          </a:prstGeom>
          <a:noFill/>
          <a:ln/>
        </p:spPr>
        <p:txBody>
          <a:bodyPr wrap="square" lIns="0" tIns="0" rIns="0" bIns="0" rtlCol="0" anchor="t">
            <a:normAutofit/>
          </a:bodyPr>
          <a:lstStyle/>
          <a:p>
            <a:pPr indent="0" marL="0">
              <a:buNone/>
            </a:pPr>
            <a:r>
              <a:rPr lang="en-US" sz="2000" dirty="0">
                <a:solidFill>
                  <a:srgbClr val="16303A"/>
                </a:solidFill>
                <a:latin typeface="Calibri" pitchFamily="34" charset="0"/>
                <a:ea typeface="Calibri" pitchFamily="34" charset="-122"/>
                <a:cs typeface="Calibri" pitchFamily="34" charset="-120"/>
              </a:rPr>
              <a:t>8 carpals in two rows, 5 metacarpals in the palm and 14 phalanges in the fingers. The hand was built for grip and fine skill, not for carrying body weight.</a:t>
            </a:r>
            <a:endParaRPr lang="en-US" sz="2000" dirty="0"/>
          </a:p>
        </p:txBody>
      </p:sp>
      <p:sp>
        <p:nvSpPr>
          <p:cNvPr id="6" name="Shape 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7" name="Image 0" descr="Chaturanga: the hands carry a large share of body weight">    </p:cNvPr>
          <p:cNvPicPr>
            <a:picLocks noChangeAspect="1"/>
          </p:cNvPicPr>
          <p:nvPr/>
        </p:nvPicPr>
        <p:blipFill>
          <a:blip r:embed="rId1"/>
          <a:stretch>
            <a:fillRect/>
          </a:stretch>
        </p:blipFill>
        <p:spPr>
          <a:xfrm>
            <a:off x="7086600" y="2416207"/>
            <a:ext cx="4389120" cy="2629090"/>
          </a:xfrm>
          <a:prstGeom prst="rect">
            <a:avLst/>
          </a:prstGeom>
        </p:spPr>
      </p:pic>
      <p:sp>
        <p:nvSpPr>
          <p:cNvPr id="8" name="Text 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12  </a:t>
            </a:r>
            <a:pPr indent="0" marL="0">
              <a:buNone/>
            </a:pPr>
            <a:r>
              <a:rPr lang="en-US" sz="1100" dirty="0">
                <a:solidFill>
                  <a:srgbClr val="55707A"/>
                </a:solidFill>
                <a:latin typeface="Calibri" pitchFamily="34" charset="0"/>
                <a:ea typeface="Calibri" pitchFamily="34" charset="-122"/>
                <a:cs typeface="Calibri" pitchFamily="34" charset="-120"/>
              </a:rPr>
              <a:t>Chaturanga: the hands carry a large share of body weight</a:t>
            </a:r>
            <a:endParaRPr lang="en-US" sz="1100" dirty="0"/>
          </a:p>
        </p:txBody>
      </p:sp>
      <p:sp>
        <p:nvSpPr>
          <p:cNvPr id="9" name="Text 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0" name="Text 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2.3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map the weight-bearing hand</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Come to tabletop, wrists under shoulders, fingers spread comfortably wide.</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Rock onto the heels of your hands, then onto your fingertips. Notice the difference.</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Press evenly through the knuckle at the base of each finger, especially index and thumb.</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Feel the centre of the palm lift slightly, like a gentle dome.</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Tabletop: learning to share weight across the hand">    </p:cNvPr>
          <p:cNvPicPr>
            <a:picLocks noChangeAspect="1"/>
          </p:cNvPicPr>
          <p:nvPr/>
        </p:nvPicPr>
        <p:blipFill>
          <a:blip r:embed="rId1"/>
          <a:stretch>
            <a:fillRect/>
          </a:stretch>
        </p:blipFill>
        <p:spPr>
          <a:xfrm>
            <a:off x="7086600" y="2163209"/>
            <a:ext cx="4389120" cy="3135086"/>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13  </a:t>
            </a:r>
            <a:pPr indent="0" marL="0">
              <a:buNone/>
            </a:pPr>
            <a:r>
              <a:rPr lang="en-US" sz="1100" dirty="0">
                <a:solidFill>
                  <a:srgbClr val="55707A"/>
                </a:solidFill>
                <a:latin typeface="Calibri" pitchFamily="34" charset="0"/>
                <a:ea typeface="Calibri" pitchFamily="34" charset="-122"/>
                <a:cs typeface="Calibri" pitchFamily="34" charset="-120"/>
              </a:rPr>
              <a:t>Tabletop: learning to share weight across the hand</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2.3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Share the load through the hand</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“Spread your fingers and press through the base of your index finger and thumb, so the wrist is not carrying you alone.”</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The wrist is extended near its end range in Plank and Down Dog; spreading load toward the knuckles and fingers reduces pressure on the heel of the hand.</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Down Dog: rooting the hands">    </p:cNvPr>
          <p:cNvPicPr>
            <a:picLocks noChangeAspect="1"/>
          </p:cNvPicPr>
          <p:nvPr/>
        </p:nvPicPr>
        <p:blipFill>
          <a:blip r:embed="rId1"/>
          <a:stretch>
            <a:fillRect/>
          </a:stretch>
        </p:blipFill>
        <p:spPr>
          <a:xfrm>
            <a:off x="7306620" y="1901952"/>
            <a:ext cx="3949080"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14  </a:t>
            </a:r>
            <a:pPr indent="0" marL="0">
              <a:buNone/>
            </a:pPr>
            <a:r>
              <a:rPr lang="en-US" sz="1100" dirty="0">
                <a:solidFill>
                  <a:srgbClr val="55707A"/>
                </a:solidFill>
                <a:latin typeface="Calibri" pitchFamily="34" charset="0"/>
                <a:ea typeface="Calibri" pitchFamily="34" charset="-122"/>
                <a:cs typeface="Calibri" pitchFamily="34" charset="-120"/>
              </a:rPr>
              <a:t>Down Dog: rooting the hands</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2.3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Which is the only joint that connects the upper limb bones to the axial skeleton?</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Glenohumeral joint</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Sternoclavicular joint</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Acromioclavicular joint</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2.3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Sternoclavicular joint</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The clavicle meets the sternum at the sternoclavicular joint; everything else attaching the arm to the trunk is muscle.</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Which is the only joint that connects the upper limb bones to the axial skeleton?</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2.4</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2.4  ·  25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Pelvis and lower limb, down to the foot as foundation</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pelvis: two hip bones and the sacrum</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Each hip bone is ilium, ischium and pubis fused</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They meet the sacrum at the sacroiliac joints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In front they meet at the pubic symphysis</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 acetabulum is the deep hip socket</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Pelvis from the front, with the key landmarks">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15  </a:t>
            </a:r>
            <a:pPr indent="0" marL="0">
              <a:buNone/>
            </a:pPr>
            <a:r>
              <a:rPr lang="en-US" sz="1100" dirty="0">
                <a:solidFill>
                  <a:srgbClr val="55707A"/>
                </a:solidFill>
                <a:latin typeface="Calibri" pitchFamily="34" charset="0"/>
                <a:ea typeface="Calibri" pitchFamily="34" charset="-122"/>
                <a:cs typeface="Calibri" pitchFamily="34" charset="-120"/>
              </a:rPr>
              <a:t>Pelvis from the front, with the key landmarks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Shoulder girdle and pelvic girdle</a:t>
            </a:r>
            <a:endParaRPr lang="en-US" sz="3000" dirty="0"/>
          </a:p>
        </p:txBody>
      </p:sp>
      <p:sp>
        <p:nvSpPr>
          <p:cNvPr id="4" name="Shape 2"/>
          <p:cNvSpPr/>
          <p:nvPr/>
        </p:nvSpPr>
        <p:spPr>
          <a:xfrm>
            <a:off x="548640" y="1783080"/>
            <a:ext cx="5394960" cy="4297680"/>
          </a:xfrm>
          <a:prstGeom prst="roundRect">
            <a:avLst>
              <a:gd name="adj" fmla="val 2553"/>
            </a:avLst>
          </a:prstGeom>
          <a:solidFill>
            <a:srgbClr val="F1EADA"/>
          </a:solidFill>
          <a:ln w="12700">
            <a:solidFill>
              <a:srgbClr val="F1EADA"/>
            </a:solidFill>
            <a:prstDash val="solid"/>
          </a:ln>
        </p:spPr>
      </p:sp>
      <p:sp>
        <p:nvSpPr>
          <p:cNvPr id="5" name="Text 3"/>
          <p:cNvSpPr txBox="1"/>
          <p:nvPr/>
        </p:nvSpPr>
        <p:spPr>
          <a:xfrm>
            <a:off x="82296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Shoulder girdle</a:t>
            </a:r>
            <a:endParaRPr lang="en-US" sz="2200" dirty="0"/>
          </a:p>
        </p:txBody>
      </p:sp>
      <p:sp>
        <p:nvSpPr>
          <p:cNvPr id="6" name="Text 4"/>
          <p:cNvSpPr txBox="1"/>
          <p:nvPr/>
        </p:nvSpPr>
        <p:spPr>
          <a:xfrm>
            <a:off x="82296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Light, open, floats on ribs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Shallow socket for the humerus</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Built for reach and range</a:t>
            </a:r>
            <a:endParaRPr lang="en-US" sz="1700" dirty="0"/>
          </a:p>
        </p:txBody>
      </p:sp>
      <p:sp>
        <p:nvSpPr>
          <p:cNvPr id="7" name="Shape 5"/>
          <p:cNvSpPr/>
          <p:nvPr/>
        </p:nvSpPr>
        <p:spPr>
          <a:xfrm>
            <a:off x="6217920" y="1783080"/>
            <a:ext cx="5394960" cy="4297680"/>
          </a:xfrm>
          <a:prstGeom prst="roundRect">
            <a:avLst>
              <a:gd name="adj" fmla="val 2553"/>
            </a:avLst>
          </a:prstGeom>
          <a:solidFill>
            <a:srgbClr val="D5E9DF"/>
          </a:solidFill>
          <a:ln w="12700">
            <a:solidFill>
              <a:srgbClr val="D5E9DF"/>
            </a:solidFill>
            <a:prstDash val="solid"/>
          </a:ln>
        </p:spPr>
      </p:sp>
      <p:sp>
        <p:nvSpPr>
          <p:cNvPr id="8" name="Text 6"/>
          <p:cNvSpPr txBox="1"/>
          <p:nvPr/>
        </p:nvSpPr>
        <p:spPr>
          <a:xfrm>
            <a:off x="6492240" y="1965960"/>
            <a:ext cx="4846320" cy="640080"/>
          </a:xfrm>
          <a:prstGeom prst="rect">
            <a:avLst/>
          </a:prstGeom>
          <a:noFill/>
          <a:ln/>
        </p:spPr>
        <p:txBody>
          <a:bodyPr wrap="square" lIns="0" tIns="0" rIns="0" bIns="0" rtlCol="0" anchor="t">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Pelvic girdle</a:t>
            </a:r>
            <a:endParaRPr lang="en-US" sz="2200" dirty="0"/>
          </a:p>
        </p:txBody>
      </p:sp>
      <p:sp>
        <p:nvSpPr>
          <p:cNvPr id="9" name="Text 7"/>
          <p:cNvSpPr txBox="1"/>
          <p:nvPr/>
        </p:nvSpPr>
        <p:spPr>
          <a:xfrm>
            <a:off x="6492240" y="2697480"/>
            <a:ext cx="4846320" cy="32004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Heavy ring joined to the sacrum</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Deep socket for the femur</a:t>
            </a:r>
            <a:endParaRPr lang="en-US" sz="1700" dirty="0"/>
          </a:p>
          <a:p>
            <a:pPr marL="342900" indent="-342900">
              <a:spcAft>
                <a:spcPts val="1000"/>
              </a:spcAft>
              <a:buSzPct val="100000"/>
              <a:buChar char="•"/>
            </a:pPr>
            <a:r>
              <a:rPr lang="en-US" sz="1700" dirty="0">
                <a:solidFill>
                  <a:srgbClr val="16303A"/>
                </a:solidFill>
                <a:latin typeface="Calibri" pitchFamily="34" charset="0"/>
                <a:ea typeface="Calibri" pitchFamily="34" charset="-122"/>
                <a:cs typeface="Calibri" pitchFamily="34" charset="-120"/>
              </a:rPr>
              <a:t>Built for carrying weight</a:t>
            </a:r>
            <a:endParaRPr lang="en-US" sz="17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The femur: longest bone, angled neck</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Femoral head sits deep in the acetabulum</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Neck angles out to the greater trochanter</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Shaft slopes inward toward the knee</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Bone shapes vary, so hip range varies</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Warrior II: the femurs rotate outward in the hip sockets">    </p:cNvPr>
          <p:cNvPicPr>
            <a:picLocks noChangeAspect="1"/>
          </p:cNvPicPr>
          <p:nvPr/>
        </p:nvPicPr>
        <p:blipFill>
          <a:blip r:embed="rId1"/>
          <a:stretch>
            <a:fillRect/>
          </a:stretch>
        </p:blipFill>
        <p:spPr>
          <a:xfrm>
            <a:off x="7185731" y="1901952"/>
            <a:ext cx="4190858"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16  </a:t>
            </a:r>
            <a:pPr indent="0" marL="0">
              <a:buNone/>
            </a:pPr>
            <a:r>
              <a:rPr lang="en-US" sz="1100" dirty="0">
                <a:solidFill>
                  <a:srgbClr val="55707A"/>
                </a:solidFill>
                <a:latin typeface="Calibri" pitchFamily="34" charset="0"/>
                <a:ea typeface="Calibri" pitchFamily="34" charset="-122"/>
                <a:cs typeface="Calibri" pitchFamily="34" charset="-120"/>
              </a:rPr>
              <a:t>Warrior II: the femurs rotate outward in the hip sockets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2.4</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Knee and lower leg: tibia carries, fibula steadies</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Femur meets tibia at the knee; patella glides in front</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Tibia carries most of the body's weight</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Fibula is slender, mainly for muscle attachment</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Malleoli: tibia inside, fibula outside the ankle</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Chair: knees track over the feet">    </p:cNvPr>
          <p:cNvPicPr>
            <a:picLocks noChangeAspect="1"/>
          </p:cNvPicPr>
          <p:nvPr/>
        </p:nvPicPr>
        <p:blipFill>
          <a:blip r:embed="rId1"/>
          <a:stretch>
            <a:fillRect/>
          </a:stretch>
        </p:blipFill>
        <p:spPr>
          <a:xfrm>
            <a:off x="8107599" y="1901952"/>
            <a:ext cx="2347123"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17  </a:t>
            </a:r>
            <a:pPr indent="0" marL="0">
              <a:buNone/>
            </a:pPr>
            <a:r>
              <a:rPr lang="en-US" sz="1100" dirty="0">
                <a:solidFill>
                  <a:srgbClr val="55707A"/>
                </a:solidFill>
                <a:latin typeface="Calibri" pitchFamily="34" charset="0"/>
                <a:ea typeface="Calibri" pitchFamily="34" charset="-122"/>
                <a:cs typeface="Calibri" pitchFamily="34" charset="-120"/>
              </a:rPr>
              <a:t>Chair: knees track over the feet</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2.4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build the foot tripod</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416052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Stand in Mountain and lift all ten toes.</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416052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Feel three points: big toe mound, little toe mound and centre of the heel.</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416052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Keep those points grounded as you lower the toes softly.</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416052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Notice the inner arch gently lift without gripping the toes.</a:t>
            </a:r>
            <a:endParaRPr lang="en-US" sz="1800" dirty="0"/>
          </a:p>
        </p:txBody>
      </p:sp>
      <p:sp>
        <p:nvSpPr>
          <p:cNvPr id="16" name="Shape 14"/>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7" name="Image 0" descr="Foot bones, the medial arch and the three-point tripod">    </p:cNvPr>
          <p:cNvPicPr>
            <a:picLocks noChangeAspect="1"/>
          </p:cNvPicPr>
          <p:nvPr/>
        </p:nvPicPr>
        <p:blipFill>
          <a:blip r:embed="rId1"/>
          <a:stretch>
            <a:fillRect/>
          </a:stretch>
        </p:blipFill>
        <p:spPr>
          <a:xfrm>
            <a:off x="5806440" y="1959102"/>
            <a:ext cx="5669280" cy="3543300"/>
          </a:xfrm>
          <a:prstGeom prst="rect">
            <a:avLst/>
          </a:prstGeom>
        </p:spPr>
      </p:pic>
      <p:sp>
        <p:nvSpPr>
          <p:cNvPr id="18" name="Text 15"/>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18  </a:t>
            </a:r>
            <a:pPr indent="0" marL="0">
              <a:buNone/>
            </a:pPr>
            <a:r>
              <a:rPr lang="en-US" sz="1100" dirty="0">
                <a:solidFill>
                  <a:srgbClr val="55707A"/>
                </a:solidFill>
                <a:latin typeface="Calibri" pitchFamily="34" charset="0"/>
                <a:ea typeface="Calibri" pitchFamily="34" charset="-122"/>
                <a:cs typeface="Calibri" pitchFamily="34" charset="-120"/>
              </a:rPr>
              <a:t>Foot bones, the medial arch and the three-point tripod</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2.4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Which bone forms the outer ankle bone, the lateral malleolus?</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Tibia</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Fibula</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Talus</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2.4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Fibula</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The lateral malleolus is the lower end of the fibula; the medial malleolus is the lower end of the tibia.</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Which bone forms the outer ankle bone, the lateral malleolus?</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6303A"/>
        </a:solidFill>
      </p:bgPr>
    </p:bg>
    <p:spTree>
      <p:nvGrpSpPr>
        <p:cNvPr id="1" name=""/>
        <p:cNvGrpSpPr/>
        <p:nvPr/>
      </p:nvGrpSpPr>
      <p:grpSpPr>
        <a:xfrm>
          <a:off x="0" y="0"/>
          <a:ext cx="0" cy="0"/>
          <a:chOff x="0" y="0"/>
          <a:chExt cx="0" cy="0"/>
        </a:xfrm>
      </p:grpSpPr>
      <p:sp>
        <p:nvSpPr>
          <p:cNvPr id="2" name="Shape 0"/>
          <p:cNvSpPr/>
          <p:nvPr/>
        </p:nvSpPr>
        <p:spPr>
          <a:xfrm>
            <a:off x="548640" y="1463040"/>
            <a:ext cx="1371600" cy="1371600"/>
          </a:xfrm>
          <a:prstGeom prst="ellipse">
            <a:avLst/>
          </a:prstGeom>
          <a:solidFill>
            <a:srgbClr val="B3304C"/>
          </a:solidFill>
          <a:ln w="12700">
            <a:solidFill>
              <a:srgbClr val="B3304C"/>
            </a:solidFill>
            <a:prstDash val="solid"/>
          </a:ln>
        </p:spPr>
      </p:sp>
      <p:sp>
        <p:nvSpPr>
          <p:cNvPr id="3" name="Text 1"/>
          <p:cNvSpPr txBox="1"/>
          <p:nvPr/>
        </p:nvSpPr>
        <p:spPr>
          <a:xfrm>
            <a:off x="548640" y="1463040"/>
            <a:ext cx="13716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2.5</a:t>
            </a:r>
            <a:endParaRPr lang="en-US" sz="3000" dirty="0"/>
          </a:p>
        </p:txBody>
      </p:sp>
      <p:sp>
        <p:nvSpPr>
          <p:cNvPr id="4" name="Text 2"/>
          <p:cNvSpPr txBox="1"/>
          <p:nvPr/>
        </p:nvSpPr>
        <p:spPr>
          <a:xfrm>
            <a:off x="2286000" y="1508760"/>
            <a:ext cx="7315200" cy="320040"/>
          </a:xfrm>
          <a:prstGeom prst="rect">
            <a:avLst/>
          </a:prstGeom>
          <a:noFill/>
          <a:ln/>
        </p:spPr>
        <p:txBody>
          <a:bodyPr wrap="square" lIns="0" tIns="0" rIns="0" bIns="0" rtlCol="0" anchor="ctr"/>
          <a:lstStyle/>
          <a:p>
            <a:pPr indent="0" marL="0">
              <a:buNone/>
            </a:pPr>
            <a:r>
              <a:rPr lang="en-US" sz="1300" b="1" spc="300" kern="0" dirty="0">
                <a:solidFill>
                  <a:srgbClr val="CBB78C"/>
                </a:solidFill>
                <a:latin typeface="Calibri" pitchFamily="34" charset="0"/>
                <a:ea typeface="Calibri" pitchFamily="34" charset="-122"/>
                <a:cs typeface="Calibri" pitchFamily="34" charset="-120"/>
              </a:rPr>
              <a:t>LESSON 2.5  ·  25 MIN</a:t>
            </a:r>
            <a:endParaRPr lang="en-US" sz="1300" dirty="0"/>
          </a:p>
        </p:txBody>
      </p:sp>
      <p:sp>
        <p:nvSpPr>
          <p:cNvPr id="5" name="Text 3"/>
          <p:cNvSpPr txBox="1"/>
          <p:nvPr/>
        </p:nvSpPr>
        <p:spPr>
          <a:xfrm>
            <a:off x="2286000" y="1874520"/>
            <a:ext cx="9052560" cy="1463040"/>
          </a:xfrm>
          <a:prstGeom prst="rect">
            <a:avLst/>
          </a:prstGeom>
          <a:noFill/>
          <a:ln/>
        </p:spPr>
        <p:txBody>
          <a:bodyPr wrap="square" lIns="0" tIns="0" rIns="0" bIns="0" rtlCol="0" anchor="t">
            <a:normAutofit/>
          </a:bodyPr>
          <a:lstStyle/>
          <a:p>
            <a:pPr indent="0" marL="0">
              <a:buNone/>
            </a:pPr>
            <a:r>
              <a:rPr lang="en-US" sz="3600" b="1" dirty="0">
                <a:solidFill>
                  <a:srgbClr val="FFFFFF"/>
                </a:solidFill>
                <a:latin typeface="Cambria" pitchFamily="34" charset="0"/>
                <a:ea typeface="Cambria" pitchFamily="34" charset="-122"/>
                <a:cs typeface="Cambria" pitchFamily="34" charset="-120"/>
              </a:rPr>
              <a:t>Landmarks you can see and cue: ASIS, iliac crest, greater trochanter, acromion, C7, malleoli</a:t>
            </a:r>
            <a:endParaRPr lang="en-US" sz="3600" dirty="0"/>
          </a:p>
        </p:txBody>
      </p:sp>
      <p:sp>
        <p:nvSpPr>
          <p:cNvPr id="6" name="Shape 4"/>
          <p:cNvSpPr/>
          <p:nvPr/>
        </p:nvSpPr>
        <p:spPr>
          <a:xfrm>
            <a:off x="2286000" y="3931920"/>
            <a:ext cx="1965960" cy="566928"/>
          </a:xfrm>
          <a:prstGeom prst="roundRect">
            <a:avLst>
              <a:gd name="adj" fmla="val 48387"/>
            </a:avLst>
          </a:prstGeom>
          <a:solidFill>
            <a:srgbClr val="22414D"/>
          </a:solidFill>
          <a:ln w="12700">
            <a:solidFill>
              <a:srgbClr val="3B5A66"/>
            </a:solidFill>
            <a:prstDash val="solid"/>
          </a:ln>
        </p:spPr>
      </p:sp>
      <p:sp>
        <p:nvSpPr>
          <p:cNvPr id="7" name="Text 5"/>
          <p:cNvSpPr txBox="1"/>
          <p:nvPr/>
        </p:nvSpPr>
        <p:spPr>
          <a:xfrm>
            <a:off x="228600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See it</a:t>
            </a:r>
            <a:endParaRPr lang="en-US" sz="1400" dirty="0"/>
          </a:p>
        </p:txBody>
      </p:sp>
      <p:sp>
        <p:nvSpPr>
          <p:cNvPr id="8" name="Shape 6"/>
          <p:cNvSpPr/>
          <p:nvPr/>
        </p:nvSpPr>
        <p:spPr>
          <a:xfrm>
            <a:off x="4434840" y="3931920"/>
            <a:ext cx="1965960" cy="566928"/>
          </a:xfrm>
          <a:prstGeom prst="roundRect">
            <a:avLst>
              <a:gd name="adj" fmla="val 48387"/>
            </a:avLst>
          </a:prstGeom>
          <a:solidFill>
            <a:srgbClr val="22414D"/>
          </a:solidFill>
          <a:ln w="12700">
            <a:solidFill>
              <a:srgbClr val="3B5A66"/>
            </a:solidFill>
            <a:prstDash val="solid"/>
          </a:ln>
        </p:spPr>
      </p:sp>
      <p:sp>
        <p:nvSpPr>
          <p:cNvPr id="9" name="Text 7"/>
          <p:cNvSpPr txBox="1"/>
          <p:nvPr/>
        </p:nvSpPr>
        <p:spPr>
          <a:xfrm>
            <a:off x="443484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Feel it</a:t>
            </a:r>
            <a:endParaRPr lang="en-US" sz="1400" dirty="0"/>
          </a:p>
        </p:txBody>
      </p:sp>
      <p:sp>
        <p:nvSpPr>
          <p:cNvPr id="10" name="Shape 8"/>
          <p:cNvSpPr/>
          <p:nvPr/>
        </p:nvSpPr>
        <p:spPr>
          <a:xfrm>
            <a:off x="6583680" y="3931920"/>
            <a:ext cx="1965960" cy="566928"/>
          </a:xfrm>
          <a:prstGeom prst="roundRect">
            <a:avLst>
              <a:gd name="adj" fmla="val 48387"/>
            </a:avLst>
          </a:prstGeom>
          <a:solidFill>
            <a:srgbClr val="22414D"/>
          </a:solidFill>
          <a:ln w="12700">
            <a:solidFill>
              <a:srgbClr val="3B5A66"/>
            </a:solidFill>
            <a:prstDash val="solid"/>
          </a:ln>
        </p:spPr>
      </p:sp>
      <p:sp>
        <p:nvSpPr>
          <p:cNvPr id="11" name="Text 9"/>
          <p:cNvSpPr txBox="1"/>
          <p:nvPr/>
        </p:nvSpPr>
        <p:spPr>
          <a:xfrm>
            <a:off x="658368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Cue it</a:t>
            </a:r>
            <a:endParaRPr lang="en-US" sz="1400" dirty="0"/>
          </a:p>
        </p:txBody>
      </p:sp>
      <p:sp>
        <p:nvSpPr>
          <p:cNvPr id="12" name="Shape 10"/>
          <p:cNvSpPr/>
          <p:nvPr/>
        </p:nvSpPr>
        <p:spPr>
          <a:xfrm>
            <a:off x="8732520" y="3931920"/>
            <a:ext cx="1965960" cy="566928"/>
          </a:xfrm>
          <a:prstGeom prst="roundRect">
            <a:avLst>
              <a:gd name="adj" fmla="val 48387"/>
            </a:avLst>
          </a:prstGeom>
          <a:solidFill>
            <a:srgbClr val="22414D"/>
          </a:solidFill>
          <a:ln w="12700">
            <a:solidFill>
              <a:srgbClr val="3B5A66"/>
            </a:solidFill>
            <a:prstDash val="solid"/>
          </a:ln>
        </p:spPr>
      </p:sp>
      <p:sp>
        <p:nvSpPr>
          <p:cNvPr id="13" name="Text 11"/>
          <p:cNvSpPr txBox="1"/>
          <p:nvPr/>
        </p:nvSpPr>
        <p:spPr>
          <a:xfrm>
            <a:off x="8732520" y="3931920"/>
            <a:ext cx="1965960" cy="566928"/>
          </a:xfrm>
          <a:prstGeom prst="rect">
            <a:avLst/>
          </a:prstGeom>
          <a:noFill/>
          <a:ln/>
        </p:spPr>
        <p:txBody>
          <a:bodyPr wrap="squar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it</a:t>
            </a:r>
            <a:endParaRPr lang="en-US" sz="1400" dirty="0"/>
          </a:p>
        </p:txBody>
      </p:sp>
      <p:sp>
        <p:nvSpPr>
          <p:cNvPr id="14"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
        <p:nvSpPr>
          <p:cNvPr id="15"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A9BFC6"/>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Landmarks are bones you can see and feel</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Palpable bony points lie just under the skin</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They let you read alignment from across the room</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Students can find them on themselves</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443484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Use them for reference, not to force symmetry</a:t>
            </a:r>
            <a:endParaRPr lang="en-US" sz="1900" dirty="0"/>
          </a:p>
        </p:txBody>
      </p:sp>
      <p:sp>
        <p:nvSpPr>
          <p:cNvPr id="12" name="Shape 10"/>
          <p:cNvSpPr/>
          <p:nvPr/>
        </p:nvSpPr>
        <p:spPr>
          <a:xfrm>
            <a:off x="5623560" y="1737360"/>
            <a:ext cx="6035040" cy="4389120"/>
          </a:xfrm>
          <a:prstGeom prst="roundRect">
            <a:avLst>
              <a:gd name="adj" fmla="val 2500"/>
            </a:avLst>
          </a:prstGeom>
          <a:solidFill>
            <a:srgbClr val="F9FBFA"/>
          </a:solidFill>
          <a:ln w="12700">
            <a:solidFill>
              <a:srgbClr val="C6D4CF"/>
            </a:solidFill>
            <a:prstDash val="solid"/>
          </a:ln>
        </p:spPr>
      </p:sp>
      <p:pic>
        <p:nvPicPr>
          <p:cNvPr id="13" name="Image 0" descr="Six key landmarks from the front and back">    </p:cNvPr>
          <p:cNvPicPr>
            <a:picLocks noChangeAspect="1"/>
          </p:cNvPicPr>
          <p:nvPr/>
        </p:nvPicPr>
        <p:blipFill>
          <a:blip r:embed="rId1"/>
          <a:stretch>
            <a:fillRect/>
          </a:stretch>
        </p:blipFill>
        <p:spPr>
          <a:xfrm>
            <a:off x="5806440" y="1959102"/>
            <a:ext cx="5669280" cy="3543300"/>
          </a:xfrm>
          <a:prstGeom prst="rect">
            <a:avLst/>
          </a:prstGeom>
        </p:spPr>
      </p:pic>
      <p:sp>
        <p:nvSpPr>
          <p:cNvPr id="14" name="Text 11"/>
          <p:cNvSpPr txBox="1"/>
          <p:nvPr/>
        </p:nvSpPr>
        <p:spPr>
          <a:xfrm>
            <a:off x="5806440" y="5623560"/>
            <a:ext cx="566928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19  </a:t>
            </a:r>
            <a:pPr indent="0" marL="0">
              <a:buNone/>
            </a:pPr>
            <a:r>
              <a:rPr lang="en-US" sz="1100" dirty="0">
                <a:solidFill>
                  <a:srgbClr val="55707A"/>
                </a:solidFill>
                <a:latin typeface="Calibri" pitchFamily="34" charset="0"/>
                <a:ea typeface="Calibri" pitchFamily="34" charset="-122"/>
                <a:cs typeface="Calibri" pitchFamily="34" charset="-120"/>
              </a:rPr>
              <a:t>Six key landmarks from the front and back</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ASIS: the front hip points</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“Place your hands on your front hip points and let them turn toward the front of the mat, as far as your back hip comfortably allows.”</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The ASIS is the forward tip of the iliac crest; watching the two points shows how the pelvis is turned, and many hips cannot square fully in Warrior I.</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Warrior I: the ASIS points show where the pelvis faces">    </p:cNvPr>
          <p:cNvPicPr>
            <a:picLocks noChangeAspect="1"/>
          </p:cNvPicPr>
          <p:nvPr/>
        </p:nvPicPr>
        <p:blipFill>
          <a:blip r:embed="rId1"/>
          <a:stretch>
            <a:fillRect/>
          </a:stretch>
        </p:blipFill>
        <p:spPr>
          <a:xfrm>
            <a:off x="8047845" y="1901952"/>
            <a:ext cx="2466630"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20  </a:t>
            </a:r>
            <a:pPr indent="0" marL="0">
              <a:buNone/>
            </a:pPr>
            <a:r>
              <a:rPr lang="en-US" sz="1100" dirty="0">
                <a:solidFill>
                  <a:srgbClr val="55707A"/>
                </a:solidFill>
                <a:latin typeface="Calibri" pitchFamily="34" charset="0"/>
                <a:ea typeface="Calibri" pitchFamily="34" charset="-122"/>
                <a:cs typeface="Calibri" pitchFamily="34" charset="-120"/>
              </a:rPr>
              <a:t>Warrior I: the ASIS points show where the pelvis faces</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Level of a line across the tops of the iliac crests</a:t>
            </a:r>
            <a:endParaRPr lang="en-US" sz="3000" dirty="0"/>
          </a:p>
        </p:txBody>
      </p:sp>
      <p:sp>
        <p:nvSpPr>
          <p:cNvPr id="4" name="Text 2"/>
          <p:cNvSpPr txBox="1"/>
          <p:nvPr/>
        </p:nvSpPr>
        <p:spPr>
          <a:xfrm>
            <a:off x="548640" y="1737360"/>
            <a:ext cx="6035040" cy="1737360"/>
          </a:xfrm>
          <a:prstGeom prst="rect">
            <a:avLst/>
          </a:prstGeom>
          <a:noFill/>
          <a:ln/>
        </p:spPr>
        <p:txBody>
          <a:bodyPr wrap="square" lIns="0" tIns="0" rIns="0" bIns="0" rtlCol="0" anchor="ctr">
            <a:normAutofit/>
          </a:bodyPr>
          <a:lstStyle/>
          <a:p>
            <a:pPr indent="0" marL="0">
              <a:buNone/>
            </a:pPr>
            <a:r>
              <a:rPr lang="en-US" sz="9600" b="1" dirty="0">
                <a:solidFill>
                  <a:srgbClr val="B3304C"/>
                </a:solidFill>
                <a:latin typeface="Cambria" pitchFamily="34" charset="0"/>
                <a:ea typeface="Cambria" pitchFamily="34" charset="-122"/>
                <a:cs typeface="Cambria" pitchFamily="34" charset="-120"/>
              </a:rPr>
              <a:t>L4</a:t>
            </a:r>
            <a:endParaRPr lang="en-US" sz="9600" dirty="0"/>
          </a:p>
        </p:txBody>
      </p:sp>
      <p:sp>
        <p:nvSpPr>
          <p:cNvPr id="5" name="Text 3"/>
          <p:cNvSpPr txBox="1"/>
          <p:nvPr/>
        </p:nvSpPr>
        <p:spPr>
          <a:xfrm>
            <a:off x="548640" y="3657600"/>
            <a:ext cx="6035040" cy="2194560"/>
          </a:xfrm>
          <a:prstGeom prst="rect">
            <a:avLst/>
          </a:prstGeom>
          <a:noFill/>
          <a:ln/>
        </p:spPr>
        <p:txBody>
          <a:bodyPr wrap="square" lIns="0" tIns="0" rIns="0" bIns="0" rtlCol="0" anchor="t">
            <a:normAutofit/>
          </a:bodyPr>
          <a:lstStyle/>
          <a:p>
            <a:pPr indent="0" marL="0">
              <a:buNone/>
            </a:pPr>
            <a:r>
              <a:rPr lang="en-US" sz="2000" dirty="0">
                <a:solidFill>
                  <a:srgbClr val="16303A"/>
                </a:solidFill>
                <a:latin typeface="Calibri" pitchFamily="34" charset="0"/>
                <a:ea typeface="Calibri" pitchFamily="34" charset="-122"/>
                <a:cs typeface="Calibri" pitchFamily="34" charset="-120"/>
              </a:rPr>
              <a:t>Hands on hips rest on the iliac crests. A line joining their highest points crosses the spine at about the fourth lumbar vertebra.</a:t>
            </a:r>
            <a:endParaRPr lang="en-US" sz="2000" dirty="0"/>
          </a:p>
        </p:txBody>
      </p:sp>
      <p:sp>
        <p:nvSpPr>
          <p:cNvPr id="6" name="Shape 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7" name="Image 0" descr="Mountain: iliac crests level at the waist">    </p:cNvPr>
          <p:cNvPicPr>
            <a:picLocks noChangeAspect="1"/>
          </p:cNvPicPr>
          <p:nvPr/>
        </p:nvPicPr>
        <p:blipFill>
          <a:blip r:embed="rId1"/>
          <a:stretch>
            <a:fillRect/>
          </a:stretch>
        </p:blipFill>
        <p:spPr>
          <a:xfrm>
            <a:off x="8067738" y="1901952"/>
            <a:ext cx="2426844" cy="3657600"/>
          </a:xfrm>
          <a:prstGeom prst="rect">
            <a:avLst/>
          </a:prstGeom>
        </p:spPr>
      </p:pic>
      <p:sp>
        <p:nvSpPr>
          <p:cNvPr id="8" name="Text 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21  </a:t>
            </a:r>
            <a:pPr indent="0" marL="0">
              <a:buNone/>
            </a:pPr>
            <a:r>
              <a:rPr lang="en-US" sz="1100" dirty="0">
                <a:solidFill>
                  <a:srgbClr val="55707A"/>
                </a:solidFill>
                <a:latin typeface="Calibri" pitchFamily="34" charset="0"/>
                <a:ea typeface="Calibri" pitchFamily="34" charset="-122"/>
                <a:cs typeface="Calibri" pitchFamily="34" charset="-120"/>
              </a:rPr>
              <a:t>Mountain: iliac crests level at the waist</a:t>
            </a:r>
            <a:endParaRPr lang="en-US" sz="1100" dirty="0"/>
          </a:p>
        </p:txBody>
      </p:sp>
      <p:sp>
        <p:nvSpPr>
          <p:cNvPr id="9" name="Text 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0" name="Text 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  ·  CUE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Acromion and C7: shoulders and neck</a:t>
            </a:r>
            <a:endParaRPr lang="en-US" sz="3000" dirty="0"/>
          </a:p>
        </p:txBody>
      </p:sp>
      <p:sp>
        <p:nvSpPr>
          <p:cNvPr id="4" name="Shape 2"/>
          <p:cNvSpPr/>
          <p:nvPr/>
        </p:nvSpPr>
        <p:spPr>
          <a:xfrm>
            <a:off x="548640" y="1783080"/>
            <a:ext cx="6035040" cy="2377440"/>
          </a:xfrm>
          <a:prstGeom prst="roundRect">
            <a:avLst>
              <a:gd name="adj" fmla="val 5385"/>
            </a:avLst>
          </a:prstGeom>
          <a:solidFill>
            <a:srgbClr val="16303A"/>
          </a:solidFill>
          <a:ln w="12700">
            <a:solidFill>
              <a:srgbClr val="16303A"/>
            </a:solidFill>
            <a:prstDash val="solid"/>
          </a:ln>
        </p:spPr>
      </p:sp>
      <p:sp>
        <p:nvSpPr>
          <p:cNvPr id="5" name="Text 3"/>
          <p:cNvSpPr txBox="1"/>
          <p:nvPr/>
        </p:nvSpPr>
        <p:spPr>
          <a:xfrm>
            <a:off x="868680" y="1920240"/>
            <a:ext cx="5394960" cy="2103120"/>
          </a:xfrm>
          <a:prstGeom prst="rect">
            <a:avLst/>
          </a:prstGeom>
          <a:noFill/>
          <a:ln/>
        </p:spPr>
        <p:txBody>
          <a:bodyPr wrap="square" lIns="0" tIns="0" rIns="0" bIns="0" rtlCol="0" anchor="ctr">
            <a:normAutofit/>
          </a:bodyPr>
          <a:lstStyle/>
          <a:p>
            <a:pPr indent="0" marL="0">
              <a:buNone/>
            </a:pPr>
            <a:r>
              <a:rPr lang="en-US" sz="2400" dirty="0">
                <a:solidFill>
                  <a:srgbClr val="FFFFFF"/>
                </a:solidFill>
                <a:latin typeface="Cambria" pitchFamily="34" charset="0"/>
                <a:ea typeface="Cambria" pitchFamily="34" charset="-122"/>
                <a:cs typeface="Cambria" pitchFamily="34" charset="-120"/>
              </a:rPr>
              <a:t>“Let the tops of your shoulders widen away from your ears, and keep the bump at the base of your neck soft and long.”</a:t>
            </a:r>
            <a:endParaRPr lang="en-US" sz="2400" dirty="0"/>
          </a:p>
        </p:txBody>
      </p:sp>
      <p:sp>
        <p:nvSpPr>
          <p:cNvPr id="6" name="Text 4"/>
          <p:cNvSpPr txBox="1"/>
          <p:nvPr/>
        </p:nvSpPr>
        <p:spPr>
          <a:xfrm>
            <a:off x="548640" y="4389120"/>
            <a:ext cx="6035040" cy="1554480"/>
          </a:xfrm>
          <a:prstGeom prst="rect">
            <a:avLst/>
          </a:prstGeom>
          <a:noFill/>
          <a:ln/>
        </p:spPr>
        <p:txBody>
          <a:bodyPr wrap="square" lIns="0" tIns="0" rIns="0" bIns="0" rtlCol="0" anchor="t">
            <a:normAutofit/>
          </a:bodyPr>
          <a:lstStyle/>
          <a:p>
            <a:pPr indent="0" marL="0">
              <a:buNone/>
            </a:pPr>
            <a:r>
              <a:rPr lang="en-US" sz="1800" b="1" dirty="0">
                <a:solidFill>
                  <a:srgbClr val="2F7359"/>
                </a:solidFill>
                <a:latin typeface="Calibri" pitchFamily="34" charset="0"/>
                <a:ea typeface="Calibri" pitchFamily="34" charset="-122"/>
                <a:cs typeface="Calibri" pitchFamily="34" charset="-120"/>
              </a:rPr>
              <a:t>Why it works  </a:t>
            </a:r>
            <a:pPr indent="0" marL="0">
              <a:buNone/>
            </a:pPr>
            <a:r>
              <a:rPr lang="en-US" sz="1800" dirty="0">
                <a:solidFill>
                  <a:srgbClr val="16303A"/>
                </a:solidFill>
                <a:latin typeface="Calibri" pitchFamily="34" charset="0"/>
                <a:ea typeface="Calibri" pitchFamily="34" charset="-122"/>
                <a:cs typeface="Calibri" pitchFamily="34" charset="-120"/>
              </a:rPr>
              <a:t>The acromion is the bony top of the shoulder; C7 has the most prominent spinous process at the base of the neck, so both show how the shoulders and head are carried.</a:t>
            </a:r>
            <a:endParaRPr lang="en-US" sz="1800" dirty="0"/>
          </a:p>
        </p:txBody>
      </p:sp>
      <p:sp>
        <p:nvSpPr>
          <p:cNvPr id="7" name="Shape 5"/>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8" name="Image 0" descr="Warrior II: acromions level and away from the ears">    </p:cNvPr>
          <p:cNvPicPr>
            <a:picLocks noChangeAspect="1"/>
          </p:cNvPicPr>
          <p:nvPr/>
        </p:nvPicPr>
        <p:blipFill>
          <a:blip r:embed="rId1"/>
          <a:stretch>
            <a:fillRect/>
          </a:stretch>
        </p:blipFill>
        <p:spPr>
          <a:xfrm>
            <a:off x="7185731" y="1901952"/>
            <a:ext cx="4190858" cy="3657600"/>
          </a:xfrm>
          <a:prstGeom prst="rect">
            <a:avLst/>
          </a:prstGeom>
        </p:spPr>
      </p:pic>
      <p:sp>
        <p:nvSpPr>
          <p:cNvPr id="9" name="Text 6"/>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22  </a:t>
            </a:r>
            <a:pPr indent="0" marL="0">
              <a:buNone/>
            </a:pPr>
            <a:r>
              <a:rPr lang="en-US" sz="1100" dirty="0">
                <a:solidFill>
                  <a:srgbClr val="55707A"/>
                </a:solidFill>
                <a:latin typeface="Calibri" pitchFamily="34" charset="0"/>
                <a:ea typeface="Calibri" pitchFamily="34" charset="-122"/>
                <a:cs typeface="Calibri" pitchFamily="34" charset="-120"/>
              </a:rPr>
              <a:t>Warrior II: acromions level and away from the ears</a:t>
            </a:r>
            <a:endParaRPr lang="en-US" sz="1100" dirty="0"/>
          </a:p>
        </p:txBody>
      </p:sp>
      <p:sp>
        <p:nvSpPr>
          <p:cNvPr id="10" name="Text 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8"/>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Greater trochanter and malleoli</a:t>
            </a:r>
            <a:endParaRPr lang="en-US" sz="3000" dirty="0"/>
          </a:p>
        </p:txBody>
      </p:sp>
      <p:sp>
        <p:nvSpPr>
          <p:cNvPr id="4" name="Shape 2"/>
          <p:cNvSpPr/>
          <p:nvPr/>
        </p:nvSpPr>
        <p:spPr>
          <a:xfrm>
            <a:off x="548640" y="1984248"/>
            <a:ext cx="182880" cy="182880"/>
          </a:xfrm>
          <a:prstGeom prst="ellipse">
            <a:avLst/>
          </a:prstGeom>
          <a:solidFill>
            <a:srgbClr val="B3304C"/>
          </a:solidFill>
          <a:ln w="12700">
            <a:solidFill>
              <a:srgbClr val="B3304C"/>
            </a:solidFill>
            <a:prstDash val="solid"/>
          </a:ln>
        </p:spPr>
      </p:sp>
      <p:sp>
        <p:nvSpPr>
          <p:cNvPr id="5" name="Text 3"/>
          <p:cNvSpPr txBox="1"/>
          <p:nvPr/>
        </p:nvSpPr>
        <p:spPr>
          <a:xfrm>
            <a:off x="960120" y="1874520"/>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Greater trochanter: bony bump on the outer hip</a:t>
            </a:r>
            <a:endParaRPr lang="en-US" sz="1900" dirty="0"/>
          </a:p>
        </p:txBody>
      </p:sp>
      <p:sp>
        <p:nvSpPr>
          <p:cNvPr id="6" name="Shape 4"/>
          <p:cNvSpPr/>
          <p:nvPr/>
        </p:nvSpPr>
        <p:spPr>
          <a:xfrm>
            <a:off x="548640" y="2916936"/>
            <a:ext cx="182880" cy="182880"/>
          </a:xfrm>
          <a:prstGeom prst="ellipse">
            <a:avLst/>
          </a:prstGeom>
          <a:solidFill>
            <a:srgbClr val="2F7359"/>
          </a:solidFill>
          <a:ln w="12700">
            <a:solidFill>
              <a:srgbClr val="2F7359"/>
            </a:solidFill>
            <a:prstDash val="solid"/>
          </a:ln>
        </p:spPr>
      </p:sp>
      <p:sp>
        <p:nvSpPr>
          <p:cNvPr id="7" name="Text 5"/>
          <p:cNvSpPr txBox="1"/>
          <p:nvPr/>
        </p:nvSpPr>
        <p:spPr>
          <a:xfrm>
            <a:off x="960120" y="2807208"/>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It moves when the thigh rotates</a:t>
            </a:r>
            <a:endParaRPr lang="en-US" sz="1900" dirty="0"/>
          </a:p>
        </p:txBody>
      </p:sp>
      <p:sp>
        <p:nvSpPr>
          <p:cNvPr id="8" name="Shape 6"/>
          <p:cNvSpPr/>
          <p:nvPr/>
        </p:nvSpPr>
        <p:spPr>
          <a:xfrm>
            <a:off x="548640" y="3849624"/>
            <a:ext cx="182880" cy="182880"/>
          </a:xfrm>
          <a:prstGeom prst="ellipse">
            <a:avLst/>
          </a:prstGeom>
          <a:solidFill>
            <a:srgbClr val="B3304C"/>
          </a:solidFill>
          <a:ln w="12700">
            <a:solidFill>
              <a:srgbClr val="B3304C"/>
            </a:solidFill>
            <a:prstDash val="solid"/>
          </a:ln>
        </p:spPr>
      </p:sp>
      <p:sp>
        <p:nvSpPr>
          <p:cNvPr id="9" name="Text 7"/>
          <p:cNvSpPr txBox="1"/>
          <p:nvPr/>
        </p:nvSpPr>
        <p:spPr>
          <a:xfrm>
            <a:off x="960120" y="3739896"/>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Medial malleolus (tibia) sits higher than lateral (fibula)</a:t>
            </a:r>
            <a:endParaRPr lang="en-US" sz="1900" dirty="0"/>
          </a:p>
        </p:txBody>
      </p:sp>
      <p:sp>
        <p:nvSpPr>
          <p:cNvPr id="10" name="Shape 8"/>
          <p:cNvSpPr/>
          <p:nvPr/>
        </p:nvSpPr>
        <p:spPr>
          <a:xfrm>
            <a:off x="548640" y="4782312"/>
            <a:ext cx="182880" cy="182880"/>
          </a:xfrm>
          <a:prstGeom prst="ellipse">
            <a:avLst/>
          </a:prstGeom>
          <a:solidFill>
            <a:srgbClr val="2F7359"/>
          </a:solidFill>
          <a:ln w="12700">
            <a:solidFill>
              <a:srgbClr val="2F7359"/>
            </a:solidFill>
            <a:prstDash val="solid"/>
          </a:ln>
        </p:spPr>
      </p:sp>
      <p:sp>
        <p:nvSpPr>
          <p:cNvPr id="11" name="Text 9"/>
          <p:cNvSpPr txBox="1"/>
          <p:nvPr/>
        </p:nvSpPr>
        <p:spPr>
          <a:xfrm>
            <a:off x="960120" y="4672584"/>
            <a:ext cx="5623560" cy="777240"/>
          </a:xfrm>
          <a:prstGeom prst="rect">
            <a:avLst/>
          </a:prstGeom>
          <a:noFill/>
          <a:ln/>
        </p:spPr>
        <p:txBody>
          <a:bodyPr wrap="square" lIns="0" tIns="0" rIns="0" bIns="0" rtlCol="0" anchor="t">
            <a:normAutofit/>
          </a:bodyPr>
          <a:lstStyle/>
          <a:p>
            <a:pPr indent="0" marL="0">
              <a:buNone/>
            </a:pPr>
            <a:r>
              <a:rPr lang="en-US" sz="1900" dirty="0">
                <a:solidFill>
                  <a:srgbClr val="16303A"/>
                </a:solidFill>
                <a:latin typeface="Calibri" pitchFamily="34" charset="0"/>
                <a:ea typeface="Calibri" pitchFamily="34" charset="-122"/>
                <a:cs typeface="Calibri" pitchFamily="34" charset="-120"/>
              </a:rPr>
              <a:t>In Tree, place the foot above or below the knee</a:t>
            </a:r>
            <a:endParaRPr lang="en-US" sz="1900" dirty="0"/>
          </a:p>
        </p:txBody>
      </p:sp>
      <p:sp>
        <p:nvSpPr>
          <p:cNvPr id="12" name="Shape 10"/>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3" name="Image 0" descr="Tree: hips, knee and ankle as reference points">    </p:cNvPr>
          <p:cNvPicPr>
            <a:picLocks noChangeAspect="1"/>
          </p:cNvPicPr>
          <p:nvPr/>
        </p:nvPicPr>
        <p:blipFill>
          <a:blip r:embed="rId1"/>
          <a:stretch>
            <a:fillRect/>
          </a:stretch>
        </p:blipFill>
        <p:spPr>
          <a:xfrm>
            <a:off x="8247383" y="1901952"/>
            <a:ext cx="2067553" cy="3657600"/>
          </a:xfrm>
          <a:prstGeom prst="rect">
            <a:avLst/>
          </a:prstGeom>
        </p:spPr>
      </p:pic>
      <p:sp>
        <p:nvSpPr>
          <p:cNvPr id="14" name="Text 11"/>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23  </a:t>
            </a:r>
            <a:pPr indent="0" marL="0">
              <a:buNone/>
            </a:pPr>
            <a:r>
              <a:rPr lang="en-US" sz="1100" dirty="0">
                <a:solidFill>
                  <a:srgbClr val="55707A"/>
                </a:solidFill>
                <a:latin typeface="Calibri" pitchFamily="34" charset="0"/>
                <a:ea typeface="Calibri" pitchFamily="34" charset="-122"/>
                <a:cs typeface="Calibri" pitchFamily="34" charset="-120"/>
              </a:rPr>
              <a:t>Tree: hips, knee and ankle as reference points</a:t>
            </a:r>
            <a:endParaRPr lang="en-US" sz="1100" dirty="0"/>
          </a:p>
        </p:txBody>
      </p:sp>
      <p:sp>
        <p:nvSpPr>
          <p:cNvPr id="15" name="Text 1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6" name="Text 1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  ·  FEEL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Feel it: a landmark tour on yourself</a:t>
            </a:r>
            <a:endParaRPr lang="en-US" sz="3000" dirty="0"/>
          </a:p>
        </p:txBody>
      </p:sp>
      <p:sp>
        <p:nvSpPr>
          <p:cNvPr id="4" name="Shape 2"/>
          <p:cNvSpPr/>
          <p:nvPr/>
        </p:nvSpPr>
        <p:spPr>
          <a:xfrm>
            <a:off x="548640" y="1828800"/>
            <a:ext cx="457200" cy="457200"/>
          </a:xfrm>
          <a:prstGeom prst="ellipse">
            <a:avLst/>
          </a:prstGeom>
          <a:solidFill>
            <a:srgbClr val="2F7359"/>
          </a:solidFill>
          <a:ln w="12700">
            <a:solidFill>
              <a:srgbClr val="2F7359"/>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34440" y="17830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Hands on hips: find the iliac crests, then slide forward to the ASIS points.</a:t>
            </a:r>
            <a:endParaRPr lang="en-US" sz="1800" dirty="0"/>
          </a:p>
        </p:txBody>
      </p:sp>
      <p:sp>
        <p:nvSpPr>
          <p:cNvPr id="7" name="Shape 5"/>
          <p:cNvSpPr/>
          <p:nvPr/>
        </p:nvSpPr>
        <p:spPr>
          <a:xfrm>
            <a:off x="548640" y="2743200"/>
            <a:ext cx="457200" cy="457200"/>
          </a:xfrm>
          <a:prstGeom prst="ellipse">
            <a:avLst/>
          </a:prstGeom>
          <a:solidFill>
            <a:srgbClr val="2F7359"/>
          </a:solidFill>
          <a:ln w="12700">
            <a:solidFill>
              <a:srgbClr val="2F7359"/>
            </a:solidFill>
            <a:prstDash val="solid"/>
          </a:ln>
        </p:spPr>
      </p:sp>
      <p:sp>
        <p:nvSpPr>
          <p:cNvPr id="8" name="Text 6"/>
          <p:cNvSpPr txBox="1"/>
          <p:nvPr/>
        </p:nvSpPr>
        <p:spPr>
          <a:xfrm>
            <a:off x="548640" y="2743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9" name="Text 7"/>
          <p:cNvSpPr txBox="1"/>
          <p:nvPr/>
        </p:nvSpPr>
        <p:spPr>
          <a:xfrm>
            <a:off x="1234440" y="26974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Thumbs back: feel for the PSIS dimples beside the sacrum.</a:t>
            </a:r>
            <a:endParaRPr lang="en-US" sz="1800" dirty="0"/>
          </a:p>
        </p:txBody>
      </p:sp>
      <p:sp>
        <p:nvSpPr>
          <p:cNvPr id="10" name="Shape 8"/>
          <p:cNvSpPr/>
          <p:nvPr/>
        </p:nvSpPr>
        <p:spPr>
          <a:xfrm>
            <a:off x="548640" y="3657600"/>
            <a:ext cx="457200" cy="457200"/>
          </a:xfrm>
          <a:prstGeom prst="ellipse">
            <a:avLst/>
          </a:prstGeom>
          <a:solidFill>
            <a:srgbClr val="2F7359"/>
          </a:solidFill>
          <a:ln w="12700">
            <a:solidFill>
              <a:srgbClr val="2F7359"/>
            </a:solidFill>
            <a:prstDash val="solid"/>
          </a:ln>
        </p:spPr>
      </p:sp>
      <p:sp>
        <p:nvSpPr>
          <p:cNvPr id="11" name="Text 9"/>
          <p:cNvSpPr txBox="1"/>
          <p:nvPr/>
        </p:nvSpPr>
        <p:spPr>
          <a:xfrm>
            <a:off x="548640" y="36576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2" name="Text 10"/>
          <p:cNvSpPr txBox="1"/>
          <p:nvPr/>
        </p:nvSpPr>
        <p:spPr>
          <a:xfrm>
            <a:off x="1234440" y="36118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Find the greater trochanter and turn the foot in and out to feel it move.</a:t>
            </a:r>
            <a:endParaRPr lang="en-US" sz="1800" dirty="0"/>
          </a:p>
        </p:txBody>
      </p:sp>
      <p:sp>
        <p:nvSpPr>
          <p:cNvPr id="13" name="Shape 11"/>
          <p:cNvSpPr/>
          <p:nvPr/>
        </p:nvSpPr>
        <p:spPr>
          <a:xfrm>
            <a:off x="548640" y="4572000"/>
            <a:ext cx="457200" cy="457200"/>
          </a:xfrm>
          <a:prstGeom prst="ellipse">
            <a:avLst/>
          </a:prstGeom>
          <a:solidFill>
            <a:srgbClr val="2F7359"/>
          </a:solidFill>
          <a:ln w="12700">
            <a:solidFill>
              <a:srgbClr val="2F7359"/>
            </a:solidFill>
            <a:prstDash val="solid"/>
          </a:ln>
        </p:spPr>
      </p:sp>
      <p:sp>
        <p:nvSpPr>
          <p:cNvPr id="14" name="Text 12"/>
          <p:cNvSpPr txBox="1"/>
          <p:nvPr/>
        </p:nvSpPr>
        <p:spPr>
          <a:xfrm>
            <a:off x="548640" y="45720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5" name="Text 13"/>
          <p:cNvSpPr txBox="1"/>
          <p:nvPr/>
        </p:nvSpPr>
        <p:spPr>
          <a:xfrm>
            <a:off x="1234440" y="4526280"/>
            <a:ext cx="5349240" cy="8229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Trace the collarbone out to the acromion; find C7, then both malleoli.</a:t>
            </a:r>
            <a:endParaRPr lang="en-US" sz="1800" dirty="0"/>
          </a:p>
        </p:txBody>
      </p:sp>
      <p:sp>
        <p:nvSpPr>
          <p:cNvPr id="16" name="Shape 14"/>
          <p:cNvSpPr/>
          <p:nvPr/>
        </p:nvSpPr>
        <p:spPr>
          <a:xfrm>
            <a:off x="6903720" y="1737360"/>
            <a:ext cx="4754880" cy="4389120"/>
          </a:xfrm>
          <a:prstGeom prst="roundRect">
            <a:avLst>
              <a:gd name="adj" fmla="val 2500"/>
            </a:avLst>
          </a:prstGeom>
          <a:solidFill>
            <a:srgbClr val="FFFFFF"/>
          </a:solidFill>
          <a:ln w="12700">
            <a:solidFill>
              <a:srgbClr val="C6D4CF"/>
            </a:solidFill>
            <a:prstDash val="solid"/>
          </a:ln>
        </p:spPr>
      </p:sp>
      <p:pic>
        <p:nvPicPr>
          <p:cNvPr id="17" name="Image 0" descr="Mountain: a full landmark tour">    </p:cNvPr>
          <p:cNvPicPr>
            <a:picLocks noChangeAspect="1"/>
          </p:cNvPicPr>
          <p:nvPr/>
        </p:nvPicPr>
        <p:blipFill>
          <a:blip r:embed="rId1"/>
          <a:stretch>
            <a:fillRect/>
          </a:stretch>
        </p:blipFill>
        <p:spPr>
          <a:xfrm>
            <a:off x="8067738" y="1901952"/>
            <a:ext cx="2426844" cy="3657600"/>
          </a:xfrm>
          <a:prstGeom prst="rect">
            <a:avLst/>
          </a:prstGeom>
        </p:spPr>
      </p:pic>
      <p:sp>
        <p:nvSpPr>
          <p:cNvPr id="18" name="Text 15"/>
          <p:cNvSpPr txBox="1"/>
          <p:nvPr/>
        </p:nvSpPr>
        <p:spPr>
          <a:xfrm>
            <a:off x="7086600" y="5623560"/>
            <a:ext cx="4389120" cy="457200"/>
          </a:xfrm>
          <a:prstGeom prst="rect">
            <a:avLst/>
          </a:prstGeom>
          <a:noFill/>
          <a:ln/>
        </p:spPr>
        <p:txBody>
          <a:bodyPr wrap="square" lIns="0" tIns="0" rIns="0" bIns="0" rtlCol="0" anchor="ctr">
            <a:normAutofit/>
          </a:bodyPr>
          <a:lstStyle/>
          <a:p>
            <a:pPr indent="0" marL="0">
              <a:buNone/>
            </a:pPr>
            <a:r>
              <a:rPr lang="en-US" sz="1100" b="1" dirty="0">
                <a:solidFill>
                  <a:srgbClr val="B3304C"/>
                </a:solidFill>
                <a:latin typeface="Calibri" pitchFamily="34" charset="0"/>
                <a:ea typeface="Calibri" pitchFamily="34" charset="-122"/>
                <a:cs typeface="Calibri" pitchFamily="34" charset="-120"/>
              </a:rPr>
              <a:t>Plate 24  </a:t>
            </a:r>
            <a:pPr indent="0" marL="0">
              <a:buNone/>
            </a:pPr>
            <a:r>
              <a:rPr lang="en-US" sz="1100" dirty="0">
                <a:solidFill>
                  <a:srgbClr val="55707A"/>
                </a:solidFill>
                <a:latin typeface="Calibri" pitchFamily="34" charset="0"/>
                <a:ea typeface="Calibri" pitchFamily="34" charset="-122"/>
                <a:cs typeface="Calibri" pitchFamily="34" charset="-120"/>
              </a:rPr>
              <a:t>Mountain: a full landmark tour</a:t>
            </a:r>
            <a:endParaRPr lang="en-US" sz="1100" dirty="0"/>
          </a:p>
        </p:txBody>
      </p:sp>
      <p:sp>
        <p:nvSpPr>
          <p:cNvPr id="19" name="Text 16"/>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0" name="Text 17"/>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DF2E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In Warrior I a student's back hip will not turn to face forward. What is the best response?</a:t>
            </a:r>
            <a:endParaRPr lang="en-US" sz="3000" dirty="0"/>
          </a:p>
        </p:txBody>
      </p:sp>
      <p:sp>
        <p:nvSpPr>
          <p:cNvPr id="4" name="Shape 2"/>
          <p:cNvSpPr/>
          <p:nvPr/>
        </p:nvSpPr>
        <p:spPr>
          <a:xfrm>
            <a:off x="548640" y="2057400"/>
            <a:ext cx="7863840" cy="777240"/>
          </a:xfrm>
          <a:prstGeom prst="roundRect">
            <a:avLst>
              <a:gd name="adj" fmla="val 11765"/>
            </a:avLst>
          </a:prstGeom>
          <a:solidFill>
            <a:srgbClr val="FFFFFF"/>
          </a:solidFill>
          <a:ln w="12700">
            <a:solidFill>
              <a:srgbClr val="C6D4CF"/>
            </a:solidFill>
            <a:prstDash val="solid"/>
          </a:ln>
        </p:spPr>
      </p:sp>
      <p:sp>
        <p:nvSpPr>
          <p:cNvPr id="5" name="Shape 3"/>
          <p:cNvSpPr/>
          <p:nvPr/>
        </p:nvSpPr>
        <p:spPr>
          <a:xfrm>
            <a:off x="731520" y="2212848"/>
            <a:ext cx="457200" cy="457200"/>
          </a:xfrm>
          <a:prstGeom prst="ellipse">
            <a:avLst/>
          </a:prstGeom>
          <a:solidFill>
            <a:srgbClr val="16303A"/>
          </a:solidFill>
          <a:ln w="12700">
            <a:solidFill>
              <a:srgbClr val="16303A"/>
            </a:solidFill>
            <a:prstDash val="solid"/>
          </a:ln>
        </p:spPr>
      </p:sp>
      <p:sp>
        <p:nvSpPr>
          <p:cNvPr id="6" name="Text 4"/>
          <p:cNvSpPr txBox="1"/>
          <p:nvPr/>
        </p:nvSpPr>
        <p:spPr>
          <a:xfrm>
            <a:off x="731520" y="22128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7" name="Text 5"/>
          <p:cNvSpPr txBox="1"/>
          <p:nvPr/>
        </p:nvSpPr>
        <p:spPr>
          <a:xfrm>
            <a:off x="1371600" y="205740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Press on the ASIS until the hips square</a:t>
            </a:r>
            <a:endParaRPr lang="en-US" sz="1700" dirty="0"/>
          </a:p>
        </p:txBody>
      </p:sp>
      <p:sp>
        <p:nvSpPr>
          <p:cNvPr id="8" name="Shape 6"/>
          <p:cNvSpPr/>
          <p:nvPr/>
        </p:nvSpPr>
        <p:spPr>
          <a:xfrm>
            <a:off x="548640" y="3017520"/>
            <a:ext cx="7863840" cy="777240"/>
          </a:xfrm>
          <a:prstGeom prst="roundRect">
            <a:avLst>
              <a:gd name="adj" fmla="val 11765"/>
            </a:avLst>
          </a:prstGeom>
          <a:solidFill>
            <a:srgbClr val="FFFFFF"/>
          </a:solidFill>
          <a:ln w="12700">
            <a:solidFill>
              <a:srgbClr val="C6D4CF"/>
            </a:solidFill>
            <a:prstDash val="solid"/>
          </a:ln>
        </p:spPr>
      </p:sp>
      <p:sp>
        <p:nvSpPr>
          <p:cNvPr id="9" name="Shape 7"/>
          <p:cNvSpPr/>
          <p:nvPr/>
        </p:nvSpPr>
        <p:spPr>
          <a:xfrm>
            <a:off x="731520" y="3172968"/>
            <a:ext cx="457200" cy="457200"/>
          </a:xfrm>
          <a:prstGeom prst="ellipse">
            <a:avLst/>
          </a:prstGeom>
          <a:solidFill>
            <a:srgbClr val="16303A"/>
          </a:solidFill>
          <a:ln w="12700">
            <a:solidFill>
              <a:srgbClr val="16303A"/>
            </a:solidFill>
            <a:prstDash val="solid"/>
          </a:ln>
        </p:spPr>
      </p:sp>
      <p:sp>
        <p:nvSpPr>
          <p:cNvPr id="10" name="Text 8"/>
          <p:cNvSpPr txBox="1"/>
          <p:nvPr/>
        </p:nvSpPr>
        <p:spPr>
          <a:xfrm>
            <a:off x="731520" y="317296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11" name="Text 9"/>
          <p:cNvSpPr txBox="1"/>
          <p:nvPr/>
        </p:nvSpPr>
        <p:spPr>
          <a:xfrm>
            <a:off x="1371600" y="301752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Invite the hips toward the front as far as comfortable, and offer a shorter, wider stance</a:t>
            </a:r>
            <a:endParaRPr lang="en-US" sz="1700" dirty="0"/>
          </a:p>
        </p:txBody>
      </p:sp>
      <p:sp>
        <p:nvSpPr>
          <p:cNvPr id="12" name="Shape 10"/>
          <p:cNvSpPr/>
          <p:nvPr/>
        </p:nvSpPr>
        <p:spPr>
          <a:xfrm>
            <a:off x="548640" y="3977640"/>
            <a:ext cx="7863840" cy="777240"/>
          </a:xfrm>
          <a:prstGeom prst="roundRect">
            <a:avLst>
              <a:gd name="adj" fmla="val 11765"/>
            </a:avLst>
          </a:prstGeom>
          <a:solidFill>
            <a:srgbClr val="FFFFFF"/>
          </a:solidFill>
          <a:ln w="12700">
            <a:solidFill>
              <a:srgbClr val="C6D4CF"/>
            </a:solidFill>
            <a:prstDash val="solid"/>
          </a:ln>
        </p:spPr>
      </p:sp>
      <p:sp>
        <p:nvSpPr>
          <p:cNvPr id="13" name="Shape 11"/>
          <p:cNvSpPr/>
          <p:nvPr/>
        </p:nvSpPr>
        <p:spPr>
          <a:xfrm>
            <a:off x="731520" y="4133088"/>
            <a:ext cx="457200" cy="457200"/>
          </a:xfrm>
          <a:prstGeom prst="ellipse">
            <a:avLst/>
          </a:prstGeom>
          <a:solidFill>
            <a:srgbClr val="16303A"/>
          </a:solidFill>
          <a:ln w="12700">
            <a:solidFill>
              <a:srgbClr val="16303A"/>
            </a:solidFill>
            <a:prstDash val="solid"/>
          </a:ln>
        </p:spPr>
      </p:sp>
      <p:sp>
        <p:nvSpPr>
          <p:cNvPr id="14" name="Text 12"/>
          <p:cNvSpPr txBox="1"/>
          <p:nvPr/>
        </p:nvSpPr>
        <p:spPr>
          <a:xfrm>
            <a:off x="731520" y="4133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5" name="Text 13"/>
          <p:cNvSpPr txBox="1"/>
          <p:nvPr/>
        </p:nvSpPr>
        <p:spPr>
          <a:xfrm>
            <a:off x="1371600" y="3977640"/>
            <a:ext cx="6858000" cy="777240"/>
          </a:xfrm>
          <a:prstGeom prst="rect">
            <a:avLst/>
          </a:prstGeom>
          <a:noFill/>
          <a:ln/>
        </p:spPr>
        <p:txBody>
          <a:bodyPr wrap="square" lIns="0" tIns="0" rIns="0" bIns="0" rtlCol="0" anchor="ctr">
            <a:normAutofit/>
          </a:bodyPr>
          <a:lstStyle/>
          <a:p>
            <a:pPr indent="0" marL="0">
              <a:buNone/>
            </a:pPr>
            <a:r>
              <a:rPr lang="en-US" sz="1700" dirty="0">
                <a:solidFill>
                  <a:srgbClr val="16303A"/>
                </a:solidFill>
                <a:latin typeface="Calibri" pitchFamily="34" charset="0"/>
                <a:ea typeface="Calibri" pitchFamily="34" charset="-122"/>
                <a:cs typeface="Calibri" pitchFamily="34" charset="-120"/>
              </a:rPr>
              <a:t>Tell them their pelvis is misaligned</a:t>
            </a:r>
            <a:endParaRPr lang="en-US" sz="1700" dirty="0"/>
          </a:p>
        </p:txBody>
      </p:sp>
      <p:sp>
        <p:nvSpPr>
          <p:cNvPr id="16" name="Text 14"/>
          <p:cNvSpPr txBox="1"/>
          <p:nvPr/>
        </p:nvSpPr>
        <p:spPr>
          <a:xfrm>
            <a:off x="8778240" y="2194560"/>
            <a:ext cx="2834640" cy="1280160"/>
          </a:xfrm>
          <a:prstGeom prst="rect">
            <a:avLst/>
          </a:prstGeom>
          <a:noFill/>
          <a:ln/>
        </p:spPr>
        <p:txBody>
          <a:bodyPr wrap="square" lIns="0" tIns="0" rIns="0" bIns="0" rtlCol="0" anchor="ctr"/>
          <a:lstStyle/>
          <a:p>
            <a:pPr indent="0" marL="0">
              <a:buNone/>
            </a:pPr>
            <a:r>
              <a:rPr lang="en-US" sz="1800" i="1" dirty="0">
                <a:solidFill>
                  <a:srgbClr val="55707A"/>
                </a:solidFill>
                <a:latin typeface="Cambria" pitchFamily="34" charset="0"/>
                <a:ea typeface="Cambria" pitchFamily="34" charset="-122"/>
                <a:cs typeface="Cambria" pitchFamily="34" charset="-120"/>
              </a:rPr>
              <a:t>Pause the video and choose before you move on.</a:t>
            </a:r>
            <a:endParaRPr lang="en-US" sz="1800" dirty="0"/>
          </a:p>
        </p:txBody>
      </p:sp>
      <p:sp>
        <p:nvSpPr>
          <p:cNvPr id="17" name="Text 1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8" name="Text 16"/>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LESSON 2.5  ·  CHECK IT</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Answer</a:t>
            </a:r>
            <a:endParaRPr lang="en-US" sz="3000" dirty="0"/>
          </a:p>
        </p:txBody>
      </p:sp>
      <p:sp>
        <p:nvSpPr>
          <p:cNvPr id="4" name="Shape 2"/>
          <p:cNvSpPr/>
          <p:nvPr/>
        </p:nvSpPr>
        <p:spPr>
          <a:xfrm>
            <a:off x="548640" y="1737360"/>
            <a:ext cx="11064240" cy="1097280"/>
          </a:xfrm>
          <a:prstGeom prst="roundRect">
            <a:avLst>
              <a:gd name="adj" fmla="val 10000"/>
            </a:avLst>
          </a:prstGeom>
          <a:solidFill>
            <a:srgbClr val="D5E9DF"/>
          </a:solidFill>
          <a:ln w="19050">
            <a:solidFill>
              <a:srgbClr val="2F7359"/>
            </a:solidFill>
            <a:prstDash val="solid"/>
          </a:ln>
        </p:spPr>
      </p:sp>
      <p:sp>
        <p:nvSpPr>
          <p:cNvPr id="5" name="Shape 3"/>
          <p:cNvSpPr/>
          <p:nvPr/>
        </p:nvSpPr>
        <p:spPr>
          <a:xfrm>
            <a:off x="777240" y="2011680"/>
            <a:ext cx="548640" cy="548640"/>
          </a:xfrm>
          <a:prstGeom prst="ellipse">
            <a:avLst/>
          </a:prstGeom>
          <a:solidFill>
            <a:srgbClr val="2F7359"/>
          </a:solidFill>
          <a:ln w="12700">
            <a:solidFill>
              <a:srgbClr val="2F7359"/>
            </a:solidFill>
            <a:prstDash val="solid"/>
          </a:ln>
        </p:spPr>
      </p:sp>
      <p:sp>
        <p:nvSpPr>
          <p:cNvPr id="6" name="Text 4"/>
          <p:cNvSpPr txBox="1"/>
          <p:nvPr/>
        </p:nvSpPr>
        <p:spPr>
          <a:xfrm>
            <a:off x="777240" y="20116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txBox="1"/>
          <p:nvPr/>
        </p:nvSpPr>
        <p:spPr>
          <a:xfrm>
            <a:off x="1554480" y="1737360"/>
            <a:ext cx="9875520" cy="1097280"/>
          </a:xfrm>
          <a:prstGeom prst="rect">
            <a:avLst/>
          </a:prstGeom>
          <a:noFill/>
          <a:ln/>
        </p:spPr>
        <p:txBody>
          <a:bodyPr wrap="square" lIns="0" tIns="0" rIns="0" bIns="0" rtlCol="0" anchor="ctr">
            <a:normAutofit/>
          </a:bodyPr>
          <a:lstStyle/>
          <a:p>
            <a:pPr indent="0" marL="0">
              <a:buNone/>
            </a:pPr>
            <a:r>
              <a:rPr lang="en-US" sz="2200" b="1" dirty="0">
                <a:solidFill>
                  <a:srgbClr val="16303A"/>
                </a:solidFill>
                <a:latin typeface="Cambria" pitchFamily="34" charset="0"/>
                <a:ea typeface="Cambria" pitchFamily="34" charset="-122"/>
                <a:cs typeface="Cambria" pitchFamily="34" charset="-120"/>
              </a:rPr>
              <a:t>Invite the hips toward the front as far as comfortable, and offer a shorter, wider stance</a:t>
            </a:r>
            <a:endParaRPr lang="en-US" sz="2200" dirty="0"/>
          </a:p>
        </p:txBody>
      </p:sp>
      <p:sp>
        <p:nvSpPr>
          <p:cNvPr id="8" name="Text 6"/>
          <p:cNvSpPr txBox="1"/>
          <p:nvPr/>
        </p:nvSpPr>
        <p:spPr>
          <a:xfrm>
            <a:off x="548640" y="3108960"/>
            <a:ext cx="11064240" cy="1280160"/>
          </a:xfrm>
          <a:prstGeom prst="rect">
            <a:avLst/>
          </a:prstGeom>
          <a:noFill/>
          <a:ln/>
        </p:spPr>
        <p:txBody>
          <a:bodyPr wrap="square" lIns="0" tIns="0" rIns="0" bIns="0" rtlCol="0" anchor="t">
            <a:normAutofit/>
          </a:bodyPr>
          <a:lstStyle/>
          <a:p>
            <a:pPr indent="0" marL="0">
              <a:buNone/>
            </a:pPr>
            <a:r>
              <a:rPr lang="en-US" sz="1800" dirty="0">
                <a:solidFill>
                  <a:srgbClr val="16303A"/>
                </a:solidFill>
                <a:latin typeface="Calibri" pitchFamily="34" charset="0"/>
                <a:ea typeface="Calibri" pitchFamily="34" charset="-122"/>
                <a:cs typeface="Calibri" pitchFamily="34" charset="-120"/>
              </a:rPr>
              <a:t>Bone shape and back hip range limit how square the pelvis can get, so invite and offer options rather than force or diagnose.</a:t>
            </a:r>
            <a:endParaRPr lang="en-US" sz="1800" dirty="0"/>
          </a:p>
        </p:txBody>
      </p:sp>
      <p:sp>
        <p:nvSpPr>
          <p:cNvPr id="9" name="Text 7"/>
          <p:cNvSpPr txBox="1"/>
          <p:nvPr/>
        </p:nvSpPr>
        <p:spPr>
          <a:xfrm>
            <a:off x="548640" y="4754880"/>
            <a:ext cx="11064240" cy="731520"/>
          </a:xfrm>
          <a:prstGeom prst="rect">
            <a:avLst/>
          </a:prstGeom>
          <a:noFill/>
          <a:ln/>
        </p:spPr>
        <p:txBody>
          <a:bodyPr wrap="square" lIns="0" tIns="0" rIns="0" bIns="0" rtlCol="0" anchor="t">
            <a:normAutofit/>
          </a:bodyPr>
          <a:lstStyle/>
          <a:p>
            <a:pPr indent="0" marL="0">
              <a:buNone/>
            </a:pPr>
            <a:r>
              <a:rPr lang="en-US" sz="1200" dirty="0">
                <a:solidFill>
                  <a:srgbClr val="55707A"/>
                </a:solidFill>
                <a:latin typeface="Calibri" pitchFamily="34" charset="0"/>
                <a:ea typeface="Calibri" pitchFamily="34" charset="-122"/>
                <a:cs typeface="Calibri" pitchFamily="34" charset="-120"/>
              </a:rPr>
              <a:t>Question: In Warrior I a student's back hip will not turn to face forward. What is the best response?</a:t>
            </a:r>
            <a:endParaRPr lang="en-US" sz="1200" dirty="0"/>
          </a:p>
        </p:txBody>
      </p:sp>
      <p:sp>
        <p:nvSpPr>
          <p:cNvPr id="10" name="Text 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11" name="Text 9"/>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2 REVIEW</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Key terms</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743200"/>
                <a:gridCol w="8321040"/>
              </a:tblGrid>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Axial skeleton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central column of about 80 bones: skull, spine, ribs and sternum. In Mountain it is the stacked core the limbs hang from.</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Appendicular skeleton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126 bones of the limbs and the shoulder and pelvic girdles. In Tree the standing leg is appendicular.</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Vertebra</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One of the bones of the spine, with a weight-bearing body in front and a protective arch behind. You feel their spinous processes as bumps when rolling down.</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Lordosis</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forward curve of the spine, found in the neck and low back. It is the hollow you feel behind your low back in Mountain against a wall.</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Kyphosis</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backward curve of the spine, found in the thoracic and sacral regions. It is the gentle rounding of the upper back that touches the wall.</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Intervertebral disc</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 pad of cartilage between two vertebral bodies with a tough outer ring and a gel-like centre. It shares load as you bend in Forward Fold.</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Atlas and axis (C1, C2)</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top two cervical vertebrae. The skull nods on the atlas and turns as the atlas pivots on the axis, as when you look over your shoulder in Warrior II.</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Sternum</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breastbone, made of the manubrium, body and xiphoid process. It lifts gently as the chest opens in Cobra.</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Clavicle</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collarbone, joining the sternum to the scapula. It lifts slightly when you reach the arms overhead in Warrior I.</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Scapula</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shoulder blade, which glides over the back of the ribs. It slides wide across the back in Plank.</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Radius and ulna</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two forearm bones: radius on the thumb side, ulna on the little finger side. The radius crosses the ulna when the palms press flat in Down Dog.</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6" name="Text 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2 REVIEW</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Key terms (continued)</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743200"/>
                <a:gridCol w="8321040"/>
              </a:tblGrid>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Carpals</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eight small bones of the wrist in two rows. They carry weight through the heel of the hand in Plank.</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Ilium, ischium and pubis</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three bones that fuse to form each hip bone. You sit on the ischium's sitting bones in Easy Pose.</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Acetabulum</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deep cup-shaped hip socket that holds the head of the femur. The femur rotates within it in Warrior II.</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Femur</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thighbone, the longest and strongest bone. Its angled neck and head shape help set how far a student can go in Lotus.</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Patella</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kneecap, a sesamoid bone inside the quadriceps tendon. It lifts as you engage the thighs in Mountain.</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Tibia and fibula</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lower leg bones: the tibia carries most of the weight, the slender fibula mostly anchors muscles. The tibia stacks over the ankle in Chair.</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Foot tripod</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three grounding points of the foot: big toe mound, little toe mound and heel. Rooting all three steadies Tree.</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ASIS</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Anterior superior iliac spine: the front hip point at the end of the iliac crest. Its direction shows where the pelvis faces in Warrior I.</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Greater trochanter</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bony bump on the outer upper thigh, part of the femur. It rolls back as the thigh turns out in Warrior II.</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Acromion</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flat bony shelf at the top of the shoulder, part of the scapula. Cue it away from the ears in Warrior II.</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6303A"/>
                          </a:solidFill>
                          <a:latin typeface="Cambria" pitchFamily="34" charset="0"/>
                          <a:ea typeface="Cambria" pitchFamily="34" charset="-122"/>
                          <a:cs typeface="Cambria" pitchFamily="34" charset="-120"/>
                        </a:rPr>
                        <a:t>Malleoli</a:t>
                      </a:r>
                      <a:endParaRPr lang="en-US" sz="1200" dirty="0">
                        <a:latin typeface="Cambria" charset="0"/>
                        <a:ea typeface="Cambria" charset="0"/>
                        <a:cs typeface="Cambria"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c>
                  <a:txBody>
                    <a:bodyPr/>
                    <a:lstStyle/>
                    <a:p>
                      <a:pPr indent="0" marL="0">
                        <a:buNone/>
                      </a:pPr>
                      <a:r>
                        <a:rPr lang="en-US" sz="1200" dirty="0">
                          <a:solidFill>
                            <a:srgbClr val="16303A"/>
                          </a:solidFill>
                          <a:latin typeface="Calibri" pitchFamily="34" charset="0"/>
                          <a:ea typeface="Calibri" pitchFamily="34" charset="-122"/>
                          <a:cs typeface="Calibri" pitchFamily="34" charset="-120"/>
                        </a:rPr>
                        <a:t>The ankle bones: medial (inner, from the tibia) and lateral (outer, from the fibula). In Tree the foot rests above or below the knee, not on these or the knee joint.</a:t>
                      </a:r>
                      <a:endParaRPr lang="en-US" sz="1200" dirty="0">
                        <a:latin typeface="Calibri" charset="0"/>
                        <a:ea typeface="Calibri" charset="0"/>
                        <a:cs typeface="Calibri" charset="0"/>
                      </a:endParaRPr>
                    </a:p>
                  </a:txBody>
                  <a:tcPr marL="91440" marR="91440" marT="45720" marB="45720" anchor="ctr">
                    <a:lnL w="9525" cap="flat" cmpd="sng" algn="ctr">
                      <a:solidFill>
                        <a:srgbClr val="C6D4CF"/>
                      </a:solidFill>
                      <a:prstDash val="solid"/>
                      <a:round/>
                      <a:headEnd type="none" w="med" len="med"/>
                      <a:tailEnd type="none" w="med" len="med"/>
                    </a:lnL>
                    <a:lnR w="9525" cap="flat" cmpd="sng" algn="ctr">
                      <a:solidFill>
                        <a:srgbClr val="C6D4CF"/>
                      </a:solidFill>
                      <a:prstDash val="solid"/>
                      <a:round/>
                      <a:headEnd type="none" w="med" len="med"/>
                      <a:tailEnd type="none" w="med" len="med"/>
                    </a:lnR>
                    <a:lnT w="9525" cap="flat" cmpd="sng" algn="ctr">
                      <a:solidFill>
                        <a:srgbClr val="C6D4CF"/>
                      </a:solidFill>
                      <a:prstDash val="solid"/>
                      <a:round/>
                      <a:headEnd type="none" w="med" len="med"/>
                      <a:tailEnd type="none" w="med" len="med"/>
                    </a:lnT>
                    <a:lnB w="9525" cap="flat" cmpd="sng" algn="ctr">
                      <a:solidFill>
                        <a:srgbClr val="C6D4CF"/>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6" name="Text 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100" b="1" spc="300" kern="0" dirty="0">
                <a:solidFill>
                  <a:srgbClr val="B3304C"/>
                </a:solidFill>
                <a:latin typeface="Calibri" pitchFamily="34" charset="0"/>
                <a:ea typeface="Calibri" pitchFamily="34" charset="-122"/>
                <a:cs typeface="Calibri" pitchFamily="34" charset="-120"/>
              </a:rPr>
              <a:t>MODULE 2 REVIEW</a:t>
            </a:r>
            <a:endParaRPr lang="en-US" sz="1100" dirty="0"/>
          </a:p>
        </p:txBody>
      </p:sp>
      <p:sp>
        <p:nvSpPr>
          <p:cNvPr id="3" name="Text 1"/>
          <p:cNvSpPr txBox="1"/>
          <p:nvPr/>
        </p:nvSpPr>
        <p:spPr>
          <a:xfrm>
            <a:off x="548640" y="658368"/>
            <a:ext cx="11094415" cy="868680"/>
          </a:xfrm>
          <a:prstGeom prst="rect">
            <a:avLst/>
          </a:prstGeom>
          <a:noFill/>
          <a:ln/>
        </p:spPr>
        <p:txBody>
          <a:bodyPr wrap="square" lIns="0" tIns="0" rIns="0" bIns="0" rtlCol="0" anchor="t">
            <a:normAutofit/>
          </a:bodyPr>
          <a:lstStyle/>
          <a:p>
            <a:pPr indent="0" marL="0">
              <a:buNone/>
            </a:pPr>
            <a:r>
              <a:rPr lang="en-US" sz="3000" b="1" dirty="0">
                <a:solidFill>
                  <a:srgbClr val="16303A"/>
                </a:solidFill>
                <a:latin typeface="Cambria" pitchFamily="34" charset="0"/>
                <a:ea typeface="Cambria" pitchFamily="34" charset="-122"/>
                <a:cs typeface="Cambria" pitchFamily="34" charset="-120"/>
              </a:rPr>
              <a:t>Myths to retire</a:t>
            </a:r>
            <a:endParaRPr lang="en-US" sz="3000" dirty="0"/>
          </a:p>
        </p:txBody>
      </p:sp>
      <p:sp>
        <p:nvSpPr>
          <p:cNvPr id="4" name="Shape 2"/>
          <p:cNvSpPr/>
          <p:nvPr/>
        </p:nvSpPr>
        <p:spPr>
          <a:xfrm>
            <a:off x="548640" y="1737360"/>
            <a:ext cx="4754880" cy="740664"/>
          </a:xfrm>
          <a:prstGeom prst="roundRect">
            <a:avLst>
              <a:gd name="adj" fmla="val 12346"/>
            </a:avLst>
          </a:prstGeom>
          <a:solidFill>
            <a:srgbClr val="F3D9DE"/>
          </a:solidFill>
          <a:ln w="12700">
            <a:solidFill>
              <a:srgbClr val="F3D9DE"/>
            </a:solidFill>
            <a:prstDash val="solid"/>
          </a:ln>
        </p:spPr>
      </p:sp>
      <p:sp>
        <p:nvSpPr>
          <p:cNvPr id="5" name="Text 3"/>
          <p:cNvSpPr txBox="1"/>
          <p:nvPr/>
        </p:nvSpPr>
        <p:spPr>
          <a:xfrm>
            <a:off x="731520" y="1737360"/>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Bones are dead, fixed structures.</a:t>
            </a:r>
            <a:endParaRPr lang="en-US" sz="1400" dirty="0"/>
          </a:p>
        </p:txBody>
      </p:sp>
      <p:sp>
        <p:nvSpPr>
          <p:cNvPr id="6" name="Shape 4"/>
          <p:cNvSpPr/>
          <p:nvPr/>
        </p:nvSpPr>
        <p:spPr>
          <a:xfrm>
            <a:off x="5577840" y="1737360"/>
            <a:ext cx="6035040" cy="740664"/>
          </a:xfrm>
          <a:prstGeom prst="roundRect">
            <a:avLst>
              <a:gd name="adj" fmla="val 12346"/>
            </a:avLst>
          </a:prstGeom>
          <a:solidFill>
            <a:srgbClr val="D5E9DF"/>
          </a:solidFill>
          <a:ln w="12700">
            <a:solidFill>
              <a:srgbClr val="D5E9DF"/>
            </a:solidFill>
            <a:prstDash val="solid"/>
          </a:ln>
        </p:spPr>
      </p:sp>
      <p:sp>
        <p:nvSpPr>
          <p:cNvPr id="7" name="Text 5"/>
          <p:cNvSpPr txBox="1"/>
          <p:nvPr/>
        </p:nvSpPr>
        <p:spPr>
          <a:xfrm>
            <a:off x="5760720" y="1737360"/>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Bone is living tissue that is constantly broken down and rebuilt and responds to the loads placed on it.</a:t>
            </a:r>
            <a:endParaRPr lang="en-US" sz="1400" dirty="0"/>
          </a:p>
        </p:txBody>
      </p:sp>
      <p:sp>
        <p:nvSpPr>
          <p:cNvPr id="8" name="Shape 6"/>
          <p:cNvSpPr/>
          <p:nvPr/>
        </p:nvSpPr>
        <p:spPr>
          <a:xfrm>
            <a:off x="548640" y="2615184"/>
            <a:ext cx="4754880" cy="740664"/>
          </a:xfrm>
          <a:prstGeom prst="roundRect">
            <a:avLst>
              <a:gd name="adj" fmla="val 12346"/>
            </a:avLst>
          </a:prstGeom>
          <a:solidFill>
            <a:srgbClr val="F3D9DE"/>
          </a:solidFill>
          <a:ln w="12700">
            <a:solidFill>
              <a:srgbClr val="F3D9DE"/>
            </a:solidFill>
            <a:prstDash val="solid"/>
          </a:ln>
        </p:spPr>
      </p:sp>
      <p:sp>
        <p:nvSpPr>
          <p:cNvPr id="9" name="Text 7"/>
          <p:cNvSpPr txBox="1"/>
          <p:nvPr/>
        </p:nvSpPr>
        <p:spPr>
          <a:xfrm>
            <a:off x="731520" y="2615184"/>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Yoga reverses osteoporosis.</a:t>
            </a:r>
            <a:endParaRPr lang="en-US" sz="1400" dirty="0"/>
          </a:p>
        </p:txBody>
      </p:sp>
      <p:sp>
        <p:nvSpPr>
          <p:cNvPr id="10" name="Shape 8"/>
          <p:cNvSpPr/>
          <p:nvPr/>
        </p:nvSpPr>
        <p:spPr>
          <a:xfrm>
            <a:off x="5577840" y="2615184"/>
            <a:ext cx="6035040" cy="740664"/>
          </a:xfrm>
          <a:prstGeom prst="roundRect">
            <a:avLst>
              <a:gd name="adj" fmla="val 12346"/>
            </a:avLst>
          </a:prstGeom>
          <a:solidFill>
            <a:srgbClr val="D5E9DF"/>
          </a:solidFill>
          <a:ln w="12700">
            <a:solidFill>
              <a:srgbClr val="D5E9DF"/>
            </a:solidFill>
            <a:prstDash val="solid"/>
          </a:ln>
        </p:spPr>
      </p:sp>
      <p:sp>
        <p:nvSpPr>
          <p:cNvPr id="11" name="Text 9"/>
          <p:cNvSpPr txBox="1"/>
          <p:nvPr/>
        </p:nvSpPr>
        <p:spPr>
          <a:xfrm>
            <a:off x="5760720" y="2615184"/>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Weight-bearing helps bone in general, but evidence that yoga improves bone density is limited and mixed. Adapt poses and follow the student's medical advice.</a:t>
            </a:r>
            <a:endParaRPr lang="en-US" sz="1400" dirty="0"/>
          </a:p>
        </p:txBody>
      </p:sp>
      <p:sp>
        <p:nvSpPr>
          <p:cNvPr id="12" name="Shape 10"/>
          <p:cNvSpPr/>
          <p:nvPr/>
        </p:nvSpPr>
        <p:spPr>
          <a:xfrm>
            <a:off x="548640" y="3493008"/>
            <a:ext cx="4754880" cy="740664"/>
          </a:xfrm>
          <a:prstGeom prst="roundRect">
            <a:avLst>
              <a:gd name="adj" fmla="val 12346"/>
            </a:avLst>
          </a:prstGeom>
          <a:solidFill>
            <a:srgbClr val="F3D9DE"/>
          </a:solidFill>
          <a:ln w="12700">
            <a:solidFill>
              <a:srgbClr val="F3D9DE"/>
            </a:solidFill>
            <a:prstDash val="solid"/>
          </a:ln>
        </p:spPr>
      </p:sp>
      <p:sp>
        <p:nvSpPr>
          <p:cNvPr id="13" name="Text 11"/>
          <p:cNvSpPr txBox="1"/>
          <p:nvPr/>
        </p:nvSpPr>
        <p:spPr>
          <a:xfrm>
            <a:off x="731520" y="3493008"/>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Everyone can square the hips in Warrior I with enough effort.</a:t>
            </a:r>
            <a:endParaRPr lang="en-US" sz="1400" dirty="0"/>
          </a:p>
        </p:txBody>
      </p:sp>
      <p:sp>
        <p:nvSpPr>
          <p:cNvPr id="14" name="Shape 12"/>
          <p:cNvSpPr/>
          <p:nvPr/>
        </p:nvSpPr>
        <p:spPr>
          <a:xfrm>
            <a:off x="5577840" y="3493008"/>
            <a:ext cx="6035040" cy="740664"/>
          </a:xfrm>
          <a:prstGeom prst="roundRect">
            <a:avLst>
              <a:gd name="adj" fmla="val 12346"/>
            </a:avLst>
          </a:prstGeom>
          <a:solidFill>
            <a:srgbClr val="D5E9DF"/>
          </a:solidFill>
          <a:ln w="12700">
            <a:solidFill>
              <a:srgbClr val="D5E9DF"/>
            </a:solidFill>
            <a:prstDash val="solid"/>
          </a:ln>
        </p:spPr>
      </p:sp>
      <p:sp>
        <p:nvSpPr>
          <p:cNvPr id="15" name="Text 13"/>
          <p:cNvSpPr txBox="1"/>
          <p:nvPr/>
        </p:nvSpPr>
        <p:spPr>
          <a:xfrm>
            <a:off x="5760720" y="3493008"/>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Hip range depends partly on bone shape and back hip extension. Invite the hips toward the front as far as comfortable instead of forcing.</a:t>
            </a:r>
            <a:endParaRPr lang="en-US" sz="1400" dirty="0"/>
          </a:p>
        </p:txBody>
      </p:sp>
      <p:sp>
        <p:nvSpPr>
          <p:cNvPr id="16" name="Shape 14"/>
          <p:cNvSpPr/>
          <p:nvPr/>
        </p:nvSpPr>
        <p:spPr>
          <a:xfrm>
            <a:off x="548640" y="4370832"/>
            <a:ext cx="4754880" cy="740664"/>
          </a:xfrm>
          <a:prstGeom prst="roundRect">
            <a:avLst>
              <a:gd name="adj" fmla="val 12346"/>
            </a:avLst>
          </a:prstGeom>
          <a:solidFill>
            <a:srgbClr val="F3D9DE"/>
          </a:solidFill>
          <a:ln w="12700">
            <a:solidFill>
              <a:srgbClr val="F3D9DE"/>
            </a:solidFill>
            <a:prstDash val="solid"/>
          </a:ln>
        </p:spPr>
      </p:sp>
      <p:sp>
        <p:nvSpPr>
          <p:cNvPr id="17" name="Text 15"/>
          <p:cNvSpPr txBox="1"/>
          <p:nvPr/>
        </p:nvSpPr>
        <p:spPr>
          <a:xfrm>
            <a:off x="731520" y="4370832"/>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Twists wring out toxins from the organs.</a:t>
            </a:r>
            <a:endParaRPr lang="en-US" sz="1400" dirty="0"/>
          </a:p>
        </p:txBody>
      </p:sp>
      <p:sp>
        <p:nvSpPr>
          <p:cNvPr id="18" name="Shape 16"/>
          <p:cNvSpPr/>
          <p:nvPr/>
        </p:nvSpPr>
        <p:spPr>
          <a:xfrm>
            <a:off x="5577840" y="4370832"/>
            <a:ext cx="6035040" cy="740664"/>
          </a:xfrm>
          <a:prstGeom prst="roundRect">
            <a:avLst>
              <a:gd name="adj" fmla="val 12346"/>
            </a:avLst>
          </a:prstGeom>
          <a:solidFill>
            <a:srgbClr val="D5E9DF"/>
          </a:solidFill>
          <a:ln w="12700">
            <a:solidFill>
              <a:srgbClr val="D5E9DF"/>
            </a:solidFill>
            <a:prstDash val="solid"/>
          </a:ln>
        </p:spPr>
      </p:sp>
      <p:sp>
        <p:nvSpPr>
          <p:cNvPr id="19" name="Text 17"/>
          <p:cNvSpPr txBox="1"/>
          <p:nvPr/>
        </p:nvSpPr>
        <p:spPr>
          <a:xfrm>
            <a:off x="5760720" y="4370832"/>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There is no good evidence for detox by twisting. Twists move the spine, mostly at the thoracic level, and can simply feel good.</a:t>
            </a:r>
            <a:endParaRPr lang="en-US" sz="1400" dirty="0"/>
          </a:p>
        </p:txBody>
      </p:sp>
      <p:sp>
        <p:nvSpPr>
          <p:cNvPr id="20" name="Shape 18"/>
          <p:cNvSpPr/>
          <p:nvPr/>
        </p:nvSpPr>
        <p:spPr>
          <a:xfrm>
            <a:off x="548640" y="5248656"/>
            <a:ext cx="4754880" cy="740664"/>
          </a:xfrm>
          <a:prstGeom prst="roundRect">
            <a:avLst>
              <a:gd name="adj" fmla="val 12346"/>
            </a:avLst>
          </a:prstGeom>
          <a:solidFill>
            <a:srgbClr val="F3D9DE"/>
          </a:solidFill>
          <a:ln w="12700">
            <a:solidFill>
              <a:srgbClr val="F3D9DE"/>
            </a:solidFill>
            <a:prstDash val="solid"/>
          </a:ln>
        </p:spPr>
      </p:sp>
      <p:sp>
        <p:nvSpPr>
          <p:cNvPr id="21" name="Text 19"/>
          <p:cNvSpPr txBox="1"/>
          <p:nvPr/>
        </p:nvSpPr>
        <p:spPr>
          <a:xfrm>
            <a:off x="731520" y="5248656"/>
            <a:ext cx="4389120" cy="740664"/>
          </a:xfrm>
          <a:prstGeom prst="rect">
            <a:avLst/>
          </a:prstGeom>
          <a:noFill/>
          <a:ln/>
        </p:spPr>
        <p:txBody>
          <a:bodyPr wrap="square" lIns="0" tIns="0" rIns="0" bIns="0" rtlCol="0" anchor="ctr">
            <a:normAutofit/>
          </a:bodyPr>
          <a:lstStyle/>
          <a:p>
            <a:pPr indent="0" marL="0">
              <a:buNone/>
            </a:pPr>
            <a:r>
              <a:rPr lang="en-US" sz="1400" i="1" dirty="0">
                <a:solidFill>
                  <a:srgbClr val="16303A"/>
                </a:solidFill>
                <a:latin typeface="Calibri" pitchFamily="34" charset="0"/>
                <a:ea typeface="Calibri" pitchFamily="34" charset="-122"/>
                <a:cs typeface="Calibri" pitchFamily="34" charset="-120"/>
              </a:rPr>
              <a:t>Flat feet or an uneven pelvis mean something is wrong.</a:t>
            </a:r>
            <a:endParaRPr lang="en-US" sz="1400" dirty="0"/>
          </a:p>
        </p:txBody>
      </p:sp>
      <p:sp>
        <p:nvSpPr>
          <p:cNvPr id="22" name="Shape 20"/>
          <p:cNvSpPr/>
          <p:nvPr/>
        </p:nvSpPr>
        <p:spPr>
          <a:xfrm>
            <a:off x="5577840" y="5248656"/>
            <a:ext cx="6035040" cy="740664"/>
          </a:xfrm>
          <a:prstGeom prst="roundRect">
            <a:avLst>
              <a:gd name="adj" fmla="val 12346"/>
            </a:avLst>
          </a:prstGeom>
          <a:solidFill>
            <a:srgbClr val="D5E9DF"/>
          </a:solidFill>
          <a:ln w="12700">
            <a:solidFill>
              <a:srgbClr val="D5E9DF"/>
            </a:solidFill>
            <a:prstDash val="solid"/>
          </a:ln>
        </p:spPr>
      </p:sp>
      <p:sp>
        <p:nvSpPr>
          <p:cNvPr id="23" name="Text 21"/>
          <p:cNvSpPr txBox="1"/>
          <p:nvPr/>
        </p:nvSpPr>
        <p:spPr>
          <a:xfrm>
            <a:off x="5760720" y="5248656"/>
            <a:ext cx="5669280" cy="740664"/>
          </a:xfrm>
          <a:prstGeom prst="rect">
            <a:avLst/>
          </a:prstGeom>
          <a:noFill/>
          <a:ln/>
        </p:spPr>
        <p:txBody>
          <a:bodyPr wrap="square" lIns="0" tIns="0" rIns="0" bIns="0" rtlCol="0" anchor="ctr">
            <a:normAutofit/>
          </a:bodyPr>
          <a:lstStyle/>
          <a:p>
            <a:pPr indent="0" marL="0">
              <a:buNone/>
            </a:pPr>
            <a:r>
              <a:rPr lang="en-US" sz="1400" dirty="0">
                <a:solidFill>
                  <a:srgbClr val="16303A"/>
                </a:solidFill>
                <a:latin typeface="Calibri" pitchFamily="34" charset="0"/>
                <a:ea typeface="Calibri" pitchFamily="34" charset="-122"/>
                <a:cs typeface="Calibri" pitchFamily="34" charset="-120"/>
              </a:rPr>
              <a:t>Arch height and minor asymmetry vary widely in healthy people. Teachers observe and adapt; they do not diagnose.</a:t>
            </a:r>
            <a:endParaRPr lang="en-US" sz="1400" dirty="0"/>
          </a:p>
        </p:txBody>
      </p:sp>
      <p:sp>
        <p:nvSpPr>
          <p:cNvPr id="24" name="Text 22"/>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55707A"/>
                </a:solidFill>
                <a:latin typeface="Calibri" pitchFamily="34" charset="0"/>
                <a:ea typeface="Calibri" pitchFamily="34" charset="-122"/>
                <a:cs typeface="Calibri" pitchFamily="34" charset="-120"/>
              </a:rPr>
              <a:t>Anatomy on the Mat  ·  Dr. Akash Garg, D.C.</a:t>
            </a:r>
            <a:endParaRPr lang="en-US" sz="900" dirty="0"/>
          </a:p>
        </p:txBody>
      </p:sp>
      <p:sp>
        <p:nvSpPr>
          <p:cNvPr id="25" name="Text 23"/>
          <p:cNvSpPr txBox="1"/>
          <p:nvPr/>
        </p:nvSpPr>
        <p:spPr>
          <a:xfrm>
            <a:off x="10728655" y="6446520"/>
            <a:ext cx="914400" cy="274320"/>
          </a:xfrm>
          <a:prstGeom prst="rect">
            <a:avLst/>
          </a:prstGeom>
          <a:noFill/>
          <a:ln/>
        </p:spPr>
        <p:txBody>
          <a:bodyPr wrap="square" lIns="0" tIns="0" rIns="0" bIns="0" rtlCol="0" anchor="ctr"/>
          <a:lstStyle/>
          <a:p>
            <a:pPr algn="r" indent="0" marL="0">
              <a:buNone/>
            </a:pPr>
            <a:r>
              <a:rPr lang="en-US" sz="900" dirty="0">
                <a:solidFill>
                  <a:srgbClr val="55707A"/>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6303A"/>
        </a:solidFill>
      </p:bgPr>
    </p:bg>
    <p:spTree>
      <p:nvGrpSpPr>
        <p:cNvPr id="1" name=""/>
        <p:cNvGrpSpPr/>
        <p:nvPr/>
      </p:nvGrpSpPr>
      <p:grpSpPr>
        <a:xfrm>
          <a:off x="0" y="0"/>
          <a:ext cx="0" cy="0"/>
          <a:chOff x="0" y="0"/>
          <a:chExt cx="0" cy="0"/>
        </a:xfrm>
      </p:grpSpPr>
      <p:sp>
        <p:nvSpPr>
          <p:cNvPr id="2" name="Text 0"/>
          <p:cNvSpPr txBox="1"/>
          <p:nvPr/>
        </p:nvSpPr>
        <p:spPr>
          <a:xfrm>
            <a:off x="548640" y="146304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End of Module 2</a:t>
            </a:r>
            <a:endParaRPr lang="en-US" sz="4000" dirty="0"/>
          </a:p>
        </p:txBody>
      </p:sp>
      <p:sp>
        <p:nvSpPr>
          <p:cNvPr id="3" name="Text 1"/>
          <p:cNvSpPr txBox="1"/>
          <p:nvPr/>
        </p:nvSpPr>
        <p:spPr>
          <a:xfrm>
            <a:off x="548640" y="2560320"/>
            <a:ext cx="8686800" cy="1280160"/>
          </a:xfrm>
          <a:prstGeom prst="rect">
            <a:avLst/>
          </a:prstGeom>
          <a:noFill/>
          <a:ln/>
        </p:spPr>
        <p:txBody>
          <a:bodyPr wrap="square" lIns="0" tIns="0" rIns="0" bIns="0" rtlCol="0" anchor="t"/>
          <a:lstStyle/>
          <a:p>
            <a:pPr indent="0" marL="0">
              <a:buNone/>
            </a:pPr>
            <a:r>
              <a:rPr lang="en-US" sz="2000" dirty="0">
                <a:solidFill>
                  <a:srgbClr val="D6E3E0"/>
                </a:solidFill>
                <a:latin typeface="Calibri" pitchFamily="34" charset="0"/>
                <a:ea typeface="Calibri" pitchFamily="34" charset="-122"/>
                <a:cs typeface="Calibri" pitchFamily="34" charset="-120"/>
              </a:rPr>
              <a:t>Before the next module: work through the study guide, the flashcards and the interactive exercises, then run the module in the Anatomy Chase.</a:t>
            </a:r>
            <a:endParaRPr lang="en-US" sz="2000" dirty="0"/>
          </a:p>
        </p:txBody>
      </p:sp>
      <p:sp>
        <p:nvSpPr>
          <p:cNvPr id="4" name="Text 2"/>
          <p:cNvSpPr txBox="1"/>
          <p:nvPr/>
        </p:nvSpPr>
        <p:spPr>
          <a:xfrm>
            <a:off x="548640" y="4114800"/>
            <a:ext cx="8229600" cy="457200"/>
          </a:xfrm>
          <a:prstGeom prst="rect">
            <a:avLst/>
          </a:prstGeom>
          <a:noFill/>
          <a:ln/>
        </p:spPr>
        <p:txBody>
          <a:bodyPr wrap="square" lIns="0" tIns="0" rIns="0" bIns="0" rtlCol="0" anchor="ctr"/>
          <a:lstStyle/>
          <a:p>
            <a:pPr indent="0" marL="0">
              <a:buNone/>
            </a:pPr>
            <a:r>
              <a:rPr lang="en-US" sz="1600" b="1" dirty="0">
                <a:solidFill>
                  <a:srgbClr val="CBB78C"/>
                </a:solidFill>
                <a:latin typeface="Calibri" pitchFamily="34" charset="0"/>
                <a:ea typeface="Calibri" pitchFamily="34" charset="-122"/>
                <a:cs typeface="Calibri" pitchFamily="34" charset="-120"/>
              </a:rPr>
              <a:t>kashee12345.github.io/anatomy-on-the-mat</a:t>
            </a:r>
            <a:endParaRPr lang="en-US" sz="1600" dirty="0"/>
          </a:p>
        </p:txBody>
      </p:sp>
      <p:sp>
        <p:nvSpPr>
          <p:cNvPr id="5" name="Text 3"/>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900" dirty="0">
                <a:solidFill>
                  <a:srgbClr val="A9BFC6"/>
                </a:solidFill>
                <a:latin typeface="Calibri" pitchFamily="34" charset="0"/>
                <a:ea typeface="Calibri" pitchFamily="34" charset="-122"/>
                <a:cs typeface="Calibri" pitchFamily="34" charset="-120"/>
              </a:rPr>
              <a:t>Anatomy on the Mat  ·  Dr. Akash Garg, D.C.</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Anatomy on the Mat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The Skeleton for Yoga Teachers</dc:title>
  <dc:subject>PptxGenJS Presentation</dc:subject>
  <dc:creator>Dr. Akash Garg, D.C.</dc:creator>
  <cp:lastModifiedBy>Dr. Akash Garg, D.C.</cp:lastModifiedBy>
  <cp:revision>1</cp:revision>
  <dcterms:created xsi:type="dcterms:W3CDTF">2026-09-28T23:32:55Z</dcterms:created>
  <dcterms:modified xsi:type="dcterms:W3CDTF">2026-09-28T23:32:55Z</dcterms:modified>
</cp:coreProperties>
</file>