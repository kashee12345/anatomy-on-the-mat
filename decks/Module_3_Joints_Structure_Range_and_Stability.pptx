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Joints: Structure, Range and Stability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6616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pose is a set of joint actions, and knowing how joints are built, what limits them and what holds them steady is how you teach real bodies instead of ideal shapes.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46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hours  ·  6 lessons  ·  Anatomy &amp; Physiology for Vinyasa Teachers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138160" y="1005840"/>
            <a:ext cx="3566160" cy="3566160"/>
          </a:xfrm>
          <a:prstGeom prst="ellipse">
            <a:avLst/>
          </a:prstGeom>
          <a:solidFill>
            <a:srgbClr val="22414D"/>
          </a:solidFill>
          <a:ln w="12700">
            <a:solidFill>
              <a:srgbClr val="22414D"/>
            </a:solidFill>
            <a:prstDash val="solid"/>
          </a:ln>
        </p:spPr>
      </p:sp>
      <p:pic>
        <p:nvPicPr>
          <p:cNvPr id="7" name="Image 0" descr="Pose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1080" y="1955543"/>
            <a:ext cx="2560320" cy="166675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OBJECTIVES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module you can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20624" cy="420624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916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a joint as fibrous, cartilaginous or synovial and give a body example of each.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50592"/>
            <a:ext cx="420624" cy="420624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50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404872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six synovial joint types, give an example of each, and state the movements each allows.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163824"/>
            <a:ext cx="420624" cy="420624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63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118104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any yoga pose as a list of joint actions using flexion, extension, abduction, adduction, rotation and related terms.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877056"/>
            <a:ext cx="420624" cy="420624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877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831336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tension from compression as the end of a range of motion and explain how individual bone shape limits a pose.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590288"/>
            <a:ext cx="420624" cy="420624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590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544568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passive and active joint stability and compare the hip with the shoulder.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420624" cy="420624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303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5257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hypermobile and hypomobile patterns in class and choose safe cues and props without diagnosing.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9600" y="1737360"/>
            <a:ext cx="3383280" cy="4023360"/>
          </a:xfrm>
          <a:prstGeom prst="roundRect">
            <a:avLst>
              <a:gd name="adj" fmla="val 3243"/>
            </a:avLst>
          </a:prstGeom>
          <a:solidFill>
            <a:srgbClr val="EDF2EF"/>
          </a:solidFill>
          <a:ln w="12700">
            <a:solidFill>
              <a:srgbClr val="EDF2E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58200" y="18745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2194560"/>
            <a:ext cx="2971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Fibrous, cartilaginous and synovial joints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The six synovial joint types and the movements each allows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Range of motion: tension versus compression and individual bone shape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Joint stabilization: passive (ligament, capsule, bony fit) and active (muscle)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 Hypermobility and hypomobility in the yoga room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  Pose lab: reading every joint action in Sun Salutation A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63040"/>
            <a:ext cx="1371600" cy="137160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508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3.1  ·  20 MIN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87452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Fibrous, cartilaginous and synovial joints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3252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two bones meet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joint, or articulation, is any place bones meet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asks: what tissue holds the bones together?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asks: how much movement does the joint allow?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structural classes: fibrous, cartilaginous, synovial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623560" y="1737360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9FBFA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The three structural classes, from most stable to most 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959102"/>
            <a:ext cx="5669280" cy="35433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06440" y="56235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structural classes, from most stable to most mobile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structural classes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1EADA"/>
          </a:solidFill>
          <a:ln w="12700">
            <a:solidFill>
              <a:srgbClr val="F1EA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Fibrous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56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 joined by dense fibrous tissue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cavity, little or no movement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Skull sutures, tooth in socket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Tibia and fibula held by ligament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28160" y="178308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02480" y="1965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Cartilaginous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602480" y="2697480"/>
            <a:ext cx="2956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 joined by cartilage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cavity, slight movement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Intervertebral discs, pubic symphysis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plates in young bones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107680" y="178308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82000" y="1965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Synovial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82000" y="2697480"/>
            <a:ext cx="2956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Fluid-filled cavity inside a capsule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Freely movable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Hip, knee, shoulder, elbow, wrist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joints used in asana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Intervertebral discs in the adult spine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0" b="1" dirty="0">
                <a:solidFill>
                  <a:srgbClr val="B330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6035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disc is a cartilaginous joint that allows only a little movement. Added together, those small movements give the spine its large range in Cat, Cow and twists.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7" name="Image 0" descr="Spinal extension shared across many small joi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2302105"/>
            <a:ext cx="4389120" cy="285729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2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Spinal extension shared across many small joints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sacroiliac joint: a special case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sacrum meets each side of the pelvis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Synovial in front, strong fibrous ligaments behind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is very small, a few degrees at most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load transfer, not for big range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The sacroiliac joints carry load between spine and le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69673" y="1901952"/>
            <a:ext cx="3022974" cy="3657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3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sacroiliac joints carry load between spine and legs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3.1  ·  FEEL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 it: three classes in your own body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gently on your skull: the fibrous sutures give no movement at all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97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Slowly round and arch your spine: many discs each allow a little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6118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one knee and circle the thigh: the synovial hip moves freely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5262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how movement grows as you go from skull to spine to hip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7" name="Image 0" descr="Find each joint class standing in Mount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7738" y="1901952"/>
            <a:ext cx="2426844" cy="36576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4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each joint class standing in Mountain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3.1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joint is cartilaginous?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1284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skull suture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17296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pubic symphysis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776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hip joint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0" y="2194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7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 the video and choose before you move on.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3.1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D5E9DF"/>
          </a:solidFill>
          <a:ln w="19050">
            <a:solidFill>
              <a:srgbClr val="2F735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3736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pubic symphysis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089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pubic symphysis joins the two pubic bones with a fibrocartilage disc and allows only slight movement.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Which joint is cartilaginous?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63040"/>
            <a:ext cx="1371600" cy="137160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508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3.2  ·  30 MIN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87452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 synovial joint types and the movements each allows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3252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synovial joint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Articular cartilage caps bone ends: smooth and slippery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Fibrous capsule seals the joint; synovial membrane lines it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Synovial fluid lubricates and feeds the cartilage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Ligaments link bone to bone and limit extremes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623560" y="1737360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9FBFA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Parts shared by every synovial jo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959102"/>
            <a:ext cx="5669280" cy="35433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06440" y="56235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5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shared by every synovial joint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shapes, six movement menus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Hinge and pivot: one axis each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Condyloid and saddle: two axes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Ball-and-socket: three axes, including rotation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 joints: small glides between flat surfaces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623560" y="1737360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9FBFA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The six synovial joint types with body examp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959102"/>
            <a:ext cx="5669280" cy="35433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06440" y="56235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6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synovial joint types with body examples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Movement vocabulary by plane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1EADA"/>
          </a:solidFill>
          <a:ln w="12700">
            <a:solidFill>
              <a:srgbClr val="F1EA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Sagittal plane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56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Flexion: angle closes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Extension: angle opens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folds, backbends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Ankle: dorsiflexion, plantarflexion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28160" y="178308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02480" y="1965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Frontal plane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602480" y="2697480"/>
            <a:ext cx="2956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Abduction: away from midline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Adduction: toward midline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bends: lateral flexion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shape, Gate pose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107680" y="1783080"/>
            <a:ext cx="3505200" cy="4297680"/>
          </a:xfrm>
          <a:prstGeom prst="roundRect">
            <a:avLst>
              <a:gd name="adj" fmla="val 3130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82000" y="1965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Transverse plane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382000" y="2697480"/>
            <a:ext cx="29565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rotation: turns inward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rotation: turns outward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Spinal rotation in twists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Forearm pronation, supination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Hinges in practice: elbow, knee and ankle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 hinge bends to about ninety degrees in Chaturanga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knee is a modified hinge: small rotation when bent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knee tracking over the foot under load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 hinge: dorsiflexion as the shin travels forward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Chaturanga: elbow flexion held by strong musc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2416207"/>
            <a:ext cx="4389120" cy="262909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7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Chaturanga: elbow flexion held by strong muscles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Ball-and-socket: the hip in Warrior II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hip: flexion with external rotation and abduction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hip: abduction, near neutral or slightly extended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axes allow many combinations at once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pelvis position changes what the hips must do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Warrior II: two hips doing different job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5731" y="1901952"/>
            <a:ext cx="4190858" cy="3657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8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Warrior II: two hips doing different jobs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3.2  ·  FEEL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 it: take each joint through its menu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Elbow: bend and straighten. Only one axis, so try to rotate it: nothing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24328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Forearm: turn palm up and down; the radius pivots over the ulna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511296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65576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Wrist: move up, down and side to side; notice it cannot twist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06824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Thumb: touch each fingertip to feel the saddle joint's opposition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193792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148072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Hip: standing in Tree, flex, abduct and rotate the lifted leg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20" name="Image 0" descr="Test each joint type standing near 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383" y="1901952"/>
            <a:ext cx="2067553" cy="365760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9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each joint type standing near Tree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D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3.2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student turns their palms up in Savasana. Which joint type makes this possible?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1284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Hinge joints at the elbow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17296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joints between the radius and ulna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776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Condyloid joint at the wrist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0" y="2194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7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 the video and choose before you move on.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3.2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D5E9DF"/>
          </a:solidFill>
          <a:ln w="19050">
            <a:solidFill>
              <a:srgbClr val="2F735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3736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Pivot joints between the radius and ulna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089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the palm up (supination) happens as the radius pivots around the ulna at the radioulnar joints.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A student turns their palms up in Savasana. Which joint type makes this possible?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63040"/>
            <a:ext cx="1371600" cy="137160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508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3.3  ·  30 MIN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87452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of motion: tension versus compression and individual bone shape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3252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stops the movement?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of motion ends by tension or by compression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Tension: tissue reaches its stretch limit, soft end feel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Compression: something meets something, firm end feel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can be bone on bone or soft tissue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623560" y="1737360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9FBFA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Two ways a range of motion comes to an 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959102"/>
            <a:ext cx="5669280" cy="35433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06440" y="56235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10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a range of motion comes to an end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end of a range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1EADA"/>
          </a:solidFill>
          <a:ln w="12700">
            <a:solidFill>
              <a:srgbClr val="F1EA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Tension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opposite the movement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springy, stretchy sensation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change with regular practice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back of thigh in a fold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965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6974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Felt where parts meet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blocked or pinching sensation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Bony limits will not change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front of hip in deep fold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Average adult angle between femoral neck and shaft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0" b="1" dirty="0">
                <a:solidFill>
                  <a:srgbClr val="B330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125 degrees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hips spread well either side of this average, and the neck also twists forward by differing amounts. Those differences change how far each hip can rotate and abduct.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23560" y="1737360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9FBFA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7" name="Image 0" descr="Where the femoral neck meets the socket rim depends on bone sha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959102"/>
            <a:ext cx="5669280" cy="35433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806440" y="56235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11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femoral neck meets the socket rim depends on bone shape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pose, different skeletons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students cannot always reach the same shape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Hip, shoulder and elbow shapes differ between people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pose by its function, not its photo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options that suit the skeleton in front of you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Tree: the lifted knee's angle depends partly on hip sha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383" y="1901952"/>
            <a:ext cx="2067553" cy="3657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12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Tree: the lifted knee's angle depends partly on hip shape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3.3  ·  FEEL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 it: tension or compression?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 on your back and hug one knee toward your chest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24328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where you feel it: back of hip, or front of hip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511296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65576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knee slightly outward and hug again: does it change?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06824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come into Child's Pose with knees together, then knees wide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193792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148072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end as tension or compression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20" name="Image 0" descr="Child's Pose: often a compression end at hips and kne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2164763"/>
            <a:ext cx="4389120" cy="3131979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13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Child's Pose: often a compression end at hips and knees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3.3  ·  CUE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Cue the sensation, not the shape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035040" cy="2377440"/>
          </a:xfrm>
          <a:prstGeom prst="roundRect">
            <a:avLst>
              <a:gd name="adj" fmla="val 5385"/>
            </a:avLst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“If you feel a stretch, you can stay and breathe. If you feel a pinch or a hard stop, change the angle or add a prop.”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F73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 </a:t>
            </a:r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stretch usually signals tension, which may be explored gently. A pinch or block usually signals compression, which effort cannot change and may irritate.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8" name="Image 0" descr="Seated Forward Fold: stretch behind, possible pinch in 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7560" y="1901952"/>
            <a:ext cx="4267200" cy="3657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14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Seated Forward Fold: stretch behind, possible pinch in front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D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3.3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a deep squat, a student feels a hard pinch at the front of the hip. What is the most likely limit?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1284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Tension in the hamstrings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17296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at the front of the hip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776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core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0" y="2194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7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 the video and choose before you move on.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3.3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D5E9DF"/>
          </a:solidFill>
          <a:ln w="19050">
            <a:solidFill>
              <a:srgbClr val="2F735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3736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at the front of the hip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089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pinch felt where parts meet, at the front of the hip in deep flexion, points to compression, which stretching will not change.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In a deep squat, a student feels a hard pinch at the front of the hip. What is the most likely limit?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63040"/>
            <a:ext cx="1371600" cy="137160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508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3.4  ·  30 MIN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87452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Joint stabilization: passive (ligament, capsule, bony fit) and active (muscle)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3252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hold a joint steady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keeps joint surfaces centred under load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Passive: bony fit, capsule, ligaments, labrum, menisci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Active: muscles, switched on and timed by nerves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joint uses both, in different proportions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623560" y="1737360"/>
            <a:ext cx="6035040" cy="4389120"/>
          </a:xfrm>
          <a:prstGeom prst="roundRect">
            <a:avLst>
              <a:gd name="adj" fmla="val 2500"/>
            </a:avLst>
          </a:prstGeom>
          <a:solidFill>
            <a:srgbClr val="F9FBFA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Hip relies more on passive stability, shoulder more on acti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959102"/>
            <a:ext cx="5669280" cy="35433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06440" y="56235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15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 relies more on passive stability, shoulder more on active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Passive and active stabilizers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1EADA"/>
          </a:solidFill>
          <a:ln w="12700">
            <a:solidFill>
              <a:srgbClr val="F1EA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Passive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Bony fit: shape of the socket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Capsule and ligaments: bone to bone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Labrum and menisci deepen surfaces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present, cannot be switched 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965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6974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Muscles crossing the joint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Tendons pull bones into position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Nervous system controls timing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Trainable through strength and control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 versus shoulder: the mobility trade-off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Hip: deep socket, strong ligaments, built to bear weight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Shoulder: large head on a shallow socket, huge range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Rotator cuff muscles keep the humeral head centred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balances ask the shoulder for strength and control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Downward Dog: shoulders flexed and loaded, cuff wor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620" y="1901952"/>
            <a:ext cx="3949080" cy="3657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16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Downward Dog: shoulders flexed and loaded, cuff working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knee: ligaments, menisci and muscle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Cruciate and collateral ligaments guide the knee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Menisci deepen the flat tibia and spread load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Quadriceps and hamstrings add active control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twisting of a bent knee is the risk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Warrior I: front knee stabilized over the ank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7845" y="1901952"/>
            <a:ext cx="2466630" cy="3657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17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Warrior I: front knee stabilized over the ankle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3.4  ·  FEEL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 it: switch on active stability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on one leg in Tree and watch your foot and ankle muscles flicker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97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to Plank; let your chest sink between your shoulder blades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6118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press the floor away and feel the shoulder muscles engage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5262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joint feels steadier when muscles share the load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7" name="Image 0" descr="Tree: constant small muscle corrections at the ank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383" y="1901952"/>
            <a:ext cx="2067553" cy="36576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18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Tree: constant small muscle corrections at the ankle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3.4  ·  CUE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Micro-bend, then engage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035040" cy="2377440"/>
          </a:xfrm>
          <a:prstGeom prst="roundRect">
            <a:avLst>
              <a:gd name="adj" fmla="val 5385"/>
            </a:avLst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“Soften the knees a touch, then firm the muscles of your legs as if you could hug the bones.”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F73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 </a:t>
            </a:r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slight bend keeps the knee off its passive end range and lets the quadriceps and hamstrings share the load.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8" name="Image 0" descr="Mountain: knees soft, legs acti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7738" y="1901952"/>
            <a:ext cx="2426844" cy="3657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19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Mountain: knees soft, legs active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D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3.4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 the shoulder depend more on muscle for stability than the hip does?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1284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ligaments are the strongest in the body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17296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large head sits on a small, shallow socket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776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hinge joint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0" y="2194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7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 the video and choose before you move on.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3.4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D5E9DF"/>
          </a:solidFill>
          <a:ln w="19050">
            <a:solidFill>
              <a:srgbClr val="2F735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3736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Its large head sits on a small, shallow socket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089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shallow glenoid gives little bony fit, so the rotator cuff must actively keep the humeral head centred.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Why does the shoulder depend more on muscle for stability than the hip does?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63040"/>
            <a:ext cx="1371600" cy="137160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3.5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508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3.5  ·  20 MIN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87452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Hypermobility and hypomobility in the yoga room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3252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spectrum, not a switch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Hypermobile: joints move beyond the typical range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Hypomobile: joints move less than the typical range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common and often cause no problems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Yoga rooms tend to attract very flexible people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The same fold can be effortless for one student, out of reach for ano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7560" y="1901952"/>
            <a:ext cx="4267200" cy="3657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20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fold can be effortless for one student, out of reach for another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on the Beighton score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600" b="1" dirty="0">
                <a:solidFill>
                  <a:srgbClr val="B330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6035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screening tool clinicians use for generalised joint hypermobility: little fingers, thumbs, elbows, knees, and palms to floor. It is not a diagnosis, and teachers do not score students.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7" name="Image 0" descr="Elbows and knees are among the joints the Beighton score chec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7738" y="1901952"/>
            <a:ext cx="2426844" cy="3657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21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Elbows and knees are among the joints the Beighton score checks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may notice, and what helps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1EADA"/>
          </a:solidFill>
          <a:ln w="12700">
            <a:solidFill>
              <a:srgbClr val="F1EA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Very mobile student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Knees or elbows push past straight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Sinks into end range, little muscle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Helps: micro-bends, strength, slower pace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Helps: work short of end range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965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Stiff student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697480"/>
            <a:ext cx="4846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end range early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strain or hold the breath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Helps: blocks, straps, bent knees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Helps: time and no comparison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3.5  ·  CUE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Teaching the very mobile student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035040" cy="2377440"/>
          </a:xfrm>
          <a:prstGeom prst="roundRect">
            <a:avLst>
              <a:gd name="adj" fmla="val 5385"/>
            </a:avLst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20240"/>
            <a:ext cx="5394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“Find your deepest point, then come back a little and hold the pose there with your muscles.”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8912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F73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 </a:t>
            </a:r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short of end range moves load from ligaments and capsule onto muscle, building the active control that very mobile joints rely 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8" name="Image 0" descr="Chaturanga: strength matters more than dep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2416207"/>
            <a:ext cx="4389120" cy="262909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22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Chaturanga: strength matters more than depth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3.5  ·  FEEL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 it: working short of end range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Warrior I, bend the front knee as deep as you comfortably can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97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rise a few centimetres until the legs feel strong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6118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for five breaths, feeling muscles rather than joints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5262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two versions: which felt steadier and more active?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7" name="Image 0" descr="Warrior I: hold slightly short of your deepest 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7845" y="1901952"/>
            <a:ext cx="2466630" cy="36576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23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Warrior I: hold slightly short of your deepest bend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D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3.5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student says they are very flexible and asks you to test their Beighton score. What should you do?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1284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them so you can plan their practice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17296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 is a clinical tool, offer control-focused options, suggest a health professional if they have symptoms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776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them flexibility means they cannot be injured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0" y="2194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7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 the video and choose before you move on.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3.5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D5E9DF"/>
          </a:solidFill>
          <a:ln w="19050">
            <a:solidFill>
              <a:srgbClr val="2F735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3736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 is a clinical tool, offer control-focused options, suggest a health professional if they have symptoms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089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do not screen or diagnose; they adapt the practice and refer when there are symptoms.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A student says they are very flexible and asks you to test their Beighton score. What should you do?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63040"/>
            <a:ext cx="1371600" cy="137160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4630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508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3.6  ·  20 MIN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86000" y="187452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Pose lab: reading every joint action in Sun Salutation A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 it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32520" y="3931920"/>
            <a:ext cx="1965960" cy="566928"/>
          </a:xfrm>
          <a:prstGeom prst="roundRect">
            <a:avLst>
              <a:gd name="adj" fmla="val 48387"/>
            </a:avLst>
          </a:prstGeom>
          <a:solidFill>
            <a:srgbClr val="22414D"/>
          </a:solidFill>
          <a:ln w="12700">
            <a:solidFill>
              <a:srgbClr val="3B5A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393192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a pose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joint at a time, from ankles upward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24328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plane: sagittal, frontal or transverse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511296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65576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action: flexion, extension, abduction, rotation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06824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what limits it: tension or compression?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193792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148072"/>
            <a:ext cx="5349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what stabilizes it: passive structures or muscle?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20" name="Image 0" descr="Mountain: the neutral reference for every jo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7738" y="1901952"/>
            <a:ext cx="2426844" cy="365760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24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Mountain: the neutral reference for every joint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Arms up, then fold forward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up: shoulder flexion, scapulae rotate upward, elbows extend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fold: hip flexion with knees extended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flexes as the fold deepens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lift: spine lengthens toward extension, hips stay flexed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Upward Salute: full shoulder flex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1901952"/>
            <a:ext cx="2048256" cy="3657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25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Upward Salute: full shoulder flexion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Plank to Chaturanga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Plank: shoulders flexed about ninety degrees, elbows extended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Lowering: elbows flex, shoulders move toward extension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Ankles dorsiflex, toes extend on the floor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Hips and spine held near neutral by muscle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Chaturanga: elbow flexion, shoulders moving toward ex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2416207"/>
            <a:ext cx="4389120" cy="262909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26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Chaturanga: elbow flexion, shoulders moving toward extension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Cobra or Upward-facing Dog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extends; many small joints share the curve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Hips extend with legs long behind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Ankles plantarflex, tops of feet on the floor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Elbows extend in Up Dog, stay bent in Cobra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Cobra: spinal and hip exte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2302105"/>
            <a:ext cx="4389120" cy="2857293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27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Cobra: spinal and hip extension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Downward-facing Dog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84248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Shoulders fully flexed, arms in line with the ears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916936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807208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Hips flexed, spine long and near neutral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3849624"/>
            <a:ext cx="182880" cy="182880"/>
          </a:xfrm>
          <a:prstGeom prst="ellipse">
            <a:avLst/>
          </a:prstGeom>
          <a:solidFill>
            <a:srgbClr val="B3304C"/>
          </a:solidFill>
          <a:ln w="12700">
            <a:solidFill>
              <a:srgbClr val="B330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3739896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Knees extend as far as the hamstrings allow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782312"/>
            <a:ext cx="182880" cy="18288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67258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Ankles dorsiflex as heels reach toward the floor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3" name="Image 0" descr="Downward Dog: flexion at shoulders and hips, dorsiflexion at ank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620" y="1901952"/>
            <a:ext cx="3949080" cy="36576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28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Downward Dog: flexion at shoulders and hips, dorsiflexion at ankles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3.6  ·  FEEL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Feel it: slow-motion Sun Salutation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through one round at half speed with a partner watching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974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each pose, pause and name three joint actions aloud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6118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partner checks: plane, action, limit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526280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roles and compare what you each noticed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903720" y="1737360"/>
            <a:ext cx="475488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pic>
        <p:nvPicPr>
          <p:cNvPr id="17" name="Image 0" descr="Seated Forward Fold: the same hip and knee actions as the standing f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7560" y="1901952"/>
            <a:ext cx="4267200" cy="36576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86600" y="5623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 29  </a:t>
            </a:r>
            <a:pPr indent="0" marL="0">
              <a:buNone/>
            </a:pPr>
            <a:r>
              <a:rPr lang="en-US" sz="11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Seated Forward Fold: the same hip and knee actions as the standing fold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DF2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3.6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Moving from Plank into Upward-facing Dog, what happens at the ankles?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21284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move from dorsiflexion to plantarflexion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17296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01752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move from plantarflexion to dorsiflexion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7863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6D4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rgbClr val="16303A"/>
          </a:solidFill>
          <a:ln w="12700">
            <a:solidFill>
              <a:srgbClr val="163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9776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stay in neutral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0" y="2194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57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 the video and choose before you move on.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3.6  ·  CHECK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D5E9DF"/>
          </a:solidFill>
          <a:ln w="19050">
            <a:solidFill>
              <a:srgbClr val="2F735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2F7359"/>
          </a:solidFill>
          <a:ln w="12700">
            <a:solidFill>
              <a:srgbClr val="2F73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3736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move from dorsiflexion to plantarflexion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089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Plank the toes are tucked and the ankles dorsiflexed; in Up Dog the tops of the feet press down, so the ankles plantarflex.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Moving from Plank into Upward-facing Dog, what happens at the ankles?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REVIEW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terms</a:t>
            </a:r>
            <a:endParaRPr lang="en-US" sz="3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Joint (articulation)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place where two or more bones meet, such as the hip where the femur meets the pelvis in Warrior II.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Fibrous joint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Bones joined by dense fibrous tissue with little or no movement, like the skull sutures that stay still in every headstand prep.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Cartilaginous joint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Bones joined by cartilage that allows slight movement, like the intervertebral discs that each add a little to Cat and Cow.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Pubic symphysis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fibrocartilage joint at the front of the pelvis; it can feel tender in wide-legged poses, especially in pregnancy.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Synovial joint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freely movable joint with a fluid-filled cavity inside a capsule, such as the shoulder in Downward Dog.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Articular cartilage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smooth hyaline cartilage covering bone ends inside a synovial joint, letting the knee glide as you bend into Chair.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Synovial fluid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Thick fluid inside a synovial joint that lubricates it and nourishes the cartilage; movement such as a gentle warm-up helps circulate it.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Joint capsule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fibrous sleeve enclosing a synovial joint; locking the knees back in Mountain rests the joint on the back of its capsule.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Ligament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band of dense connective tissue joining bone to bone, limiting extreme range, like the strong hip ligaments that tighten as you stand upright.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Hinge joint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synovial joint moving in one axis, flexion and extension, like the elbow bending in Chaturanga.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Pivot joint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synovial joint that rotates around one axis, like the neck turning to look up in Triangle.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REVIEW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terms (continued)</a:t>
            </a:r>
            <a:endParaRPr lang="en-US" sz="30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Ball-and-socket joint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synovial joint moving in three axes including rotation, like the hip rotating outward in Tree.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Flexion and extension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Flexion closes a joint angle and extension opens it; Forward Fold flexes the hips, Cobra extends the spine.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Abduction and adduction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Abduction moves a limb away from the midline and adduction toward it; the front hip abducts in Warrior II.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Dorsiflexion and plantarflexion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Dorsiflexion brings the top of the foot toward the shin, as in Downward Dog; plantarflexion points the foot, as in Cobra.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Range of motion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far a joint can move in a given direction, such as how far the thigh lifts toward the chest in a knee hug.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Tension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end of range created by tissue reaching its stretch limit, felt as a stretch opposite the movement, like the hamstrings in a fold.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Compression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end of range created by parts meeting, bone on bone or soft tissue on soft tissue, felt as a pinch, like the front of the hip in a deep squat.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Passive stability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from structures that need no effort: bony fit, capsule, ligaments, labrum and menisci, like the deep hip socket in standing poses.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Active stability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 from muscles switched on by the nervous system, like the rotator cuff holding the shoulder steady in Plank.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Hypermobility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range beyond the typical; common and often harmless, but very mobile students benefit from micro-bends and control, for example in Downward Dog.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6303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Beighton score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6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9-point clinical screening tool for generalised joint hypermobility; it is not a diagnosis, and teachers do not score students.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6D4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330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REVIEW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63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Myths to retire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754880" cy="740664"/>
          </a:xfrm>
          <a:prstGeom prst="roundRect">
            <a:avLst>
              <a:gd name="adj" fmla="val 12346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737360"/>
            <a:ext cx="43891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enough practice, anyone can reach the full expression of any pose.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577840" y="1737360"/>
            <a:ext cx="6035040" cy="740664"/>
          </a:xfrm>
          <a:prstGeom prst="roundRect">
            <a:avLst>
              <a:gd name="adj" fmla="val 12346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60720" y="1737360"/>
            <a:ext cx="566928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shape varies between people and ends some ranges by compression. Stretching cannot reshape adult bone, so some shapes are simply not available to some bodies.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15184"/>
            <a:ext cx="4754880" cy="740664"/>
          </a:xfrm>
          <a:prstGeom prst="roundRect">
            <a:avLst>
              <a:gd name="adj" fmla="val 12346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15184"/>
            <a:ext cx="43891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flexibility always means healthier joints.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577840" y="2615184"/>
            <a:ext cx="6035040" cy="740664"/>
          </a:xfrm>
          <a:prstGeom prst="roundRect">
            <a:avLst>
              <a:gd name="adj" fmla="val 12346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60720" y="2615184"/>
            <a:ext cx="566928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mobile joints can rely heavily on ligaments and capsule at end range. They benefit from strength and control, and flexible students are not protected from injury.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493008"/>
            <a:ext cx="4754880" cy="740664"/>
          </a:xfrm>
          <a:prstGeom prst="roundRect">
            <a:avLst>
              <a:gd name="adj" fmla="val 12346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493008"/>
            <a:ext cx="43891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pinch in a pose means you need to stretch harder.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577840" y="3493008"/>
            <a:ext cx="6035040" cy="740664"/>
          </a:xfrm>
          <a:prstGeom prst="roundRect">
            <a:avLst>
              <a:gd name="adj" fmla="val 12346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60720" y="3493008"/>
            <a:ext cx="566928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pinch usually signals compression, where parts meet. More effort will not change it; a different angle or a prop is the right response.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370832"/>
            <a:ext cx="4754880" cy="740664"/>
          </a:xfrm>
          <a:prstGeom prst="roundRect">
            <a:avLst>
              <a:gd name="adj" fmla="val 12346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4370832"/>
            <a:ext cx="43891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sacroiliac joint regularly slips out of place and a teacher can put it back.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577840" y="4370832"/>
            <a:ext cx="6035040" cy="740664"/>
          </a:xfrm>
          <a:prstGeom prst="roundRect">
            <a:avLst>
              <a:gd name="adj" fmla="val 12346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4370832"/>
            <a:ext cx="566928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 joint moves only a few degrees and is held by very strong ligaments. Pain here needs a qualified health professional, not a manual adjustment from a yoga teacher.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248656"/>
            <a:ext cx="4754880" cy="740664"/>
          </a:xfrm>
          <a:prstGeom prst="roundRect">
            <a:avLst>
              <a:gd name="adj" fmla="val 12346"/>
            </a:avLst>
          </a:prstGeom>
          <a:solidFill>
            <a:srgbClr val="F3D9DE"/>
          </a:solidFill>
          <a:ln w="12700">
            <a:solidFill>
              <a:srgbClr val="F3D9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248656"/>
            <a:ext cx="438912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Locking the knees straight is the most stable way to stand.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577840" y="5248656"/>
            <a:ext cx="6035040" cy="740664"/>
          </a:xfrm>
          <a:prstGeom prst="roundRect">
            <a:avLst>
              <a:gd name="adj" fmla="val 12346"/>
            </a:avLst>
          </a:prstGeom>
          <a:solidFill>
            <a:srgbClr val="D5E9DF"/>
          </a:solidFill>
          <a:ln w="12700">
            <a:solidFill>
              <a:srgbClr val="D5E9D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760720" y="5248656"/>
            <a:ext cx="566928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6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Locking rests the knee on its capsule and ligaments. A slight softening with active leg muscles shares the load with muscle.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6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 of Module 3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module: work through the study guide, the flashcards and the interactive exercises, then run the module in the Anatomy Chase.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B7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kashee12345.github.io/anatomy-on-the-mat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on the Mat  ·  Dr. Akash Garg, D.C.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Anatomy on the Mat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3: Joints: Structure, Range and Stability</dc:title>
  <dc:subject>PptxGenJS Presentation</dc:subject>
  <dc:creator>Dr. Akash Garg, D.C.</dc:creator>
  <cp:lastModifiedBy>Dr. Akash Garg, D.C.</cp:lastModifiedBy>
  <cp:revision>1</cp:revision>
  <dcterms:created xsi:type="dcterms:W3CDTF">2026-09-29T00:26:22Z</dcterms:created>
  <dcterms:modified xsi:type="dcterms:W3CDTF">2026-09-29T00:26:22Z</dcterms:modified>
</cp:coreProperties>
</file>